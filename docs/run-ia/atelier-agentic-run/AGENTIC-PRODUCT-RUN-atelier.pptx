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1"/>
  </p:notesMasterIdLst>
  <p:sldIdLst>
    <p:sldId id="256" r:id="rId10"/>
    <p:sldId id="257" r:id="rId9"/>
    <p:sldId id="258" r:id="rId8"/>
    <p:sldId id="259" r:id="rId7"/>
    <p:sldId id="260" r:id="rId6"/>
    <p:sldId id="261" r:id="rId5"/>
    <p:sldId id="262" r:id="rId4"/>
    <p:sldId id="263" r:id="rId3"/>
    <p:sldId id="264" r:id="rId2"/>
    <p:sldId id="265" r:id="rId32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2"/>
      <p:bold r:id="rId13"/>
      <p:italic r:id="rId14"/>
      <p:boldItalic r:id="rId15"/>
    </p:embeddedFont>
    <p:embeddedFont>
      <p:font typeface="Helvetica Neue Light" panose="020B0604020202020204" charset="0"/>
      <p:regular r:id="rId16"/>
      <p:bold r:id="rId17"/>
      <p:italic r:id="rId18"/>
      <p:boldItalic r:id="rId19"/>
    </p:embeddedFont>
    <p:embeddedFont>
      <p:font typeface="Outfit" panose="020B0604020202020204" charset="0"/>
      <p:regular r:id="rId20"/>
      <p:bold r:id="rId21"/>
    </p:embeddedFont>
    <p:embeddedFont>
      <p:font typeface="Outfit Light" panose="020B0604020202020204" charset="0"/>
      <p:regular r:id="rId22"/>
      <p:bold r:id="rId23"/>
    </p:embeddedFont>
    <p:embeddedFont>
      <p:font typeface="Outfit Medium" panose="020B0604020202020204" charset="0"/>
      <p:regular r:id="rId24"/>
      <p:bold r:id="rId25"/>
    </p:embeddedFont>
    <p:embeddedFont>
      <p:font typeface="Outfit SemiBold" panose="020B060402020202020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20" Type="http://schemas.openxmlformats.org/officeDocument/2006/relationships/font" Target="fonts/font9.fntdata"/><Relationship Id="rId21" Type="http://schemas.openxmlformats.org/officeDocument/2006/relationships/font" Target="fonts/font10.fntdata"/><Relationship Id="rId22" Type="http://schemas.openxmlformats.org/officeDocument/2006/relationships/font" Target="fonts/font11.fntdata"/><Relationship Id="rId23" Type="http://schemas.openxmlformats.org/officeDocument/2006/relationships/font" Target="fonts/font12.fntdata"/><Relationship Id="rId24" Type="http://schemas.openxmlformats.org/officeDocument/2006/relationships/font" Target="fonts/font13.fntdata"/><Relationship Id="rId25" Type="http://schemas.openxmlformats.org/officeDocument/2006/relationships/font" Target="fonts/font14.fntdata"/><Relationship Id="rId26" Type="http://schemas.openxmlformats.org/officeDocument/2006/relationships/font" Target="fonts/font15.fntdata"/><Relationship Id="rId27" Type="http://schemas.openxmlformats.org/officeDocument/2006/relationships/font" Target="fonts/font16.fnt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entury Gothic"/>
              <a:buChar char="๏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sz="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sz="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sz="7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6 - Slide vide">
  <p:cSld name="06 - Slide vide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2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20" name="Google Shape;20;p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3" name="Google Shape;23;p2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24" name="Google Shape;24;p2"/>
          <p:cNvCxnSpPr>
            <a:stCxn id="25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2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7" name="Google Shape;27;p2"/>
          <p:cNvCxnSpPr>
            <a:endCxn id="26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2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" name="Google Shape;25;p2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9" name="Google Shape;29;p2"/>
          <p:cNvCxnSpPr>
            <a:stCxn id="28" idx="2"/>
            <a:endCxn id="26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- Titre, sous-titre et contenu">
  <p:cSld name="01 - Titre, sous-titre et contenu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2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0 - Chapitre [1]">
  <p:cSld name="50 - Chapitre [1]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457625" y="1226750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9" name="Google Shape;39;p4"/>
          <p:cNvGrpSpPr/>
          <p:nvPr/>
        </p:nvGrpSpPr>
        <p:grpSpPr>
          <a:xfrm>
            <a:off x="3171776" y="1360130"/>
            <a:ext cx="170063" cy="166438"/>
            <a:chOff x="6838242" y="518225"/>
            <a:chExt cx="1247708" cy="1221114"/>
          </a:xfrm>
        </p:grpSpPr>
        <p:sp>
          <p:nvSpPr>
            <p:cNvPr id="40" name="Google Shape;40;p4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43" name="Google Shape;43;p4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44" name="Google Shape;44;p4"/>
          <p:cNvCxnSpPr>
            <a:stCxn id="45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4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7" name="Google Shape;47;p4"/>
          <p:cNvCxnSpPr>
            <a:endCxn id="46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4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" name="Google Shape;45;p4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9" name="Google Shape;49;p4"/>
          <p:cNvCxnSpPr>
            <a:stCxn id="48" idx="2"/>
            <a:endCxn id="46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4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" name="Google Shape;51;p4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2277075" y="23278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3" name="Google Shape;53;p4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4" name="Google Shape;54;p4"/>
          <p:cNvSpPr/>
          <p:nvPr/>
        </p:nvSpPr>
        <p:spPr>
          <a:xfrm rot="-5400000">
            <a:off x="3014525" y="1216850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799">
          <p15:clr>
            <a:srgbClr val="FA7B17"/>
          </p15:clr>
        </p15:guide>
        <p15:guide id="2" pos="5625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- Titre et contenu">
  <p:cSld name="02 - Titre et contenu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>
            <a:spLocks noGrp="1"/>
          </p:cNvSpPr>
          <p:nvPr>
            <p:ph type="body" idx="1"/>
          </p:nvPr>
        </p:nvSpPr>
        <p:spPr>
          <a:xfrm>
            <a:off x="578425" y="817575"/>
            <a:ext cx="79290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792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- Titre et sous-titre">
  <p:cSld name="03 - Titre et sous-titr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>
            <a:spLocks noGrp="1"/>
          </p:cNvSpPr>
          <p:nvPr>
            <p:ph type="subTitle" idx="1"/>
          </p:nvPr>
        </p:nvSpPr>
        <p:spPr>
          <a:xfrm>
            <a:off x="571500" y="7791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- Titre seul">
  <p:cSld name="04 - Titre seu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 - Focus">
  <p:cSld name="05 - Focus">
    <p:bg>
      <p:bgPr>
        <a:solidFill>
          <a:schemeClr val="dk2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185625" y="210050"/>
            <a:ext cx="190500" cy="17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276300" y="292125"/>
            <a:ext cx="8591400" cy="4571700"/>
          </a:xfrm>
          <a:prstGeom prst="roundRect">
            <a:avLst>
              <a:gd name="adj" fmla="val 355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6" name="Google Shape;66;p8"/>
          <p:cNvSpPr/>
          <p:nvPr/>
        </p:nvSpPr>
        <p:spPr>
          <a:xfrm rot="-5400000">
            <a:off x="-1143306" y="34836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67" name="Google Shape;67;p8"/>
          <p:cNvSpPr txBox="1">
            <a:spLocks noGrp="1"/>
          </p:cNvSpPr>
          <p:nvPr>
            <p:ph type="subTitle" idx="1"/>
          </p:nvPr>
        </p:nvSpPr>
        <p:spPr>
          <a:xfrm>
            <a:off x="571500" y="778000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563300" y="361275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body" idx="2"/>
          </p:nvPr>
        </p:nvSpPr>
        <p:spPr>
          <a:xfrm>
            <a:off x="571500" y="1273150"/>
            <a:ext cx="7884000" cy="3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70" name="Google Shape;70;p8"/>
          <p:cNvGrpSpPr/>
          <p:nvPr/>
        </p:nvGrpSpPr>
        <p:grpSpPr>
          <a:xfrm>
            <a:off x="89501" y="125680"/>
            <a:ext cx="8793074" cy="4738970"/>
            <a:chOff x="89501" y="125680"/>
            <a:chExt cx="8793074" cy="4738970"/>
          </a:xfrm>
        </p:grpSpPr>
        <p:grpSp>
          <p:nvGrpSpPr>
            <p:cNvPr id="71" name="Google Shape;71;p8"/>
            <p:cNvGrpSpPr/>
            <p:nvPr/>
          </p:nvGrpSpPr>
          <p:grpSpPr>
            <a:xfrm>
              <a:off x="89501" y="125680"/>
              <a:ext cx="170063" cy="166438"/>
              <a:chOff x="6838242" y="518225"/>
              <a:chExt cx="1247708" cy="1221114"/>
            </a:xfrm>
          </p:grpSpPr>
          <p:sp>
            <p:nvSpPr>
              <p:cNvPr id="72" name="Google Shape;72;p8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3" name="Google Shape;73;p8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4" name="Google Shape;74;p8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75" name="Google Shape;75;p8"/>
            <p:cNvSpPr/>
            <p:nvPr/>
          </p:nvSpPr>
          <p:spPr>
            <a:xfrm>
              <a:off x="8441325" y="4438950"/>
              <a:ext cx="425700" cy="425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grpSp>
          <p:nvGrpSpPr>
            <p:cNvPr id="76" name="Google Shape;76;p8"/>
            <p:cNvGrpSpPr/>
            <p:nvPr/>
          </p:nvGrpSpPr>
          <p:grpSpPr>
            <a:xfrm>
              <a:off x="8383075" y="4575725"/>
              <a:ext cx="499500" cy="228600"/>
              <a:chOff x="8383075" y="4575725"/>
              <a:chExt cx="499500" cy="228600"/>
            </a:xfrm>
          </p:grpSpPr>
          <p:sp>
            <p:nvSpPr>
              <p:cNvPr id="77" name="Google Shape;77;p8"/>
              <p:cNvSpPr txBox="1"/>
              <p:nvPr/>
            </p:nvSpPr>
            <p:spPr>
              <a:xfrm>
                <a:off x="8383075" y="45757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lang="en-US" sz="800" b="0" i="0" u="none" strike="noStrike" cap="non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lang="en-US" sz="800" b="0" i="0" u="none" strike="noStrike" cap="non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78" name="Google Shape;78;p8"/>
              <p:cNvCxnSpPr>
                <a:stCxn id="79" idx="2"/>
              </p:cNvCxnSpPr>
              <p:nvPr/>
            </p:nvCxnSpPr>
            <p:spPr>
              <a:xfrm>
                <a:off x="8599834" y="4788444"/>
                <a:ext cx="191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0" name="Google Shape;80;p8"/>
              <p:cNvSpPr/>
              <p:nvPr/>
            </p:nvSpPr>
            <p:spPr>
              <a:xfrm>
                <a:off x="8586528" y="4591515"/>
                <a:ext cx="200700" cy="196200"/>
              </a:xfrm>
              <a:prstGeom prst="arc">
                <a:avLst>
                  <a:gd name="adj1" fmla="val 16241889"/>
                  <a:gd name="adj2" fmla="val 167312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81" name="Google Shape;81;p8"/>
              <p:cNvCxnSpPr>
                <a:endCxn id="80" idx="2"/>
              </p:cNvCxnSpPr>
              <p:nvPr/>
            </p:nvCxnSpPr>
            <p:spPr>
              <a:xfrm rot="10800000">
                <a:off x="8787104" y="4694497"/>
                <a:ext cx="0" cy="98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2" name="Google Shape;82;p8"/>
              <p:cNvSpPr/>
              <p:nvPr/>
            </p:nvSpPr>
            <p:spPr>
              <a:xfrm rot="-5400000">
                <a:off x="8499018" y="4593851"/>
                <a:ext cx="200700" cy="196200"/>
              </a:xfrm>
              <a:prstGeom prst="arc">
                <a:avLst>
                  <a:gd name="adj1" fmla="val 16241889"/>
                  <a:gd name="adj2" fmla="val 11524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9" name="Google Shape;79;p8"/>
              <p:cNvSpPr/>
              <p:nvPr/>
            </p:nvSpPr>
            <p:spPr>
              <a:xfrm rot="-5400000" flipH="1">
                <a:off x="8499018" y="4589995"/>
                <a:ext cx="200700" cy="196200"/>
              </a:xfrm>
              <a:prstGeom prst="arc">
                <a:avLst>
                  <a:gd name="adj1" fmla="val 16241889"/>
                  <a:gd name="adj2" fmla="val 15973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83" name="Google Shape;83;p8"/>
              <p:cNvCxnSpPr>
                <a:stCxn id="82" idx="2"/>
                <a:endCxn id="80" idx="0"/>
              </p:cNvCxnSpPr>
              <p:nvPr/>
            </p:nvCxnSpPr>
            <p:spPr>
              <a:xfrm>
                <a:off x="8599704" y="4591602"/>
                <a:ext cx="885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7 - Slide vide fond foncé">
  <p:cSld name="07 - Slide vide fond foncé"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9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86" name="Google Shape;86;p9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89" name="Google Shape;89;p9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90" name="Google Shape;90;p9"/>
          <p:cNvCxnSpPr>
            <a:stCxn id="91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" name="Google Shape;92;p9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3" name="Google Shape;93;p9"/>
          <p:cNvCxnSpPr>
            <a:endCxn id="92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p9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1" name="Google Shape;91;p9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5" name="Google Shape;95;p9"/>
          <p:cNvCxnSpPr>
            <a:stCxn id="94" idx="2"/>
            <a:endCxn id="92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" name="Google Shape;96;p9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7" name="Google Shape;97;p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0 - Couverture [1]">
  <p:cSld name="40 - Couverture [1]"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100" name="Google Shape;100;p10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b="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01" name="Google Shape;101;p10"/>
          <p:cNvGrpSpPr/>
          <p:nvPr/>
        </p:nvGrpSpPr>
        <p:grpSpPr>
          <a:xfrm>
            <a:off x="276293" y="292119"/>
            <a:ext cx="345989" cy="338615"/>
            <a:chOff x="6838242" y="518225"/>
            <a:chExt cx="1247708" cy="1221114"/>
          </a:xfrm>
        </p:grpSpPr>
        <p:sp>
          <p:nvSpPr>
            <p:cNvPr id="102" name="Google Shape;102;p10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4" name="Google Shape;104;p10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5" name="Google Shape;105;p10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b="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07" name="Google Shape;107;p10"/>
          <p:cNvGrpSpPr/>
          <p:nvPr/>
        </p:nvGrpSpPr>
        <p:grpSpPr>
          <a:xfrm>
            <a:off x="1097923" y="1336707"/>
            <a:ext cx="4598402" cy="1873532"/>
            <a:chOff x="2164723" y="1336707"/>
            <a:chExt cx="4598402" cy="1873532"/>
          </a:xfrm>
        </p:grpSpPr>
        <p:cxnSp>
          <p:nvCxnSpPr>
            <p:cNvPr id="108" name="Google Shape;108;p10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9" name="Google Shape;109;p10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0" name="Google Shape;110;p10"/>
            <p:cNvCxnSpPr>
              <a:endCxn id="109" idx="2"/>
            </p:cNvCxnSpPr>
            <p:nvPr/>
          </p:nvCxnSpPr>
          <p:spPr>
            <a:xfrm rot="10800000">
              <a:off x="6761983" y="2313859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1" name="Google Shape;111;p10"/>
            <p:cNvSpPr/>
            <p:nvPr/>
          </p:nvSpPr>
          <p:spPr>
            <a:xfrm rot="-5399439">
              <a:off x="2143273" y="1392988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12" name="Google Shape;112;p10"/>
            <p:cNvSpPr/>
            <p:nvPr/>
          </p:nvSpPr>
          <p:spPr>
            <a:xfrm rot="-5400561" flipH="1">
              <a:off x="2143273" y="1358457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3" name="Google Shape;113;p10"/>
            <p:cNvCxnSpPr>
              <a:stCxn id="111" idx="2"/>
              <a:endCxn id="109" idx="0"/>
            </p:cNvCxnSpPr>
            <p:nvPr/>
          </p:nvCxnSpPr>
          <p:spPr>
            <a:xfrm>
              <a:off x="3065855" y="1371394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14" name="Google Shape;114;p10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I PART OF ACCENTURE</a:t>
            </a:r>
            <a:endParaRPr sz="600" b="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pic>
        <p:nvPicPr>
          <p:cNvPr id="115" name="Google Shape;115;p10"/>
          <p:cNvPicPr preferRelativeResize="0"/>
          <p:nvPr/>
        </p:nvPicPr>
        <p:blipFill rotWithShape="1">
          <a:blip r:embed="rId3">
            <a:alphaModFix/>
          </a:blip>
          <a:srcRect t="338" b="338"/>
          <a:stretch/>
        </p:blipFill>
        <p:spPr>
          <a:xfrm>
            <a:off x="5866738" y="2120950"/>
            <a:ext cx="1724025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0"/>
          <p:cNvSpPr txBox="1">
            <a:spLocks noGrp="1"/>
          </p:cNvSpPr>
          <p:nvPr>
            <p:ph type="title"/>
          </p:nvPr>
        </p:nvSpPr>
        <p:spPr>
          <a:xfrm>
            <a:off x="1657350" y="1619250"/>
            <a:ext cx="3648000" cy="1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sz="200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17" name="Google Shape;117;p10"/>
          <p:cNvSpPr txBox="1">
            <a:spLocks noGrp="1"/>
          </p:cNvSpPr>
          <p:nvPr>
            <p:ph type="subTitle" idx="1"/>
          </p:nvPr>
        </p:nvSpPr>
        <p:spPr>
          <a:xfrm>
            <a:off x="1657350" y="2668200"/>
            <a:ext cx="3648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>
            <a:endParaRPr/>
          </a:p>
        </p:txBody>
      </p:sp>
      <p:sp>
        <p:nvSpPr>
          <p:cNvPr id="118" name="Google Shape;118;p10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19" name="Google Shape;119;p10"/>
          <p:cNvGrpSpPr/>
          <p:nvPr/>
        </p:nvGrpSpPr>
        <p:grpSpPr>
          <a:xfrm rot="10800000">
            <a:off x="4572194" y="3152705"/>
            <a:ext cx="2605006" cy="616888"/>
            <a:chOff x="2164721" y="1365883"/>
            <a:chExt cx="4598421" cy="1890555"/>
          </a:xfrm>
        </p:grpSpPr>
        <p:cxnSp>
          <p:nvCxnSpPr>
            <p:cNvPr id="120" name="Google Shape;120;p10"/>
            <p:cNvCxnSpPr>
              <a:stCxn id="121" idx="2"/>
            </p:cNvCxnSpPr>
            <p:nvPr/>
          </p:nvCxnSpPr>
          <p:spPr>
            <a:xfrm>
              <a:off x="2699642" y="3175623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2" name="Google Shape;122;p10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23" name="Google Shape;123;p10"/>
            <p:cNvCxnSpPr>
              <a:endCxn id="122" idx="2"/>
            </p:cNvCxnSpPr>
            <p:nvPr/>
          </p:nvCxnSpPr>
          <p:spPr>
            <a:xfrm rot="10800000">
              <a:off x="6762341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4" name="Google Shape;124;p10"/>
            <p:cNvSpPr/>
            <p:nvPr/>
          </p:nvSpPr>
          <p:spPr>
            <a:xfrm rot="-5399453">
              <a:off x="1791865" y="1744138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21" name="Google Shape;121;p10"/>
            <p:cNvSpPr/>
            <p:nvPr/>
          </p:nvSpPr>
          <p:spPr>
            <a:xfrm rot="-5400570" flipH="1">
              <a:off x="1792271" y="1738633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25" name="Google Shape;125;p10"/>
            <p:cNvCxnSpPr>
              <a:stCxn id="124" idx="2"/>
              <a:endCxn id="122" idx="0"/>
            </p:cNvCxnSpPr>
            <p:nvPr/>
          </p:nvCxnSpPr>
          <p:spPr>
            <a:xfrm>
              <a:off x="2736435" y="137109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126" name="Google Shape;126;p10"/>
          <p:cNvCxnSpPr/>
          <p:nvPr/>
        </p:nvCxnSpPr>
        <p:spPr>
          <a:xfrm>
            <a:off x="5567313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" name="Google Shape;127;p10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28" name="Google Shape;128;p10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1 - Couverture [2]">
  <p:cSld name="41 - Couverture [2]">
    <p:bg>
      <p:bgPr>
        <a:solidFill>
          <a:schemeClr val="dk1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 txBox="1">
            <a:spLocks noGrp="1"/>
          </p:cNvSpPr>
          <p:nvPr>
            <p:ph type="title"/>
          </p:nvPr>
        </p:nvSpPr>
        <p:spPr>
          <a:xfrm>
            <a:off x="2717000" y="1879350"/>
            <a:ext cx="3635400" cy="7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sz="200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31" name="Google Shape;131;p11"/>
          <p:cNvSpPr txBox="1">
            <a:spLocks noGrp="1"/>
          </p:cNvSpPr>
          <p:nvPr>
            <p:ph type="subTitle" idx="1"/>
          </p:nvPr>
        </p:nvSpPr>
        <p:spPr>
          <a:xfrm>
            <a:off x="2717000" y="2590325"/>
            <a:ext cx="3635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>
            <a:endParaRPr/>
          </a:p>
        </p:txBody>
      </p:sp>
      <p:sp>
        <p:nvSpPr>
          <p:cNvPr id="132" name="Google Shape;132;p11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" name="Google Shape;133;p11"/>
          <p:cNvGrpSpPr/>
          <p:nvPr/>
        </p:nvGrpSpPr>
        <p:grpSpPr>
          <a:xfrm>
            <a:off x="2164723" y="1336860"/>
            <a:ext cx="4598402" cy="1873225"/>
            <a:chOff x="2164723" y="1336860"/>
            <a:chExt cx="4598402" cy="1873225"/>
          </a:xfrm>
        </p:grpSpPr>
        <p:cxnSp>
          <p:nvCxnSpPr>
            <p:cNvPr id="134" name="Google Shape;134;p11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5" name="Google Shape;135;p11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6" name="Google Shape;136;p11"/>
            <p:cNvCxnSpPr>
              <a:endCxn id="135" idx="2"/>
            </p:cNvCxnSpPr>
            <p:nvPr/>
          </p:nvCxnSpPr>
          <p:spPr>
            <a:xfrm rot="10800000">
              <a:off x="6761983" y="2313858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7" name="Google Shape;137;p11"/>
            <p:cNvSpPr/>
            <p:nvPr/>
          </p:nvSpPr>
          <p:spPr>
            <a:xfrm rot="-5399439">
              <a:off x="2143273" y="1392985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1"/>
            <p:cNvSpPr/>
            <p:nvPr/>
          </p:nvSpPr>
          <p:spPr>
            <a:xfrm rot="-5400561" flipH="1">
              <a:off x="2143273" y="1358460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9" name="Google Shape;139;p11"/>
            <p:cNvCxnSpPr>
              <a:stCxn id="137" idx="2"/>
              <a:endCxn id="135" idx="0"/>
            </p:cNvCxnSpPr>
            <p:nvPr/>
          </p:nvCxnSpPr>
          <p:spPr>
            <a:xfrm>
              <a:off x="3065855" y="1371390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0" name="Google Shape;140;p11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1" name="Google Shape;141;p11"/>
          <p:cNvGrpSpPr/>
          <p:nvPr/>
        </p:nvGrpSpPr>
        <p:grpSpPr>
          <a:xfrm>
            <a:off x="276291" y="292119"/>
            <a:ext cx="345989" cy="338615"/>
            <a:chOff x="6838242" y="518225"/>
            <a:chExt cx="1247708" cy="1221114"/>
          </a:xfrm>
        </p:grpSpPr>
        <p:sp>
          <p:nvSpPr>
            <p:cNvPr id="142" name="Google Shape;142;p1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11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46" name="Google Shape;146;p11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 I  PART OF ACCENTURE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7" name="Google Shape;147;p11"/>
          <p:cNvGrpSpPr/>
          <p:nvPr/>
        </p:nvGrpSpPr>
        <p:grpSpPr>
          <a:xfrm rot="10800000">
            <a:off x="4572194" y="3152774"/>
            <a:ext cx="2605006" cy="616751"/>
            <a:chOff x="2164721" y="1366095"/>
            <a:chExt cx="4598421" cy="1890134"/>
          </a:xfrm>
        </p:grpSpPr>
        <p:cxnSp>
          <p:nvCxnSpPr>
            <p:cNvPr id="148" name="Google Shape;148;p11"/>
            <p:cNvCxnSpPr>
              <a:stCxn id="149" idx="2"/>
            </p:cNvCxnSpPr>
            <p:nvPr/>
          </p:nvCxnSpPr>
          <p:spPr>
            <a:xfrm>
              <a:off x="2699643" y="3175685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0" name="Google Shape;150;p11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" name="Google Shape;151;p11"/>
            <p:cNvCxnSpPr>
              <a:endCxn id="150" idx="2"/>
            </p:cNvCxnSpPr>
            <p:nvPr/>
          </p:nvCxnSpPr>
          <p:spPr>
            <a:xfrm rot="10800000">
              <a:off x="6762342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" name="Google Shape;152;p11"/>
            <p:cNvSpPr/>
            <p:nvPr/>
          </p:nvSpPr>
          <p:spPr>
            <a:xfrm rot="-5399453">
              <a:off x="1791865" y="1744079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570" flipH="1">
              <a:off x="1792271" y="1738695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3" name="Google Shape;153;p11"/>
            <p:cNvCxnSpPr>
              <a:stCxn id="152" idx="2"/>
              <a:endCxn id="150" idx="0"/>
            </p:cNvCxnSpPr>
            <p:nvPr/>
          </p:nvCxnSpPr>
          <p:spPr>
            <a:xfrm>
              <a:off x="2736435" y="137103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54" name="Google Shape;154;p11"/>
          <p:cNvCxnSpPr/>
          <p:nvPr/>
        </p:nvCxnSpPr>
        <p:spPr>
          <a:xfrm>
            <a:off x="5575700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" name="Google Shape;155;p11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1 - Chapitre [2]">
  <p:cSld name="51 - Chapitre [2]">
    <p:bg>
      <p:bgPr>
        <a:solidFill>
          <a:schemeClr val="lt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/>
          <p:nvPr/>
        </p:nvSpPr>
        <p:spPr>
          <a:xfrm rot="5400000" flipH="1">
            <a:off x="1344924" y="364825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59" name="Google Shape;159;p12"/>
          <p:cNvSpPr/>
          <p:nvPr/>
        </p:nvSpPr>
        <p:spPr>
          <a:xfrm flipH="1">
            <a:off x="830825" y="817575"/>
            <a:ext cx="3663300" cy="38163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2"/>
          <p:cNvSpPr txBox="1">
            <a:spLocks noGrp="1"/>
          </p:cNvSpPr>
          <p:nvPr>
            <p:ph type="body" idx="1"/>
          </p:nvPr>
        </p:nvSpPr>
        <p:spPr>
          <a:xfrm>
            <a:off x="841248" y="37465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61" name="Google Shape;161;p12"/>
          <p:cNvSpPr txBox="1">
            <a:spLocks noGrp="1"/>
          </p:cNvSpPr>
          <p:nvPr>
            <p:ph type="title"/>
          </p:nvPr>
        </p:nvSpPr>
        <p:spPr>
          <a:xfrm>
            <a:off x="4699800" y="268520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62" name="Google Shape;162;p12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63" name="Google Shape;163;p12"/>
          <p:cNvCxnSpPr>
            <a:stCxn id="164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p12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6" name="Google Shape;166;p12"/>
          <p:cNvCxnSpPr>
            <a:endCxn id="165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12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4" name="Google Shape;164;p12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8" name="Google Shape;168;p12"/>
          <p:cNvCxnSpPr>
            <a:stCxn id="167" idx="2"/>
            <a:endCxn id="165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9" name="Google Shape;169;p12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0" name="Google Shape;170;p12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71" name="Google Shape;171;p12"/>
          <p:cNvSpPr txBox="1"/>
          <p:nvPr/>
        </p:nvSpPr>
        <p:spPr>
          <a:xfrm>
            <a:off x="2262425" y="20484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2" name="Google Shape;172;p12"/>
          <p:cNvSpPr/>
          <p:nvPr/>
        </p:nvSpPr>
        <p:spPr>
          <a:xfrm flipH="1">
            <a:off x="841248" y="374725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73" name="Google Shape;173;p12"/>
          <p:cNvGrpSpPr/>
          <p:nvPr/>
        </p:nvGrpSpPr>
        <p:grpSpPr>
          <a:xfrm>
            <a:off x="1450811" y="508105"/>
            <a:ext cx="170063" cy="166438"/>
            <a:chOff x="6838242" y="518225"/>
            <a:chExt cx="1247708" cy="1221114"/>
          </a:xfrm>
        </p:grpSpPr>
        <p:sp>
          <p:nvSpPr>
            <p:cNvPr id="174" name="Google Shape;174;p1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5" name="Google Shape;175;p1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6" name="Google Shape;176;p1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9 - There is a better way">
  <p:cSld name="59 - There is a better way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13"/>
          <p:cNvGrpSpPr/>
          <p:nvPr/>
        </p:nvGrpSpPr>
        <p:grpSpPr>
          <a:xfrm>
            <a:off x="290068" y="235357"/>
            <a:ext cx="345989" cy="338615"/>
            <a:chOff x="6838242" y="518225"/>
            <a:chExt cx="1247708" cy="1221114"/>
          </a:xfrm>
        </p:grpSpPr>
        <p:sp>
          <p:nvSpPr>
            <p:cNvPr id="179" name="Google Shape;179;p13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pic>
        <p:nvPicPr>
          <p:cNvPr id="182" name="Google Shape;18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36975" y="3307206"/>
            <a:ext cx="1670077" cy="82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3"/>
          <p:cNvPicPr preferRelativeResize="0"/>
          <p:nvPr/>
        </p:nvPicPr>
        <p:blipFill rotWithShape="1">
          <a:blip r:embed="rId3">
            <a:alphaModFix/>
          </a:blip>
          <a:srcRect l="17993" t="18848" r="18089" b="13862"/>
          <a:stretch/>
        </p:blipFill>
        <p:spPr>
          <a:xfrm>
            <a:off x="3589050" y="1007225"/>
            <a:ext cx="1965925" cy="206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0 - Titre et visuel">
  <p:cSld name="60 - Titre et visuel">
    <p:bg>
      <p:bgPr>
        <a:solidFill>
          <a:schemeClr val="l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4"/>
          <p:cNvSpPr txBox="1">
            <a:spLocks noGrp="1"/>
          </p:cNvSpPr>
          <p:nvPr>
            <p:ph type="title"/>
          </p:nvPr>
        </p:nvSpPr>
        <p:spPr>
          <a:xfrm>
            <a:off x="562550" y="3823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89" name="Google Shape;189;p14"/>
          <p:cNvCxnSpPr>
            <a:stCxn id="190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1" name="Google Shape;191;p14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2" name="Google Shape;192;p14"/>
          <p:cNvCxnSpPr>
            <a:endCxn id="191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3" name="Google Shape;193;p14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0" name="Google Shape;190;p14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4" name="Google Shape;194;p14"/>
          <p:cNvCxnSpPr>
            <a:stCxn id="193" idx="2"/>
            <a:endCxn id="191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Google Shape;195;p14"/>
          <p:cNvSpPr>
            <a:spLocks noGrp="1"/>
          </p:cNvSpPr>
          <p:nvPr>
            <p:ph type="pic" idx="2"/>
          </p:nvPr>
        </p:nvSpPr>
        <p:spPr>
          <a:xfrm>
            <a:off x="528800" y="732450"/>
            <a:ext cx="8019000" cy="4131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14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1 - Titre, sous-titre et visuel">
  <p:cSld name="61 - Titre, sous-titre et visuel">
    <p:bg>
      <p:bgPr>
        <a:solidFill>
          <a:schemeClr val="lt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/>
          <p:nvPr/>
        </p:nvSpPr>
        <p:spPr>
          <a:xfrm>
            <a:off x="213475" y="208900"/>
            <a:ext cx="8715600" cy="4728600"/>
          </a:xfrm>
          <a:prstGeom prst="roundRect">
            <a:avLst>
              <a:gd name="adj" fmla="val 161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99" name="Google Shape;199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5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‹#›</a:t>
            </a:fld>
            <a:endParaRPr sz="800" b="0" i="0" u="none" strike="noStrike" cap="non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 rot="-5400000">
            <a:off x="-514095" y="25332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5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There is a better way</a:t>
            </a:r>
            <a:endParaRPr sz="65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6682750" y="4939025"/>
            <a:ext cx="23352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Outfit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OCTO Part of Accenture © 2023- All rights reserved</a:t>
            </a:r>
            <a:endParaRPr sz="6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3" name="Google Shape;203;p15"/>
          <p:cNvSpPr txBox="1">
            <a:spLocks noGrp="1"/>
          </p:cNvSpPr>
          <p:nvPr>
            <p:ph type="title"/>
          </p:nvPr>
        </p:nvSpPr>
        <p:spPr>
          <a:xfrm>
            <a:off x="574050" y="361400"/>
            <a:ext cx="80079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4" name="Google Shape;204;p15"/>
          <p:cNvSpPr txBox="1">
            <a:spLocks noGrp="1"/>
          </p:cNvSpPr>
          <p:nvPr>
            <p:ph type="subTitle" idx="1"/>
          </p:nvPr>
        </p:nvSpPr>
        <p:spPr>
          <a:xfrm>
            <a:off x="557250" y="830200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5" name="Google Shape;205;p15"/>
          <p:cNvSpPr>
            <a:spLocks noGrp="1"/>
          </p:cNvSpPr>
          <p:nvPr>
            <p:ph type="pic" idx="2"/>
          </p:nvPr>
        </p:nvSpPr>
        <p:spPr>
          <a:xfrm>
            <a:off x="545225" y="1257950"/>
            <a:ext cx="8041500" cy="36066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15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2 - Visuel seul">
  <p:cSld name="62 - Visuel seul">
    <p:bg>
      <p:bgPr>
        <a:solidFill>
          <a:schemeClr val="lt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6"/>
          <p:cNvSpPr>
            <a:spLocks noGrp="1"/>
          </p:cNvSpPr>
          <p:nvPr>
            <p:ph type="pic" idx="2"/>
          </p:nvPr>
        </p:nvSpPr>
        <p:spPr>
          <a:xfrm>
            <a:off x="3275" y="-2300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16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3 - Titre, contenu et visuel à droite - cadre blanc">
  <p:cSld name="63 - Titre, contenu et visuel à droite - cadre blanc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17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13" name="Google Shape;213;p17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4" name="Google Shape;214;p17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15" name="Google Shape;215;p17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16" name="Google Shape;216;p17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7" name="Google Shape;217;p17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18" name="Google Shape;218;p17"/>
            <p:cNvCxnSpPr>
              <a:stCxn id="21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0" name="Google Shape;220;p17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1" name="Google Shape;221;p17"/>
            <p:cNvCxnSpPr>
              <a:endCxn id="22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2" name="Google Shape;222;p17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9" name="Google Shape;219;p17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3" name="Google Shape;223;p17"/>
            <p:cNvCxnSpPr>
              <a:stCxn id="222" idx="2"/>
              <a:endCxn id="22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24" name="Google Shape;224;p17"/>
          <p:cNvSpPr txBox="1">
            <a:spLocks noGrp="1"/>
          </p:cNvSpPr>
          <p:nvPr>
            <p:ph type="body" idx="1"/>
          </p:nvPr>
        </p:nvSpPr>
        <p:spPr>
          <a:xfrm>
            <a:off x="562825" y="817275"/>
            <a:ext cx="53055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25" name="Google Shape;225;p17"/>
          <p:cNvSpPr txBox="1">
            <a:spLocks noGrp="1"/>
          </p:cNvSpPr>
          <p:nvPr>
            <p:ph type="title"/>
          </p:nvPr>
        </p:nvSpPr>
        <p:spPr>
          <a:xfrm>
            <a:off x="562825" y="357529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26" name="Google Shape;226;p17"/>
          <p:cNvGrpSpPr/>
          <p:nvPr/>
        </p:nvGrpSpPr>
        <p:grpSpPr>
          <a:xfrm>
            <a:off x="364209" y="292130"/>
            <a:ext cx="82155" cy="82230"/>
            <a:chOff x="7483200" y="518225"/>
            <a:chExt cx="602750" cy="603300"/>
          </a:xfrm>
        </p:grpSpPr>
        <p:sp>
          <p:nvSpPr>
            <p:cNvPr id="227" name="Google Shape;227;p17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29" name="Google Shape;229;p17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4 - Titre, sous-titre, contenu et visuel à droite - cadre blanc">
  <p:cSld name="64 - Titre, sous-titre, contenu et visuel à droite - cadre blanc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8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32" name="Google Shape;232;p18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33" name="Google Shape;233;p18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34" name="Google Shape;234;p18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cxnSp>
          <p:nvCxnSpPr>
            <p:cNvPr id="235" name="Google Shape;235;p18"/>
            <p:cNvCxnSpPr>
              <a:stCxn id="236" idx="2"/>
              <a:endCxn id="237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38" name="Google Shape;238;p18"/>
            <p:cNvGrpSpPr/>
            <p:nvPr/>
          </p:nvGrpSpPr>
          <p:grpSpPr>
            <a:xfrm>
              <a:off x="276303" y="295049"/>
              <a:ext cx="8682472" cy="4585476"/>
              <a:chOff x="276303" y="295049"/>
              <a:chExt cx="8682472" cy="4585476"/>
            </a:xfrm>
          </p:grpSpPr>
          <p:sp>
            <p:nvSpPr>
              <p:cNvPr id="239" name="Google Shape;239;p18"/>
              <p:cNvSpPr/>
              <p:nvPr/>
            </p:nvSpPr>
            <p:spPr>
              <a:xfrm>
                <a:off x="276303" y="295049"/>
                <a:ext cx="163500" cy="1635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0" name="Google Shape;240;p18"/>
              <p:cNvSpPr txBox="1"/>
              <p:nvPr/>
            </p:nvSpPr>
            <p:spPr>
              <a:xfrm>
                <a:off x="8459275" y="46519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lang="en-US" sz="800" b="0" i="0" u="none" strike="noStrike" cap="non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lang="en-US" sz="800" b="0" i="0" u="none" strike="noStrike" cap="non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241" name="Google Shape;241;p18"/>
              <p:cNvCxnSpPr>
                <a:stCxn id="242" idx="2"/>
              </p:cNvCxnSpPr>
              <p:nvPr/>
            </p:nvCxnSpPr>
            <p:spPr>
              <a:xfrm>
                <a:off x="8676034" y="4864644"/>
                <a:ext cx="191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7" name="Google Shape;237;p18"/>
              <p:cNvSpPr/>
              <p:nvPr/>
            </p:nvSpPr>
            <p:spPr>
              <a:xfrm>
                <a:off x="8662728" y="4667715"/>
                <a:ext cx="200700" cy="196200"/>
              </a:xfrm>
              <a:prstGeom prst="arc">
                <a:avLst>
                  <a:gd name="adj1" fmla="val 16241889"/>
                  <a:gd name="adj2" fmla="val 167312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243" name="Google Shape;243;p18"/>
              <p:cNvCxnSpPr>
                <a:endCxn id="237" idx="2"/>
              </p:cNvCxnSpPr>
              <p:nvPr/>
            </p:nvCxnSpPr>
            <p:spPr>
              <a:xfrm rot="10800000">
                <a:off x="8863304" y="4770697"/>
                <a:ext cx="0" cy="98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6" name="Google Shape;236;p18"/>
              <p:cNvSpPr/>
              <p:nvPr/>
            </p:nvSpPr>
            <p:spPr>
              <a:xfrm rot="-5400000">
                <a:off x="8575218" y="4670051"/>
                <a:ext cx="200700" cy="196200"/>
              </a:xfrm>
              <a:prstGeom prst="arc">
                <a:avLst>
                  <a:gd name="adj1" fmla="val 16241889"/>
                  <a:gd name="adj2" fmla="val 11524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 rot="-5400000" flipH="1">
                <a:off x="8575218" y="4666195"/>
                <a:ext cx="200700" cy="196200"/>
              </a:xfrm>
              <a:prstGeom prst="arc">
                <a:avLst>
                  <a:gd name="adj1" fmla="val 16241889"/>
                  <a:gd name="adj2" fmla="val 15973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</p:grpSp>
      <p:sp>
        <p:nvSpPr>
          <p:cNvPr id="244" name="Google Shape;244;p18"/>
          <p:cNvSpPr txBox="1">
            <a:spLocks noGrp="1"/>
          </p:cNvSpPr>
          <p:nvPr>
            <p:ph type="body" idx="1"/>
          </p:nvPr>
        </p:nvSpPr>
        <p:spPr>
          <a:xfrm>
            <a:off x="562800" y="1273200"/>
            <a:ext cx="5305500" cy="3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0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5" name="Google Shape;245;p18"/>
          <p:cNvSpPr txBox="1">
            <a:spLocks noGrp="1"/>
          </p:cNvSpPr>
          <p:nvPr>
            <p:ph type="subTitle" idx="2"/>
          </p:nvPr>
        </p:nvSpPr>
        <p:spPr>
          <a:xfrm>
            <a:off x="571015" y="778000"/>
            <a:ext cx="53055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6" name="Google Shape;246;p18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47" name="Google Shape;247;p18"/>
          <p:cNvGrpSpPr/>
          <p:nvPr/>
        </p:nvGrpSpPr>
        <p:grpSpPr>
          <a:xfrm>
            <a:off x="276301" y="295049"/>
            <a:ext cx="163560" cy="163519"/>
            <a:chOff x="6838242" y="539639"/>
            <a:chExt cx="1200000" cy="1199700"/>
          </a:xfrm>
        </p:grpSpPr>
        <p:sp>
          <p:nvSpPr>
            <p:cNvPr id="248" name="Google Shape;248;p18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49" name="Google Shape;249;p18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0" name="Google Shape;250;p18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1" name="Google Shape;251;p18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5 - Titre, contenu, visuel à droite et bloc conclu - cadre blanc">
  <p:cSld name="65 - Titre, contenu, visuel à droite et bloc conclu - cadre blanc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19"/>
          <p:cNvGrpSpPr/>
          <p:nvPr/>
        </p:nvGrpSpPr>
        <p:grpSpPr>
          <a:xfrm rot="10800000">
            <a:off x="5754900" y="3471525"/>
            <a:ext cx="1392300" cy="1392300"/>
            <a:chOff x="7475475" y="301725"/>
            <a:chExt cx="1392300" cy="1392300"/>
          </a:xfrm>
        </p:grpSpPr>
        <p:sp>
          <p:nvSpPr>
            <p:cNvPr id="254" name="Google Shape;254;p19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55" name="Google Shape;255;p19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6" name="Google Shape;256;p19"/>
          <p:cNvSpPr/>
          <p:nvPr/>
        </p:nvSpPr>
        <p:spPr>
          <a:xfrm>
            <a:off x="6549661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257" name="Google Shape;257;p19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58" name="Google Shape;258;p19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59" name="Google Shape;259;p19"/>
            <p:cNvCxnSpPr>
              <a:stCxn id="26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1" name="Google Shape;261;p19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2" name="Google Shape;262;p19"/>
            <p:cNvCxnSpPr>
              <a:endCxn id="26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3" name="Google Shape;263;p19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60" name="Google Shape;260;p19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4" name="Google Shape;264;p19"/>
            <p:cNvCxnSpPr>
              <a:stCxn id="263" idx="2"/>
              <a:endCxn id="26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5" name="Google Shape;265;p19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</p:grpSp>
      <p:sp>
        <p:nvSpPr>
          <p:cNvPr id="266" name="Google Shape;266;p19"/>
          <p:cNvSpPr txBox="1">
            <a:spLocks noGrp="1"/>
          </p:cNvSpPr>
          <p:nvPr>
            <p:ph type="body" idx="1"/>
          </p:nvPr>
        </p:nvSpPr>
        <p:spPr>
          <a:xfrm>
            <a:off x="562775" y="817275"/>
            <a:ext cx="47904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7" name="Google Shape;267;p19"/>
          <p:cNvSpPr txBox="1">
            <a:spLocks noGrp="1"/>
          </p:cNvSpPr>
          <p:nvPr>
            <p:ph type="title"/>
          </p:nvPr>
        </p:nvSpPr>
        <p:spPr>
          <a:xfrm>
            <a:off x="562825" y="361375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8" name="Google Shape;268;p19"/>
          <p:cNvSpPr txBox="1">
            <a:spLocks noGrp="1"/>
          </p:cNvSpPr>
          <p:nvPr>
            <p:ph type="body" idx="2"/>
          </p:nvPr>
        </p:nvSpPr>
        <p:spPr>
          <a:xfrm>
            <a:off x="6920978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cxnSp>
        <p:nvCxnSpPr>
          <p:cNvPr id="269" name="Google Shape;269;p19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0" name="Google Shape;270;p19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364209" y="345001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2" name="Google Shape;272;p1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6 - Titre, sous-titre, contenu, visuel à droite et bloc conclu - cadre blanc">
  <p:cSld name="66 - Titre, sous-titre, contenu, visuel à droite et bloc conclu - cadre blanc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"/>
          <p:cNvSpPr txBox="1">
            <a:spLocks noGrp="1"/>
          </p:cNvSpPr>
          <p:nvPr>
            <p:ph type="body" idx="1"/>
          </p:nvPr>
        </p:nvSpPr>
        <p:spPr>
          <a:xfrm>
            <a:off x="562825" y="1267800"/>
            <a:ext cx="47904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5" name="Google Shape;275;p20"/>
          <p:cNvSpPr txBox="1">
            <a:spLocks noGrp="1"/>
          </p:cNvSpPr>
          <p:nvPr>
            <p:ph type="subTitle" idx="2"/>
          </p:nvPr>
        </p:nvSpPr>
        <p:spPr>
          <a:xfrm>
            <a:off x="571015" y="777619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6" name="Google Shape;276;p20"/>
          <p:cNvSpPr txBox="1">
            <a:spLocks noGrp="1"/>
          </p:cNvSpPr>
          <p:nvPr>
            <p:ph type="title"/>
          </p:nvPr>
        </p:nvSpPr>
        <p:spPr>
          <a:xfrm>
            <a:off x="562825" y="367000"/>
            <a:ext cx="4790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77" name="Google Shape;277;p20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278" name="Google Shape;278;p20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279" name="Google Shape;279;p20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0" name="Google Shape;280;p20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1" name="Google Shape;281;p20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282" name="Google Shape;282;p20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83" name="Google Shape;283;p20"/>
            <p:cNvCxnSpPr>
              <a:stCxn id="28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5" name="Google Shape;285;p20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6" name="Google Shape;286;p20"/>
            <p:cNvCxnSpPr>
              <a:endCxn id="28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7" name="Google Shape;287;p20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84" name="Google Shape;284;p20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8" name="Google Shape;288;p20"/>
            <p:cNvCxnSpPr>
              <a:stCxn id="287" idx="2"/>
              <a:endCxn id="28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89" name="Google Shape;289;p20"/>
          <p:cNvGrpSpPr/>
          <p:nvPr/>
        </p:nvGrpSpPr>
        <p:grpSpPr>
          <a:xfrm rot="10800000">
            <a:off x="5754902" y="3471525"/>
            <a:ext cx="1392300" cy="1392300"/>
            <a:chOff x="7475475" y="301725"/>
            <a:chExt cx="1392300" cy="1392300"/>
          </a:xfrm>
        </p:grpSpPr>
        <p:sp>
          <p:nvSpPr>
            <p:cNvPr id="290" name="Google Shape;290;p20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91" name="Google Shape;291;p20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92" name="Google Shape;292;p20"/>
          <p:cNvSpPr/>
          <p:nvPr/>
        </p:nvSpPr>
        <p:spPr>
          <a:xfrm>
            <a:off x="6543075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3" name="Google Shape;293;p20"/>
          <p:cNvSpPr txBox="1">
            <a:spLocks noGrp="1"/>
          </p:cNvSpPr>
          <p:nvPr>
            <p:ph type="body" idx="3"/>
          </p:nvPr>
        </p:nvSpPr>
        <p:spPr>
          <a:xfrm>
            <a:off x="6920975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cxnSp>
        <p:nvCxnSpPr>
          <p:cNvPr id="294" name="Google Shape;294;p20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5" name="Google Shape;295;p20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7 - Titre, contenu et visuel à gauche - cadre blanc">
  <p:cSld name="67 - Titre, contenu et visuel à gauche - cadre blanc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"/>
          <p:cNvSpPr txBox="1">
            <a:spLocks noGrp="1"/>
          </p:cNvSpPr>
          <p:nvPr>
            <p:ph type="title"/>
          </p:nvPr>
        </p:nvSpPr>
        <p:spPr>
          <a:xfrm>
            <a:off x="3440825" y="359479"/>
            <a:ext cx="51366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98" name="Google Shape;298;p21"/>
          <p:cNvSpPr txBox="1">
            <a:spLocks noGrp="1"/>
          </p:cNvSpPr>
          <p:nvPr>
            <p:ph type="body" idx="1"/>
          </p:nvPr>
        </p:nvSpPr>
        <p:spPr>
          <a:xfrm>
            <a:off x="3440825" y="817275"/>
            <a:ext cx="5136600" cy="40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99" name="Google Shape;299;p21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00" name="Google Shape;300;p21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1" name="Google Shape;301;p21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02" name="Google Shape;302;p21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03" name="Google Shape;303;p21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04" name="Google Shape;304;p21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5" name="Google Shape;305;p21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6" name="Google Shape;306;p21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07" name="Google Shape;307;p21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08" name="Google Shape;308;p21"/>
            <p:cNvCxnSpPr>
              <a:stCxn id="30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0" name="Google Shape;310;p21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1" name="Google Shape;311;p21"/>
            <p:cNvCxnSpPr>
              <a:endCxn id="31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2" name="Google Shape;312;p21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9" name="Google Shape;309;p21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3" name="Google Shape;313;p21"/>
            <p:cNvCxnSpPr>
              <a:stCxn id="312" idx="2"/>
              <a:endCxn id="31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14" name="Google Shape;314;p2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8 - Titre, sous-titre, contenu et visuel à gauche - cadre blanc">
  <p:cSld name="68 - Titre, sous-titre, contenu et visuel à gauche - cadre blanc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2"/>
          <p:cNvSpPr/>
          <p:nvPr/>
        </p:nvSpPr>
        <p:spPr>
          <a:xfrm rot="5400000" flipH="1">
            <a:off x="4143250" y="131125"/>
            <a:ext cx="4709400" cy="4865400"/>
          </a:xfrm>
          <a:prstGeom prst="round2SameRect">
            <a:avLst>
              <a:gd name="adj1" fmla="val 1367"/>
              <a:gd name="adj2" fmla="val 0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7" name="Google Shape;317;p22"/>
          <p:cNvSpPr txBox="1">
            <a:spLocks noGrp="1"/>
          </p:cNvSpPr>
          <p:nvPr>
            <p:ph type="subTitle" idx="1"/>
          </p:nvPr>
        </p:nvSpPr>
        <p:spPr>
          <a:xfrm>
            <a:off x="3442450" y="779144"/>
            <a:ext cx="51393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8" name="Google Shape;318;p22"/>
          <p:cNvSpPr txBox="1">
            <a:spLocks noGrp="1"/>
          </p:cNvSpPr>
          <p:nvPr>
            <p:ph type="body" idx="2"/>
          </p:nvPr>
        </p:nvSpPr>
        <p:spPr>
          <a:xfrm>
            <a:off x="3438150" y="1271025"/>
            <a:ext cx="5139300" cy="3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9" name="Google Shape;319;p22"/>
          <p:cNvSpPr txBox="1">
            <a:spLocks noGrp="1"/>
          </p:cNvSpPr>
          <p:nvPr>
            <p:ph type="title"/>
          </p:nvPr>
        </p:nvSpPr>
        <p:spPr>
          <a:xfrm>
            <a:off x="3438150" y="358969"/>
            <a:ext cx="51393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20" name="Google Shape;320;p22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21" name="Google Shape;321;p22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22" name="Google Shape;322;p22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23" name="Google Shape;323;p22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24" name="Google Shape;324;p22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25" name="Google Shape;325;p22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6" name="Google Shape;326;p22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7" name="Google Shape;327;p22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28" name="Google Shape;328;p22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29" name="Google Shape;329;p22"/>
            <p:cNvCxnSpPr>
              <a:stCxn id="33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1" name="Google Shape;331;p22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2" name="Google Shape;332;p22"/>
            <p:cNvCxnSpPr>
              <a:endCxn id="33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3" name="Google Shape;333;p22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30" name="Google Shape;330;p22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4" name="Google Shape;334;p22"/>
            <p:cNvCxnSpPr>
              <a:stCxn id="333" idx="2"/>
              <a:endCxn id="33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35" name="Google Shape;335;p2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9 - Titre, contenu, visuel à gauche et bloc conclu - cadre blanc">
  <p:cSld name="69 - Titre, contenu, visuel à gauche et bloc conclu - cadre blanc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23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38" name="Google Shape;338;p23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39" name="Google Shape;339;p23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0" name="Google Shape;340;p23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1" name="Google Shape;341;p23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42" name="Google Shape;342;p23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43" name="Google Shape;343;p23"/>
            <p:cNvCxnSpPr>
              <a:stCxn id="34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5" name="Google Shape;345;p23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6" name="Google Shape;346;p23"/>
            <p:cNvCxnSpPr>
              <a:endCxn id="34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7" name="Google Shape;347;p23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44" name="Google Shape;344;p23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8" name="Google Shape;348;p23"/>
            <p:cNvCxnSpPr>
              <a:stCxn id="347" idx="2"/>
              <a:endCxn id="34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49" name="Google Shape;349;p23"/>
          <p:cNvSpPr txBox="1">
            <a:spLocks noGrp="1"/>
          </p:cNvSpPr>
          <p:nvPr>
            <p:ph type="title"/>
          </p:nvPr>
        </p:nvSpPr>
        <p:spPr>
          <a:xfrm>
            <a:off x="3932050" y="354600"/>
            <a:ext cx="45882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50" name="Google Shape;350;p23"/>
          <p:cNvGrpSpPr/>
          <p:nvPr/>
        </p:nvGrpSpPr>
        <p:grpSpPr>
          <a:xfrm rot="10800000">
            <a:off x="420900" y="3471525"/>
            <a:ext cx="1392300" cy="1392300"/>
            <a:chOff x="7475475" y="301725"/>
            <a:chExt cx="1392300" cy="1392300"/>
          </a:xfrm>
        </p:grpSpPr>
        <p:sp>
          <p:nvSpPr>
            <p:cNvPr id="351" name="Google Shape;351;p23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52" name="Google Shape;352;p23"/>
            <p:cNvSpPr txBox="1"/>
            <p:nvPr/>
          </p:nvSpPr>
          <p:spPr>
            <a:xfrm rot="10800000">
              <a:off x="7776275" y="553855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53" name="Google Shape;353;p23"/>
          <p:cNvSpPr txBox="1">
            <a:spLocks noGrp="1"/>
          </p:cNvSpPr>
          <p:nvPr>
            <p:ph type="body" idx="1"/>
          </p:nvPr>
        </p:nvSpPr>
        <p:spPr>
          <a:xfrm>
            <a:off x="1511925" y="817275"/>
            <a:ext cx="1719000" cy="20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4" name="Google Shape;354;p23"/>
          <p:cNvSpPr txBox="1">
            <a:spLocks noGrp="1"/>
          </p:cNvSpPr>
          <p:nvPr>
            <p:ph type="body" idx="2"/>
          </p:nvPr>
        </p:nvSpPr>
        <p:spPr>
          <a:xfrm>
            <a:off x="3932200" y="817275"/>
            <a:ext cx="45882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5" name="Google Shape;355;p23"/>
          <p:cNvSpPr/>
          <p:nvPr/>
        </p:nvSpPr>
        <p:spPr>
          <a:xfrm>
            <a:off x="1209075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56" name="Google Shape;356;p2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0 - Titre, sous-titre, contenu, visuel à gauche et bloc conclu - cadre blanc">
  <p:cSld name="70 - Titre, sous-titre, contenu, visuel à gauche et bloc conclu - cadre blanc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oogle Shape;358;p24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59" name="Google Shape;359;p24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60" name="Google Shape;360;p24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1" name="Google Shape;361;p24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2" name="Google Shape;362;p24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63" name="Google Shape;363;p24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64" name="Google Shape;364;p24"/>
            <p:cNvCxnSpPr>
              <a:stCxn id="365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6" name="Google Shape;366;p24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7" name="Google Shape;367;p24"/>
            <p:cNvCxnSpPr>
              <a:endCxn id="366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8" name="Google Shape;368;p24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65" name="Google Shape;365;p24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9" name="Google Shape;369;p24"/>
            <p:cNvCxnSpPr>
              <a:stCxn id="368" idx="2"/>
              <a:endCxn id="366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70" name="Google Shape;370;p24"/>
          <p:cNvSpPr txBox="1">
            <a:spLocks noGrp="1"/>
          </p:cNvSpPr>
          <p:nvPr>
            <p:ph type="body" idx="1"/>
          </p:nvPr>
        </p:nvSpPr>
        <p:spPr>
          <a:xfrm>
            <a:off x="3943350" y="1271025"/>
            <a:ext cx="4564200" cy="35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1" name="Google Shape;371;p24"/>
          <p:cNvSpPr txBox="1">
            <a:spLocks noGrp="1"/>
          </p:cNvSpPr>
          <p:nvPr>
            <p:ph type="subTitle" idx="2"/>
          </p:nvPr>
        </p:nvSpPr>
        <p:spPr>
          <a:xfrm>
            <a:off x="3935150" y="770950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2" name="Google Shape;372;p24"/>
          <p:cNvSpPr txBox="1">
            <a:spLocks noGrp="1"/>
          </p:cNvSpPr>
          <p:nvPr>
            <p:ph type="title"/>
          </p:nvPr>
        </p:nvSpPr>
        <p:spPr>
          <a:xfrm>
            <a:off x="3935150" y="348725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73" name="Google Shape;373;p24"/>
          <p:cNvGrpSpPr/>
          <p:nvPr/>
        </p:nvGrpSpPr>
        <p:grpSpPr>
          <a:xfrm rot="10800000">
            <a:off x="420900" y="3471800"/>
            <a:ext cx="1392300" cy="1392300"/>
            <a:chOff x="7475475" y="301725"/>
            <a:chExt cx="1392300" cy="1392300"/>
          </a:xfrm>
        </p:grpSpPr>
        <p:sp>
          <p:nvSpPr>
            <p:cNvPr id="374" name="Google Shape;374;p24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75" name="Google Shape;375;p24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76" name="Google Shape;376;p24"/>
          <p:cNvSpPr/>
          <p:nvPr/>
        </p:nvSpPr>
        <p:spPr>
          <a:xfrm>
            <a:off x="1209075" y="30031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77" name="Google Shape;377;p24"/>
          <p:cNvSpPr txBox="1">
            <a:spLocks noGrp="1"/>
          </p:cNvSpPr>
          <p:nvPr>
            <p:ph type="body" idx="3"/>
          </p:nvPr>
        </p:nvSpPr>
        <p:spPr>
          <a:xfrm>
            <a:off x="1511925" y="812385"/>
            <a:ext cx="1719000" cy="20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8" name="Google Shape;378;p24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0 - Table des matières [2]">
  <p:cSld name="90 - Table des matières [2]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5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1" name="Google Shape;381;p25"/>
          <p:cNvSpPr txBox="1">
            <a:spLocks noGrp="1"/>
          </p:cNvSpPr>
          <p:nvPr>
            <p:ph type="body" idx="1"/>
          </p:nvPr>
        </p:nvSpPr>
        <p:spPr>
          <a:xfrm>
            <a:off x="2236850" y="2248633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2" name="Google Shape;382;p25"/>
          <p:cNvSpPr txBox="1">
            <a:spLocks noGrp="1"/>
          </p:cNvSpPr>
          <p:nvPr>
            <p:ph type="body" idx="2"/>
          </p:nvPr>
        </p:nvSpPr>
        <p:spPr>
          <a:xfrm>
            <a:off x="6210950" y="2248625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3" name="Google Shape;383;p25"/>
          <p:cNvSpPr/>
          <p:nvPr/>
        </p:nvSpPr>
        <p:spPr>
          <a:xfrm>
            <a:off x="1106400" y="22486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4" name="Google Shape;384;p25"/>
          <p:cNvSpPr txBox="1"/>
          <p:nvPr/>
        </p:nvSpPr>
        <p:spPr>
          <a:xfrm>
            <a:off x="1086263" y="2254176"/>
            <a:ext cx="8082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5" name="Google Shape;385;p25"/>
          <p:cNvSpPr/>
          <p:nvPr/>
        </p:nvSpPr>
        <p:spPr>
          <a:xfrm>
            <a:off x="5192425" y="2286425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6" name="Google Shape;386;p25"/>
          <p:cNvSpPr txBox="1"/>
          <p:nvPr/>
        </p:nvSpPr>
        <p:spPr>
          <a:xfrm>
            <a:off x="5160164" y="2254177"/>
            <a:ext cx="852600" cy="8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1 - Table des matières [3]">
  <p:cSld name="91 - Table des matières [3]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6"/>
          <p:cNvSpPr txBox="1">
            <a:spLocks noGrp="1"/>
          </p:cNvSpPr>
          <p:nvPr>
            <p:ph type="title"/>
          </p:nvPr>
        </p:nvSpPr>
        <p:spPr>
          <a:xfrm>
            <a:off x="829600" y="12635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9" name="Google Shape;389;p26"/>
          <p:cNvSpPr txBox="1">
            <a:spLocks noGrp="1"/>
          </p:cNvSpPr>
          <p:nvPr>
            <p:ph type="body" idx="1"/>
          </p:nvPr>
        </p:nvSpPr>
        <p:spPr>
          <a:xfrm>
            <a:off x="1172550" y="26890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0" name="Google Shape;390;p26"/>
          <p:cNvSpPr txBox="1">
            <a:spLocks noGrp="1"/>
          </p:cNvSpPr>
          <p:nvPr>
            <p:ph type="body" idx="2"/>
          </p:nvPr>
        </p:nvSpPr>
        <p:spPr>
          <a:xfrm>
            <a:off x="3666975" y="27118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1" name="Google Shape;391;p26"/>
          <p:cNvSpPr txBox="1">
            <a:spLocks noGrp="1"/>
          </p:cNvSpPr>
          <p:nvPr>
            <p:ph type="body" idx="3"/>
          </p:nvPr>
        </p:nvSpPr>
        <p:spPr>
          <a:xfrm>
            <a:off x="6260400" y="2711825"/>
            <a:ext cx="23172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2" name="Google Shape;392;p26"/>
          <p:cNvSpPr/>
          <p:nvPr/>
        </p:nvSpPr>
        <p:spPr>
          <a:xfrm rot="10800000">
            <a:off x="3666963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3" name="Google Shape;393;p26"/>
          <p:cNvSpPr/>
          <p:nvPr/>
        </p:nvSpPr>
        <p:spPr>
          <a:xfrm rot="10800000">
            <a:off x="1172550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4" name="Google Shape;394;p26"/>
          <p:cNvSpPr/>
          <p:nvPr/>
        </p:nvSpPr>
        <p:spPr>
          <a:xfrm rot="10800000">
            <a:off x="6260388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5" name="Google Shape;395;p26"/>
          <p:cNvSpPr txBox="1"/>
          <p:nvPr/>
        </p:nvSpPr>
        <p:spPr>
          <a:xfrm>
            <a:off x="1164446" y="179938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6" name="Google Shape;396;p26"/>
          <p:cNvSpPr txBox="1"/>
          <p:nvPr/>
        </p:nvSpPr>
        <p:spPr>
          <a:xfrm>
            <a:off x="3650472" y="179937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7" name="Google Shape;397;p26"/>
          <p:cNvSpPr txBox="1"/>
          <p:nvPr/>
        </p:nvSpPr>
        <p:spPr>
          <a:xfrm>
            <a:off x="6243911" y="1799374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2 - Table des matières [4]">
  <p:cSld name="92 - Table des matières [4]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7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0" name="Google Shape;400;p27"/>
          <p:cNvSpPr txBox="1">
            <a:spLocks noGrp="1"/>
          </p:cNvSpPr>
          <p:nvPr>
            <p:ph type="body" idx="1"/>
          </p:nvPr>
        </p:nvSpPr>
        <p:spPr>
          <a:xfrm>
            <a:off x="1681525" y="1738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1" name="Google Shape;401;p27"/>
          <p:cNvSpPr txBox="1">
            <a:spLocks noGrp="1"/>
          </p:cNvSpPr>
          <p:nvPr>
            <p:ph type="body" idx="2"/>
          </p:nvPr>
        </p:nvSpPr>
        <p:spPr>
          <a:xfrm>
            <a:off x="1681500" y="30141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2" name="Google Shape;402;p27"/>
          <p:cNvSpPr txBox="1">
            <a:spLocks noGrp="1"/>
          </p:cNvSpPr>
          <p:nvPr>
            <p:ph type="body" idx="3"/>
          </p:nvPr>
        </p:nvSpPr>
        <p:spPr>
          <a:xfrm>
            <a:off x="5619625" y="17381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3" name="Google Shape;403;p27"/>
          <p:cNvSpPr txBox="1">
            <a:spLocks noGrp="1"/>
          </p:cNvSpPr>
          <p:nvPr>
            <p:ph type="body" idx="4"/>
          </p:nvPr>
        </p:nvSpPr>
        <p:spPr>
          <a:xfrm>
            <a:off x="5619750" y="30141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4" name="Google Shape;404;p27"/>
          <p:cNvSpPr/>
          <p:nvPr/>
        </p:nvSpPr>
        <p:spPr>
          <a:xfrm rot="5400000">
            <a:off x="4767525" y="2951177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5" name="Google Shape;405;p27"/>
          <p:cNvSpPr/>
          <p:nvPr/>
        </p:nvSpPr>
        <p:spPr>
          <a:xfrm rot="5400000">
            <a:off x="4767525" y="172202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6" name="Google Shape;406;p27"/>
          <p:cNvSpPr/>
          <p:nvPr/>
        </p:nvSpPr>
        <p:spPr>
          <a:xfrm rot="5400000">
            <a:off x="867525" y="2980796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7" name="Google Shape;407;p27"/>
          <p:cNvSpPr/>
          <p:nvPr/>
        </p:nvSpPr>
        <p:spPr>
          <a:xfrm rot="5400000">
            <a:off x="867525" y="1722025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8" name="Google Shape;408;p27"/>
          <p:cNvSpPr txBox="1"/>
          <p:nvPr/>
        </p:nvSpPr>
        <p:spPr>
          <a:xfrm>
            <a:off x="967623" y="1866129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09" name="Google Shape;409;p27"/>
          <p:cNvSpPr txBox="1"/>
          <p:nvPr/>
        </p:nvSpPr>
        <p:spPr>
          <a:xfrm>
            <a:off x="967623" y="3116186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0" name="Google Shape;410;p27"/>
          <p:cNvSpPr txBox="1"/>
          <p:nvPr/>
        </p:nvSpPr>
        <p:spPr>
          <a:xfrm>
            <a:off x="4869747" y="1851848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1" name="Google Shape;411;p27"/>
          <p:cNvSpPr txBox="1"/>
          <p:nvPr/>
        </p:nvSpPr>
        <p:spPr>
          <a:xfrm>
            <a:off x="4869747" y="3072492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3 - Table des matières [5]">
  <p:cSld name="93 - Table des matières [5]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8"/>
          <p:cNvSpPr txBox="1">
            <a:spLocks noGrp="1"/>
          </p:cNvSpPr>
          <p:nvPr>
            <p:ph type="title"/>
          </p:nvPr>
        </p:nvSpPr>
        <p:spPr>
          <a:xfrm>
            <a:off x="829600" y="11393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4" name="Google Shape;414;p28"/>
          <p:cNvSpPr txBox="1">
            <a:spLocks noGrp="1"/>
          </p:cNvSpPr>
          <p:nvPr>
            <p:ph type="body" idx="1"/>
          </p:nvPr>
        </p:nvSpPr>
        <p:spPr>
          <a:xfrm>
            <a:off x="1681525" y="1651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5" name="Google Shape;415;p28"/>
          <p:cNvSpPr txBox="1">
            <a:spLocks noGrp="1"/>
          </p:cNvSpPr>
          <p:nvPr>
            <p:ph type="body" idx="2"/>
          </p:nvPr>
        </p:nvSpPr>
        <p:spPr>
          <a:xfrm>
            <a:off x="1681525" y="2447225"/>
            <a:ext cx="27903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6" name="Google Shape;416;p28"/>
          <p:cNvSpPr txBox="1">
            <a:spLocks noGrp="1"/>
          </p:cNvSpPr>
          <p:nvPr>
            <p:ph type="body" idx="3"/>
          </p:nvPr>
        </p:nvSpPr>
        <p:spPr>
          <a:xfrm>
            <a:off x="1681525" y="32436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7" name="Google Shape;417;p28"/>
          <p:cNvSpPr txBox="1">
            <a:spLocks noGrp="1"/>
          </p:cNvSpPr>
          <p:nvPr>
            <p:ph type="body" idx="4"/>
          </p:nvPr>
        </p:nvSpPr>
        <p:spPr>
          <a:xfrm>
            <a:off x="5619625" y="1650825"/>
            <a:ext cx="2958000" cy="6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8" name="Google Shape;418;p28"/>
          <p:cNvSpPr txBox="1">
            <a:spLocks noGrp="1"/>
          </p:cNvSpPr>
          <p:nvPr>
            <p:ph type="body" idx="5"/>
          </p:nvPr>
        </p:nvSpPr>
        <p:spPr>
          <a:xfrm>
            <a:off x="5619625" y="24475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9" name="Google Shape;419;p28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0" name="Google Shape;420;p28"/>
          <p:cNvSpPr/>
          <p:nvPr/>
        </p:nvSpPr>
        <p:spPr>
          <a:xfrm rot="5400000">
            <a:off x="883425" y="2447222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1" name="Google Shape;421;p28"/>
          <p:cNvSpPr/>
          <p:nvPr/>
        </p:nvSpPr>
        <p:spPr>
          <a:xfrm rot="5400000">
            <a:off x="883425" y="3243569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2" name="Google Shape;422;p28"/>
          <p:cNvSpPr/>
          <p:nvPr/>
        </p:nvSpPr>
        <p:spPr>
          <a:xfrm rot="5400000">
            <a:off x="4767525" y="1651025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3" name="Google Shape;423;p28"/>
          <p:cNvSpPr/>
          <p:nvPr/>
        </p:nvSpPr>
        <p:spPr>
          <a:xfrm rot="5400000">
            <a:off x="4767525" y="2447566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4" name="Google Shape;424;p28"/>
          <p:cNvSpPr txBox="1"/>
          <p:nvPr/>
        </p:nvSpPr>
        <p:spPr>
          <a:xfrm>
            <a:off x="985647" y="178739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5" name="Google Shape;425;p28"/>
          <p:cNvSpPr txBox="1"/>
          <p:nvPr/>
        </p:nvSpPr>
        <p:spPr>
          <a:xfrm>
            <a:off x="985647" y="258794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6" name="Google Shape;426;p28"/>
          <p:cNvSpPr txBox="1"/>
          <p:nvPr/>
        </p:nvSpPr>
        <p:spPr>
          <a:xfrm>
            <a:off x="985647" y="3388496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7" name="Google Shape;427;p28"/>
          <p:cNvSpPr txBox="1"/>
          <p:nvPr/>
        </p:nvSpPr>
        <p:spPr>
          <a:xfrm>
            <a:off x="4869767" y="178743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8" name="Google Shape;428;p28"/>
          <p:cNvSpPr txBox="1"/>
          <p:nvPr/>
        </p:nvSpPr>
        <p:spPr>
          <a:xfrm>
            <a:off x="4867105" y="2563728"/>
            <a:ext cx="4395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4 - Table des matières [6]">
  <p:cSld name="94 - Table des matières [6]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9"/>
          <p:cNvSpPr txBox="1">
            <a:spLocks noGrp="1"/>
          </p:cNvSpPr>
          <p:nvPr>
            <p:ph type="title"/>
          </p:nvPr>
        </p:nvSpPr>
        <p:spPr>
          <a:xfrm>
            <a:off x="829600" y="10321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1" name="Google Shape;431;p29"/>
          <p:cNvSpPr txBox="1">
            <a:spLocks noGrp="1"/>
          </p:cNvSpPr>
          <p:nvPr>
            <p:ph type="body" idx="1"/>
          </p:nvPr>
        </p:nvSpPr>
        <p:spPr>
          <a:xfrm>
            <a:off x="1747225" y="16507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2" name="Google Shape;432;p29"/>
          <p:cNvSpPr txBox="1">
            <a:spLocks noGrp="1"/>
          </p:cNvSpPr>
          <p:nvPr>
            <p:ph type="body" idx="2"/>
          </p:nvPr>
        </p:nvSpPr>
        <p:spPr>
          <a:xfrm>
            <a:off x="1747225" y="244722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3" name="Google Shape;433;p29"/>
          <p:cNvSpPr txBox="1">
            <a:spLocks noGrp="1"/>
          </p:cNvSpPr>
          <p:nvPr>
            <p:ph type="body" idx="3"/>
          </p:nvPr>
        </p:nvSpPr>
        <p:spPr>
          <a:xfrm>
            <a:off x="1747225" y="32436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4" name="Google Shape;434;p29"/>
          <p:cNvSpPr txBox="1">
            <a:spLocks noGrp="1"/>
          </p:cNvSpPr>
          <p:nvPr>
            <p:ph type="body" idx="4"/>
          </p:nvPr>
        </p:nvSpPr>
        <p:spPr>
          <a:xfrm>
            <a:off x="5685325" y="16508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5" name="Google Shape;435;p29"/>
          <p:cNvSpPr txBox="1">
            <a:spLocks noGrp="1"/>
          </p:cNvSpPr>
          <p:nvPr>
            <p:ph type="body" idx="5"/>
          </p:nvPr>
        </p:nvSpPr>
        <p:spPr>
          <a:xfrm>
            <a:off x="5685325" y="24472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6" name="Google Shape;436;p29"/>
          <p:cNvSpPr txBox="1">
            <a:spLocks noGrp="1"/>
          </p:cNvSpPr>
          <p:nvPr>
            <p:ph type="body" idx="6"/>
          </p:nvPr>
        </p:nvSpPr>
        <p:spPr>
          <a:xfrm>
            <a:off x="5685325" y="32437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7" name="Google Shape;437;p29"/>
          <p:cNvSpPr/>
          <p:nvPr/>
        </p:nvSpPr>
        <p:spPr>
          <a:xfrm rot="5400000">
            <a:off x="47675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8" name="Google Shape;438;p29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9" name="Google Shape;439;p29"/>
          <p:cNvSpPr/>
          <p:nvPr/>
        </p:nvSpPr>
        <p:spPr>
          <a:xfrm rot="5400000">
            <a:off x="8834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0" name="Google Shape;440;p29"/>
          <p:cNvSpPr/>
          <p:nvPr/>
        </p:nvSpPr>
        <p:spPr>
          <a:xfrm rot="5400000">
            <a:off x="8834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1" name="Google Shape;441;p29"/>
          <p:cNvSpPr/>
          <p:nvPr/>
        </p:nvSpPr>
        <p:spPr>
          <a:xfrm rot="5400000">
            <a:off x="47675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2" name="Google Shape;442;p29"/>
          <p:cNvSpPr/>
          <p:nvPr/>
        </p:nvSpPr>
        <p:spPr>
          <a:xfrm rot="5400000">
            <a:off x="47675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3" name="Google Shape;443;p29"/>
          <p:cNvSpPr txBox="1"/>
          <p:nvPr/>
        </p:nvSpPr>
        <p:spPr>
          <a:xfrm>
            <a:off x="985647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4" name="Google Shape;444;p29"/>
          <p:cNvSpPr txBox="1"/>
          <p:nvPr/>
        </p:nvSpPr>
        <p:spPr>
          <a:xfrm>
            <a:off x="985647" y="255458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5" name="Google Shape;445;p29"/>
          <p:cNvSpPr txBox="1"/>
          <p:nvPr/>
        </p:nvSpPr>
        <p:spPr>
          <a:xfrm>
            <a:off x="985647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6" name="Google Shape;446;p29"/>
          <p:cNvSpPr txBox="1"/>
          <p:nvPr/>
        </p:nvSpPr>
        <p:spPr>
          <a:xfrm>
            <a:off x="4868853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7" name="Google Shape;447;p29"/>
          <p:cNvSpPr txBox="1"/>
          <p:nvPr/>
        </p:nvSpPr>
        <p:spPr>
          <a:xfrm>
            <a:off x="4868853" y="2554580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8" name="Google Shape;448;p29"/>
          <p:cNvSpPr txBox="1"/>
          <p:nvPr/>
        </p:nvSpPr>
        <p:spPr>
          <a:xfrm>
            <a:off x="4868853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5 - Table des matières [7]">
  <p:cSld name="95 - Table des matières [7]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0"/>
          <p:cNvSpPr txBox="1">
            <a:spLocks noGrp="1"/>
          </p:cNvSpPr>
          <p:nvPr>
            <p:ph type="title"/>
          </p:nvPr>
        </p:nvSpPr>
        <p:spPr>
          <a:xfrm>
            <a:off x="829600" y="891150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1" name="Google Shape;451;p30"/>
          <p:cNvSpPr txBox="1">
            <a:spLocks noGrp="1"/>
          </p:cNvSpPr>
          <p:nvPr>
            <p:ph type="body" idx="1"/>
          </p:nvPr>
        </p:nvSpPr>
        <p:spPr>
          <a:xfrm>
            <a:off x="1678225" y="13977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2" name="Google Shape;452;p30"/>
          <p:cNvSpPr txBox="1">
            <a:spLocks noGrp="1"/>
          </p:cNvSpPr>
          <p:nvPr>
            <p:ph type="body" idx="2"/>
          </p:nvPr>
        </p:nvSpPr>
        <p:spPr>
          <a:xfrm>
            <a:off x="1678225" y="21186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3" name="Google Shape;453;p30"/>
          <p:cNvSpPr txBox="1">
            <a:spLocks noGrp="1"/>
          </p:cNvSpPr>
          <p:nvPr>
            <p:ph type="body" idx="3"/>
          </p:nvPr>
        </p:nvSpPr>
        <p:spPr>
          <a:xfrm>
            <a:off x="1678225" y="28520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4" name="Google Shape;454;p30"/>
          <p:cNvSpPr txBox="1">
            <a:spLocks noGrp="1"/>
          </p:cNvSpPr>
          <p:nvPr>
            <p:ph type="body" idx="4"/>
          </p:nvPr>
        </p:nvSpPr>
        <p:spPr>
          <a:xfrm>
            <a:off x="1678125" y="35768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5" name="Google Shape;455;p30"/>
          <p:cNvSpPr txBox="1">
            <a:spLocks noGrp="1"/>
          </p:cNvSpPr>
          <p:nvPr>
            <p:ph type="body" idx="5"/>
          </p:nvPr>
        </p:nvSpPr>
        <p:spPr>
          <a:xfrm>
            <a:off x="5619625" y="1385200"/>
            <a:ext cx="29208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6" name="Google Shape;456;p30"/>
          <p:cNvSpPr txBox="1">
            <a:spLocks noGrp="1"/>
          </p:cNvSpPr>
          <p:nvPr>
            <p:ph type="body" idx="6"/>
          </p:nvPr>
        </p:nvSpPr>
        <p:spPr>
          <a:xfrm>
            <a:off x="5619625" y="210155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7" name="Google Shape;457;p30"/>
          <p:cNvSpPr txBox="1">
            <a:spLocks noGrp="1"/>
          </p:cNvSpPr>
          <p:nvPr>
            <p:ph type="body" idx="7"/>
          </p:nvPr>
        </p:nvSpPr>
        <p:spPr>
          <a:xfrm>
            <a:off x="5619625" y="285210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8" name="Google Shape;458;p30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59" name="Google Shape;459;p30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0" name="Google Shape;460;p30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1" name="Google Shape;461;p30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2" name="Google Shape;462;p30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3" name="Google Shape;463;p30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4" name="Google Shape;464;p30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5" name="Google Shape;465;p30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6" name="Google Shape;466;p30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7" name="Google Shape;467;p30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8" name="Google Shape;468;p30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9" name="Google Shape;469;p30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0" name="Google Shape;470;p30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1" name="Google Shape;471;p30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6 - Table des matières [8]">
  <p:cSld name="96 - Table des matières [8]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1"/>
          <p:cNvSpPr txBox="1">
            <a:spLocks noGrp="1"/>
          </p:cNvSpPr>
          <p:nvPr>
            <p:ph type="title"/>
          </p:nvPr>
        </p:nvSpPr>
        <p:spPr>
          <a:xfrm>
            <a:off x="829600" y="89702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4" name="Google Shape;474;p31"/>
          <p:cNvSpPr txBox="1">
            <a:spLocks noGrp="1"/>
          </p:cNvSpPr>
          <p:nvPr>
            <p:ph type="body" idx="1"/>
          </p:nvPr>
        </p:nvSpPr>
        <p:spPr>
          <a:xfrm>
            <a:off x="1681525" y="13977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5" name="Google Shape;475;p31"/>
          <p:cNvSpPr txBox="1">
            <a:spLocks noGrp="1"/>
          </p:cNvSpPr>
          <p:nvPr>
            <p:ph type="body" idx="2"/>
          </p:nvPr>
        </p:nvSpPr>
        <p:spPr>
          <a:xfrm>
            <a:off x="1681525" y="21207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6" name="Google Shape;476;p31"/>
          <p:cNvSpPr txBox="1">
            <a:spLocks noGrp="1"/>
          </p:cNvSpPr>
          <p:nvPr>
            <p:ph type="body" idx="3"/>
          </p:nvPr>
        </p:nvSpPr>
        <p:spPr>
          <a:xfrm>
            <a:off x="1681525" y="28520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7" name="Google Shape;477;p31"/>
          <p:cNvSpPr txBox="1">
            <a:spLocks noGrp="1"/>
          </p:cNvSpPr>
          <p:nvPr>
            <p:ph type="body" idx="4"/>
          </p:nvPr>
        </p:nvSpPr>
        <p:spPr>
          <a:xfrm>
            <a:off x="1681525" y="35855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8" name="Google Shape;478;p31"/>
          <p:cNvSpPr txBox="1">
            <a:spLocks noGrp="1"/>
          </p:cNvSpPr>
          <p:nvPr>
            <p:ph type="body" idx="5"/>
          </p:nvPr>
        </p:nvSpPr>
        <p:spPr>
          <a:xfrm>
            <a:off x="5619625" y="13978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9" name="Google Shape;479;p31"/>
          <p:cNvSpPr txBox="1">
            <a:spLocks noGrp="1"/>
          </p:cNvSpPr>
          <p:nvPr>
            <p:ph type="body" idx="6"/>
          </p:nvPr>
        </p:nvSpPr>
        <p:spPr>
          <a:xfrm>
            <a:off x="5619625" y="21207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0" name="Google Shape;480;p31"/>
          <p:cNvSpPr txBox="1">
            <a:spLocks noGrp="1"/>
          </p:cNvSpPr>
          <p:nvPr>
            <p:ph type="body" idx="7"/>
          </p:nvPr>
        </p:nvSpPr>
        <p:spPr>
          <a:xfrm>
            <a:off x="5619625" y="28434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1" name="Google Shape;481;p31"/>
          <p:cNvSpPr txBox="1">
            <a:spLocks noGrp="1"/>
          </p:cNvSpPr>
          <p:nvPr>
            <p:ph type="body" idx="8"/>
          </p:nvPr>
        </p:nvSpPr>
        <p:spPr>
          <a:xfrm>
            <a:off x="5619625" y="35663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2" name="Google Shape;482;p31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3" name="Google Shape;483;p31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4" name="Google Shape;484;p31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5" name="Google Shape;485;p31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6" name="Google Shape;486;p31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7" name="Google Shape;487;p31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8" name="Google Shape;488;p31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9" name="Google Shape;489;p31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0" name="Google Shape;490;p31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1" name="Google Shape;491;p31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2" name="Google Shape;492;p31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3" name="Google Shape;493;p31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4" name="Google Shape;494;p31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5" name="Google Shape;495;p31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6" name="Google Shape;496;p31"/>
          <p:cNvSpPr/>
          <p:nvPr/>
        </p:nvSpPr>
        <p:spPr>
          <a:xfrm rot="5400000">
            <a:off x="4788825" y="356642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97" name="Google Shape;497;p31"/>
          <p:cNvSpPr txBox="1"/>
          <p:nvPr/>
        </p:nvSpPr>
        <p:spPr>
          <a:xfrm>
            <a:off x="4814169" y="3638040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7 - Table des matières [9]">
  <p:cSld name="97 - Table des matières [9]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2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0" name="Google Shape;500;p32"/>
          <p:cNvSpPr txBox="1">
            <a:spLocks noGrp="1"/>
          </p:cNvSpPr>
          <p:nvPr>
            <p:ph type="body" idx="1"/>
          </p:nvPr>
        </p:nvSpPr>
        <p:spPr>
          <a:xfrm>
            <a:off x="1681525" y="11224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1" name="Google Shape;501;p32"/>
          <p:cNvSpPr txBox="1">
            <a:spLocks noGrp="1"/>
          </p:cNvSpPr>
          <p:nvPr>
            <p:ph type="body" idx="2"/>
          </p:nvPr>
        </p:nvSpPr>
        <p:spPr>
          <a:xfrm>
            <a:off x="1681525" y="18195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2" name="Google Shape;502;p32"/>
          <p:cNvSpPr txBox="1">
            <a:spLocks noGrp="1"/>
          </p:cNvSpPr>
          <p:nvPr>
            <p:ph type="body" idx="3"/>
          </p:nvPr>
        </p:nvSpPr>
        <p:spPr>
          <a:xfrm>
            <a:off x="1681525" y="24900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3" name="Google Shape;503;p32"/>
          <p:cNvSpPr txBox="1">
            <a:spLocks noGrp="1"/>
          </p:cNvSpPr>
          <p:nvPr>
            <p:ph type="body" idx="4"/>
          </p:nvPr>
        </p:nvSpPr>
        <p:spPr>
          <a:xfrm>
            <a:off x="1681525" y="32864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4" name="Google Shape;504;p32"/>
          <p:cNvSpPr txBox="1">
            <a:spLocks noGrp="1"/>
          </p:cNvSpPr>
          <p:nvPr>
            <p:ph type="body" idx="5"/>
          </p:nvPr>
        </p:nvSpPr>
        <p:spPr>
          <a:xfrm>
            <a:off x="1681525" y="39788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5" name="Google Shape;505;p32"/>
          <p:cNvSpPr txBox="1">
            <a:spLocks noGrp="1"/>
          </p:cNvSpPr>
          <p:nvPr>
            <p:ph type="body" idx="6"/>
          </p:nvPr>
        </p:nvSpPr>
        <p:spPr>
          <a:xfrm>
            <a:off x="5619625" y="10771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6" name="Google Shape;506;p32"/>
          <p:cNvSpPr txBox="1">
            <a:spLocks noGrp="1"/>
          </p:cNvSpPr>
          <p:nvPr>
            <p:ph type="body" idx="7"/>
          </p:nvPr>
        </p:nvSpPr>
        <p:spPr>
          <a:xfrm>
            <a:off x="5619625" y="18106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7" name="Google Shape;507;p32"/>
          <p:cNvSpPr txBox="1">
            <a:spLocks noGrp="1"/>
          </p:cNvSpPr>
          <p:nvPr>
            <p:ph type="body" idx="8"/>
          </p:nvPr>
        </p:nvSpPr>
        <p:spPr>
          <a:xfrm>
            <a:off x="5619625" y="26070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8" name="Google Shape;508;p32"/>
          <p:cNvSpPr txBox="1">
            <a:spLocks noGrp="1"/>
          </p:cNvSpPr>
          <p:nvPr>
            <p:ph type="body" idx="9"/>
          </p:nvPr>
        </p:nvSpPr>
        <p:spPr>
          <a:xfrm>
            <a:off x="5619625" y="32145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9" name="Google Shape;509;p32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0" name="Google Shape;510;p32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1" name="Google Shape;511;p32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2" name="Google Shape;512;p32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3" name="Google Shape;513;p32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4" name="Google Shape;514;p32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5" name="Google Shape;515;p32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6" name="Google Shape;516;p32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7" name="Google Shape;517;p32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8" name="Google Shape;518;p32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9" name="Google Shape;519;p32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0" name="Google Shape;520;p32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1" name="Google Shape;521;p32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2" name="Google Shape;522;p32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3" name="Google Shape;523;p32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4" name="Google Shape;524;p32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5" name="Google Shape;525;p32"/>
          <p:cNvSpPr/>
          <p:nvPr/>
        </p:nvSpPr>
        <p:spPr>
          <a:xfrm rot="5400000">
            <a:off x="4788825" y="32573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6" name="Google Shape;526;p32"/>
          <p:cNvSpPr txBox="1"/>
          <p:nvPr/>
        </p:nvSpPr>
        <p:spPr>
          <a:xfrm>
            <a:off x="4814169" y="33289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8 - Table des matières [10]">
  <p:cSld name="98 - Table des matières [10]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3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29" name="Google Shape;529;p33"/>
          <p:cNvSpPr txBox="1">
            <a:spLocks noGrp="1"/>
          </p:cNvSpPr>
          <p:nvPr>
            <p:ph type="body" idx="1"/>
          </p:nvPr>
        </p:nvSpPr>
        <p:spPr>
          <a:xfrm>
            <a:off x="1678225" y="1122425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0" name="Google Shape;530;p33"/>
          <p:cNvSpPr txBox="1">
            <a:spLocks noGrp="1"/>
          </p:cNvSpPr>
          <p:nvPr>
            <p:ph type="body" idx="2"/>
          </p:nvPr>
        </p:nvSpPr>
        <p:spPr>
          <a:xfrm>
            <a:off x="1678225" y="18195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1" name="Google Shape;531;p33"/>
          <p:cNvSpPr txBox="1">
            <a:spLocks noGrp="1"/>
          </p:cNvSpPr>
          <p:nvPr>
            <p:ph type="body" idx="3"/>
          </p:nvPr>
        </p:nvSpPr>
        <p:spPr>
          <a:xfrm>
            <a:off x="1678225" y="255302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2" name="Google Shape;532;p33"/>
          <p:cNvSpPr txBox="1">
            <a:spLocks noGrp="1"/>
          </p:cNvSpPr>
          <p:nvPr>
            <p:ph type="body" idx="4"/>
          </p:nvPr>
        </p:nvSpPr>
        <p:spPr>
          <a:xfrm>
            <a:off x="1678125" y="32864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3" name="Google Shape;533;p33"/>
          <p:cNvSpPr txBox="1">
            <a:spLocks noGrp="1"/>
          </p:cNvSpPr>
          <p:nvPr>
            <p:ph type="body" idx="5"/>
          </p:nvPr>
        </p:nvSpPr>
        <p:spPr>
          <a:xfrm>
            <a:off x="1681525" y="401517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4" name="Google Shape;534;p33"/>
          <p:cNvSpPr txBox="1">
            <a:spLocks noGrp="1"/>
          </p:cNvSpPr>
          <p:nvPr>
            <p:ph type="body" idx="6"/>
          </p:nvPr>
        </p:nvSpPr>
        <p:spPr>
          <a:xfrm>
            <a:off x="5619625" y="11401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5" name="Google Shape;535;p33"/>
          <p:cNvSpPr txBox="1">
            <a:spLocks noGrp="1"/>
          </p:cNvSpPr>
          <p:nvPr>
            <p:ph type="body" idx="7"/>
          </p:nvPr>
        </p:nvSpPr>
        <p:spPr>
          <a:xfrm>
            <a:off x="5619625" y="18736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6" name="Google Shape;536;p33"/>
          <p:cNvSpPr txBox="1">
            <a:spLocks noGrp="1"/>
          </p:cNvSpPr>
          <p:nvPr>
            <p:ph type="body" idx="8"/>
          </p:nvPr>
        </p:nvSpPr>
        <p:spPr>
          <a:xfrm>
            <a:off x="5619625" y="25440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7" name="Google Shape;537;p33"/>
          <p:cNvSpPr txBox="1">
            <a:spLocks noGrp="1"/>
          </p:cNvSpPr>
          <p:nvPr>
            <p:ph type="body" idx="9"/>
          </p:nvPr>
        </p:nvSpPr>
        <p:spPr>
          <a:xfrm>
            <a:off x="5619625" y="33405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8" name="Google Shape;538;p33"/>
          <p:cNvSpPr txBox="1">
            <a:spLocks noGrp="1"/>
          </p:cNvSpPr>
          <p:nvPr>
            <p:ph type="body" idx="13"/>
          </p:nvPr>
        </p:nvSpPr>
        <p:spPr>
          <a:xfrm>
            <a:off x="5619625" y="40329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9" name="Google Shape;539;p33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0" name="Google Shape;540;p33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1" name="Google Shape;541;p33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2" name="Google Shape;542;p33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3" name="Google Shape;543;p33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4" name="Google Shape;544;p33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5" name="Google Shape;545;p33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6" name="Google Shape;546;p33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7" name="Google Shape;547;p33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8" name="Google Shape;548;p33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9" name="Google Shape;549;p33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0" name="Google Shape;550;p33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1" name="Google Shape;551;p33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2" name="Google Shape;552;p33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3" name="Google Shape;553;p33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4" name="Google Shape;554;p33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5" name="Google Shape;555;p33"/>
          <p:cNvSpPr/>
          <p:nvPr/>
        </p:nvSpPr>
        <p:spPr>
          <a:xfrm rot="5400000">
            <a:off x="4788825" y="3261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6" name="Google Shape;556;p33"/>
          <p:cNvSpPr txBox="1"/>
          <p:nvPr/>
        </p:nvSpPr>
        <p:spPr>
          <a:xfrm>
            <a:off x="4814169" y="3333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7" name="Google Shape;557;p33"/>
          <p:cNvSpPr/>
          <p:nvPr/>
        </p:nvSpPr>
        <p:spPr>
          <a:xfrm rot="5400000">
            <a:off x="47888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8" name="Google Shape;558;p33"/>
          <p:cNvSpPr txBox="1"/>
          <p:nvPr/>
        </p:nvSpPr>
        <p:spPr>
          <a:xfrm>
            <a:off x="48141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10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9 - Table des matières [all]">
  <p:cSld name="99 - Table des matières [all]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4"/>
          <p:cNvSpPr txBox="1">
            <a:spLocks noGrp="1"/>
          </p:cNvSpPr>
          <p:nvPr>
            <p:ph type="title"/>
          </p:nvPr>
        </p:nvSpPr>
        <p:spPr>
          <a:xfrm>
            <a:off x="564931" y="360737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1" name="Google Shape;561;p34"/>
          <p:cNvSpPr txBox="1">
            <a:spLocks noGrp="1"/>
          </p:cNvSpPr>
          <p:nvPr>
            <p:ph type="body" idx="1"/>
          </p:nvPr>
        </p:nvSpPr>
        <p:spPr>
          <a:xfrm>
            <a:off x="571500" y="803050"/>
            <a:ext cx="70530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2" name="Google Shape;562;p34"/>
          <p:cNvSpPr txBox="1">
            <a:spLocks noGrp="1"/>
          </p:cNvSpPr>
          <p:nvPr>
            <p:ph type="body" idx="2"/>
          </p:nvPr>
        </p:nvSpPr>
        <p:spPr>
          <a:xfrm>
            <a:off x="7624600" y="803050"/>
            <a:ext cx="10161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- Titre et sous-titre 2">
  <p:cSld name="03 - Titre et sous-titre_1_2"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5"/>
          <p:cNvSpPr txBox="1">
            <a:spLocks noGrp="1"/>
          </p:cNvSpPr>
          <p:nvPr>
            <p:ph type="subTitle" idx="1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5" name="Google Shape;565;p35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7" name="Google Shape;7;p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" name="Google Shape;10;p1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1" name="Google Shape;11;p1"/>
          <p:cNvCxnSpPr>
            <a:stCxn id="12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1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4" name="Google Shape;14;p1"/>
          <p:cNvCxnSpPr>
            <a:endCxn id="13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Google Shape;15;p1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" name="Google Shape;12;p1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" name="Google Shape;16;p1"/>
          <p:cNvCxnSpPr>
            <a:stCxn id="15" idx="2"/>
            <a:endCxn id="13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6">
          <p15:clr>
            <a:srgbClr val="EA4335"/>
          </p15:clr>
        </p15:guide>
        <p15:guide id="2" pos="2880">
          <p15:clr>
            <a:srgbClr val="EA4335"/>
          </p15:clr>
        </p15:guide>
        <p15:guide id="3" orient="horz" pos="3064">
          <p15:clr>
            <a:srgbClr val="EA4335"/>
          </p15:clr>
        </p15:guide>
        <p15:guide id="4" orient="horz" pos="236">
          <p15:clr>
            <a:srgbClr val="EA4335"/>
          </p15:clr>
        </p15:guide>
        <p15:guide id="5" pos="360">
          <p15:clr>
            <a:srgbClr val="EA4335"/>
          </p15:clr>
        </p15:guide>
        <p15:guide id="6" pos="5403">
          <p15:clr>
            <a:srgbClr val="EA4335"/>
          </p15:clr>
        </p15:guide>
        <p15:guide id="7" orient="horz" pos="515">
          <p15:clr>
            <a:srgbClr val="E46962"/>
          </p15:clr>
        </p15:guide>
        <p15:guide id="8" orient="horz" pos="802">
          <p15:clr>
            <a:srgbClr val="E46962"/>
          </p15:clr>
        </p15:guide>
        <p15:guide id="9" pos="3697">
          <p15:clr>
            <a:srgbClr val="E46962"/>
          </p15:clr>
        </p15:guide>
        <p15:guide id="10" pos="2168">
          <p15:clr>
            <a:srgbClr val="E46962"/>
          </p15:clr>
        </p15:guide>
        <p15:guide id="11" pos="3372">
          <p15:clr>
            <a:srgbClr val="E46962"/>
          </p15:clr>
        </p15:guide>
        <p15:guide id="12" pos="2484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PRODUCT RUN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Atelier de cadrage — du Build au Run augmenté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OCTO Technology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r>
              <a:t>Septembre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E2356"/>
                </a:solidFill>
              </a:rPr>
              <a:t>Contexte</a:t>
            </a:r>
          </a:p>
        </p:txBody>
      </p:sp>
      <p:sp>
        <p:nvSpPr>
          <p:cNvPr id="3" name="Oval 2"/>
          <p:cNvSpPr/>
          <p:nvPr/>
        </p:nvSpPr>
        <p:spPr>
          <a:xfrm>
            <a:off x="745236" y="869594"/>
            <a:ext cx="73152" cy="73152"/>
          </a:xfrm>
          <a:prstGeom prst="ellipse">
            <a:avLst/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6403" y="786384"/>
            <a:ext cx="7237476" cy="460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E4F78"/>
                </a:solidFill>
                <a:latin typeface="Outfit"/>
              </a:rPr>
              <a:t>L'IA bouscule le découpage entre Build et Run, en particulier avec la création d'Agentic Software Factories.</a:t>
            </a:r>
          </a:p>
        </p:txBody>
      </p:sp>
      <p:sp>
        <p:nvSpPr>
          <p:cNvPr id="5" name="Oval 4"/>
          <p:cNvSpPr/>
          <p:nvPr/>
        </p:nvSpPr>
        <p:spPr>
          <a:xfrm>
            <a:off x="745236" y="1385316"/>
            <a:ext cx="73152" cy="73152"/>
          </a:xfrm>
          <a:prstGeom prst="ellipse">
            <a:avLst/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3" y="1302105"/>
            <a:ext cx="7237476" cy="460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E4F78"/>
                </a:solidFill>
                <a:latin typeface="Outfit"/>
              </a:rPr>
              <a:t>Le Run n'est pas encore pleinement entré dans les réflexions chez OCTO, naturellement concentrées sur le Build.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2356" y="2037283"/>
            <a:ext cx="2479548" cy="124609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8660" y="2183587"/>
            <a:ext cx="41148" cy="679170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" y="2183587"/>
            <a:ext cx="2040635" cy="5877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0E2356"/>
                </a:solidFill>
                <a:latin typeface="Outfit"/>
              </a:rPr>
              <a:t>« On n'a pas d'expérience sur le Run !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" y="2899333"/>
            <a:ext cx="204063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586586"/>
                </a:solidFill>
                <a:latin typeface="Outfit"/>
              </a:rPr>
              <a:t>Reine — Agentic PM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24783" y="2037283"/>
            <a:ext cx="2479548" cy="124609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71088" y="2183587"/>
            <a:ext cx="41148" cy="679170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7391" y="2183587"/>
            <a:ext cx="2040635" cy="5877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0E2356"/>
                </a:solidFill>
                <a:latin typeface="Outfit"/>
              </a:rPr>
              <a:t>« On n'a pas réfléchi au Run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7391" y="2899333"/>
            <a:ext cx="204063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586586"/>
                </a:solidFill>
                <a:latin typeface="Outfit"/>
              </a:rPr>
              <a:t>Clarisse — Agentic Dev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87212" y="2037283"/>
            <a:ext cx="2479548" cy="124609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3516" y="2183587"/>
            <a:ext cx="41148" cy="679170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9820" y="2183587"/>
            <a:ext cx="2040635" cy="5877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0E2356"/>
                </a:solidFill>
                <a:latin typeface="Outfit"/>
              </a:rPr>
              <a:t>« Le Run avec l'IA est une question qui revient souvent avec les clients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9820" y="2899333"/>
            <a:ext cx="204063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586586"/>
                </a:solidFill>
                <a:latin typeface="Outfit"/>
              </a:rPr>
              <a:t>Maxime — Agentic BizDev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64724" y="4261332"/>
            <a:ext cx="4799666" cy="539267"/>
          </a:xfrm>
          <a:prstGeom prst="roundRect">
            <a:avLst>
              <a:gd name="adj" fmla="val 1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39044" y="4261332"/>
            <a:ext cx="365760" cy="53926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650" b="1" i="0">
                <a:solidFill>
                  <a:srgbClr val="00D2DD"/>
                </a:solidFill>
                <a:latin typeface="Outfit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59668" y="4261332"/>
            <a:ext cx="3830402" cy="539267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Outfit"/>
              </a:rPr>
              <a:t>Les appels d'offres MCO Agentique arrivent.</a:t>
            </a:r>
            <a:r>
              <a:rPr sz="1350" b="1">
                <a:solidFill>
                  <a:srgbClr val="00D2DD"/>
                </a:solidFill>
                <a:latin typeface="Outfit"/>
              </a:rPr>
              <a:t>  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E2356"/>
                </a:solidFill>
              </a:rPr>
              <a:t>Enjeux pour OCTO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786384"/>
            <a:ext cx="78044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Quatre raisons de s'y positionner maintenant.</a:t>
            </a:r>
          </a:p>
        </p:txBody>
      </p:sp>
      <p:sp>
        <p:nvSpPr>
          <p:cNvPr id="4" name="Oval 3"/>
          <p:cNvSpPr/>
          <p:nvPr/>
        </p:nvSpPr>
        <p:spPr>
          <a:xfrm>
            <a:off x="928116" y="1986076"/>
            <a:ext cx="82296" cy="82296"/>
          </a:xfrm>
          <a:prstGeom prst="ellipse">
            <a:avLst/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" y="1907438"/>
            <a:ext cx="6871716" cy="2578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E4F78"/>
                </a:solidFill>
                <a:latin typeface="Outfit"/>
              </a:rPr>
              <a:t>Opportunité de développer du Biz sur un segment absent pour OCTO</a:t>
            </a:r>
          </a:p>
        </p:txBody>
      </p:sp>
      <p:sp>
        <p:nvSpPr>
          <p:cNvPr id="6" name="Oval 5"/>
          <p:cNvSpPr/>
          <p:nvPr/>
        </p:nvSpPr>
        <p:spPr>
          <a:xfrm>
            <a:off x="928116" y="2390241"/>
            <a:ext cx="82296" cy="82296"/>
          </a:xfrm>
          <a:prstGeom prst="ellipse">
            <a:avLst/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" y="2311603"/>
            <a:ext cx="6871716" cy="2578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E4F78"/>
                </a:solidFill>
                <a:latin typeface="Outfit"/>
              </a:rPr>
              <a:t>Opportunité d'entrer chez des clients pour (et éventuellement ensuite vendre du Build)</a:t>
            </a:r>
          </a:p>
        </p:txBody>
      </p:sp>
      <p:sp>
        <p:nvSpPr>
          <p:cNvPr id="8" name="Oval 7"/>
          <p:cNvSpPr/>
          <p:nvPr/>
        </p:nvSpPr>
        <p:spPr>
          <a:xfrm>
            <a:off x="928116" y="2794406"/>
            <a:ext cx="82296" cy="82296"/>
          </a:xfrm>
          <a:prstGeom prst="ellipse">
            <a:avLst/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9284" y="2715768"/>
            <a:ext cx="6871716" cy="2578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E4F78"/>
                </a:solidFill>
                <a:latin typeface="Outfit"/>
              </a:rPr>
              <a:t>Conserver une position durablement chez un client</a:t>
            </a:r>
          </a:p>
        </p:txBody>
      </p:sp>
      <p:sp>
        <p:nvSpPr>
          <p:cNvPr id="10" name="Oval 9"/>
          <p:cNvSpPr/>
          <p:nvPr/>
        </p:nvSpPr>
        <p:spPr>
          <a:xfrm>
            <a:off x="928116" y="3198571"/>
            <a:ext cx="82296" cy="82296"/>
          </a:xfrm>
          <a:prstGeom prst="ellipse">
            <a:avLst/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9284" y="3119932"/>
            <a:ext cx="6871716" cy="2578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E4F78"/>
                </a:solidFill>
                <a:latin typeface="Outfit"/>
              </a:rPr>
              <a:t>Protéger notre savoir-faire en sortie de projet produit par une ASF (tout est dans le repo)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84940" y="4252874"/>
            <a:ext cx="4759234" cy="547725"/>
          </a:xfrm>
          <a:prstGeom prst="roundRect">
            <a:avLst>
              <a:gd name="adj" fmla="val 1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59260" y="4252874"/>
            <a:ext cx="365760" cy="54772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00D2DD"/>
                </a:solidFill>
                <a:latin typeface="Outfit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9884" y="4252874"/>
            <a:ext cx="3789970" cy="547725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utfit"/>
              </a:rPr>
              <a:t>Découvrez Notre offre Agentic Product Run</a:t>
            </a:r>
            <a:r>
              <a:rPr sz="1400" b="1">
                <a:solidFill>
                  <a:srgbClr val="00D2DD"/>
                </a:solidFill>
                <a:latin typeface="Outfit"/>
              </a:rPr>
              <a:t>  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E2356"/>
                </a:solidFill>
              </a:rPr>
              <a:t>Offre Agentic Product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786384"/>
            <a:ext cx="78044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Les douleurs du Run telles que vous nous les avez exprimées.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261872"/>
            <a:ext cx="3787902" cy="7027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8660" y="147607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8660" y="147607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7" y="1408176"/>
            <a:ext cx="3111246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0E2356"/>
                </a:solidFill>
                <a:latin typeface="Outfit"/>
              </a:rPr>
              <a:t>Valeur du forfait TMA difficile à démontrer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" y="2092604"/>
            <a:ext cx="3787902" cy="7027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8660" y="230680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" y="230680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7" y="2238908"/>
            <a:ext cx="3111246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0E2356"/>
                </a:solidFill>
                <a:latin typeface="Outfit"/>
              </a:rPr>
              <a:t>Prestataire exécutant, jamais force de proposition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" y="2923336"/>
            <a:ext cx="3787902" cy="7027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8660" y="3137535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" y="3137535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7" y="3069640"/>
            <a:ext cx="3111246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0E2356"/>
                </a:solidFill>
                <a:latin typeface="Outfit"/>
              </a:rPr>
              <a:t>Rotation des équipes et perte de connaissance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" y="3754069"/>
            <a:ext cx="3787902" cy="7027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8660" y="396826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" y="3968267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7" y="3900373"/>
            <a:ext cx="3111246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0E2356"/>
                </a:solidFill>
                <a:latin typeface="Outfit"/>
              </a:rPr>
              <a:t>Indicateurs conformes mais service dégradé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8858" y="1261872"/>
            <a:ext cx="3787902" cy="7027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725162" y="147607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25162" y="147607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  <a:latin typeface="Outfit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9210" y="1408176"/>
            <a:ext cx="3111246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0E2356"/>
                </a:solidFill>
                <a:latin typeface="Outfit"/>
              </a:rPr>
              <a:t>Accumulation de dette technique et baisse de qualité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8858" y="2092604"/>
            <a:ext cx="3787902" cy="7027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25162" y="230680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25162" y="230680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  <a:latin typeface="Outfit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9210" y="2238908"/>
            <a:ext cx="3111246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0E2356"/>
                </a:solidFill>
                <a:latin typeface="Outfit"/>
              </a:rPr>
              <a:t>Manque de visibilité sur l'état réel des applications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8858" y="2923336"/>
            <a:ext cx="3787902" cy="7027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725162" y="3137535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25162" y="3137535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  <a:latin typeface="Outfit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09210" y="3069640"/>
            <a:ext cx="3111246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0E2356"/>
                </a:solidFill>
                <a:latin typeface="Outfit"/>
              </a:rPr>
              <a:t>Réversibilité théorique et dépendance de fait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E2356"/>
                </a:solidFill>
              </a:rPr>
              <a:t>OCTO, acteur de la révolution de l'IA générative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786384"/>
            <a:ext cx="78044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Trois atouts qui légitiment l'offre.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2143010"/>
            <a:ext cx="2479548" cy="16850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6947" y="230760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6947" y="230760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Outfi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7" y="2746514"/>
            <a:ext cx="215036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2356"/>
                </a:solidFill>
                <a:latin typeface="Outfit"/>
              </a:rPr>
              <a:t>Expérience ASF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7" y="3057410"/>
            <a:ext cx="2150364" cy="5877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Une expérience éprouvée en matière d'Agentic Software Factory.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24783" y="2143010"/>
            <a:ext cx="2479548" cy="16850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9376" y="230760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9376" y="230760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0E2356"/>
                </a:solidFill>
                <a:latin typeface="Outfi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9376" y="2746514"/>
            <a:ext cx="215036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2356"/>
                </a:solidFill>
                <a:latin typeface="Outfit"/>
              </a:rPr>
              <a:t>Greenfield et Brownfield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9376" y="3057410"/>
            <a:ext cx="2150364" cy="5877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Aussi à l'aise sur un produit neuf que sur un patrimoine existant.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87212" y="2143010"/>
            <a:ext cx="2479548" cy="16850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51804" y="230760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1804" y="230760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Outfi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1804" y="2746514"/>
            <a:ext cx="215036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2356"/>
                </a:solidFill>
                <a:latin typeface="Outfit"/>
              </a:rPr>
              <a:t>Approche produit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1804" y="3057410"/>
            <a:ext cx="2150364" cy="5877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Une expertise reconnue de l'approche produit, pas seulement projet.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E2356"/>
                </a:solidFill>
              </a:rPr>
              <a:t>Notre proposition de valeur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786384"/>
            <a:ext cx="78044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Ce que l'offre garantit, au-delà du contrat de maintenance classique.</a:t>
            </a:r>
          </a:p>
        </p:txBody>
      </p:sp>
      <p:sp>
        <p:nvSpPr>
          <p:cNvPr id="4" name="Chevron 3"/>
          <p:cNvSpPr/>
          <p:nvPr/>
        </p:nvSpPr>
        <p:spPr>
          <a:xfrm>
            <a:off x="562356" y="1170432"/>
            <a:ext cx="1262634" cy="420624"/>
          </a:xfrm>
          <a:prstGeom prst="chevron">
            <a:avLst>
              <a:gd name="adj" fmla="val 20000"/>
            </a:avLst>
          </a:prstGeom>
          <a:solidFill>
            <a:srgbClr val="0E2356"/>
          </a:solidFill>
          <a:ln w="15240">
            <a:solidFill>
              <a:srgbClr val="0E2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4124" rIns="84124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Outfit"/>
              </a:rPr>
              <a:t>Signal</a:t>
            </a:r>
          </a:p>
        </p:txBody>
      </p:sp>
      <p:sp>
        <p:nvSpPr>
          <p:cNvPr id="5" name="Chevron 4"/>
          <p:cNvSpPr/>
          <p:nvPr/>
        </p:nvSpPr>
        <p:spPr>
          <a:xfrm>
            <a:off x="1870710" y="1170432"/>
            <a:ext cx="1262634" cy="420624"/>
          </a:xfrm>
          <a:prstGeom prst="chevron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4124" rIns="84124" tIns="0" bIns="0"/>
          <a:lstStyle/>
          <a:p>
            <a:pPr algn="ctr"/>
            <a:r>
              <a:rPr sz="900" b="1">
                <a:solidFill>
                  <a:srgbClr val="0E2356"/>
                </a:solidFill>
                <a:latin typeface="Outfit"/>
              </a:rPr>
              <a:t>Compréhension</a:t>
            </a:r>
          </a:p>
        </p:txBody>
      </p:sp>
      <p:sp>
        <p:nvSpPr>
          <p:cNvPr id="6" name="Chevron 5"/>
          <p:cNvSpPr/>
          <p:nvPr/>
        </p:nvSpPr>
        <p:spPr>
          <a:xfrm>
            <a:off x="3179064" y="1170432"/>
            <a:ext cx="1262634" cy="420624"/>
          </a:xfrm>
          <a:prstGeom prst="chevron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4124" rIns="84124" tIns="0" bIns="0"/>
          <a:lstStyle/>
          <a:p>
            <a:pPr algn="ctr"/>
            <a:r>
              <a:rPr sz="900" b="1">
                <a:solidFill>
                  <a:srgbClr val="0E2356"/>
                </a:solidFill>
                <a:latin typeface="Outfit"/>
              </a:rPr>
              <a:t>Décision</a:t>
            </a:r>
          </a:p>
        </p:txBody>
      </p:sp>
      <p:sp>
        <p:nvSpPr>
          <p:cNvPr id="7" name="Chevron 6"/>
          <p:cNvSpPr/>
          <p:nvPr/>
        </p:nvSpPr>
        <p:spPr>
          <a:xfrm>
            <a:off x="4487418" y="1170432"/>
            <a:ext cx="1262634" cy="420624"/>
          </a:xfrm>
          <a:prstGeom prst="chevron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4124" rIns="84124" tIns="0" bIns="0"/>
          <a:lstStyle/>
          <a:p>
            <a:pPr algn="ctr"/>
            <a:r>
              <a:rPr sz="900" b="1">
                <a:solidFill>
                  <a:srgbClr val="0E2356"/>
                </a:solidFill>
                <a:latin typeface="Outfit"/>
              </a:rPr>
              <a:t>Action</a:t>
            </a:r>
          </a:p>
        </p:txBody>
      </p:sp>
      <p:sp>
        <p:nvSpPr>
          <p:cNvPr id="8" name="Chevron 7"/>
          <p:cNvSpPr/>
          <p:nvPr/>
        </p:nvSpPr>
        <p:spPr>
          <a:xfrm>
            <a:off x="5795772" y="1170432"/>
            <a:ext cx="1262634" cy="420624"/>
          </a:xfrm>
          <a:prstGeom prst="chevron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4124" rIns="84124" tIns="0" bIns="0"/>
          <a:lstStyle/>
          <a:p>
            <a:pPr algn="ctr"/>
            <a:r>
              <a:rPr sz="900" b="1">
                <a:solidFill>
                  <a:srgbClr val="0E2356"/>
                </a:solidFill>
                <a:latin typeface="Outfit"/>
              </a:rPr>
              <a:t>Validation</a:t>
            </a:r>
          </a:p>
        </p:txBody>
      </p:sp>
      <p:sp>
        <p:nvSpPr>
          <p:cNvPr id="9" name="Chevron 8"/>
          <p:cNvSpPr/>
          <p:nvPr/>
        </p:nvSpPr>
        <p:spPr>
          <a:xfrm>
            <a:off x="7104126" y="1170432"/>
            <a:ext cx="1262634" cy="420624"/>
          </a:xfrm>
          <a:prstGeom prst="chevron">
            <a:avLst>
              <a:gd name="adj" fmla="val 20000"/>
            </a:avLst>
          </a:prstGeom>
          <a:solidFill>
            <a:srgbClr val="0E2356"/>
          </a:solidFill>
          <a:ln w="15240">
            <a:solidFill>
              <a:srgbClr val="0E2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4124" rIns="84124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Outfit"/>
              </a:rPr>
              <a:t>Apprentissage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" y="1737360"/>
            <a:ext cx="7804404" cy="235960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" y="1847088"/>
            <a:ext cx="743864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0D2DD"/>
                </a:solidFill>
                <a:latin typeface="Outfit"/>
              </a:rPr>
              <a:t>CE QUE LE CLIENT OBTIENT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" y="2176272"/>
            <a:ext cx="457200" cy="41148"/>
          </a:xfrm>
          <a:prstGeom prst="rect">
            <a:avLst/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5236" y="2415959"/>
            <a:ext cx="73152" cy="73152"/>
          </a:xfrm>
          <a:prstGeom prst="ellipse">
            <a:avLst/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3" y="2345436"/>
            <a:ext cx="7237476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Une MCO garantie</a:t>
            </a:r>
          </a:p>
        </p:txBody>
      </p:sp>
      <p:sp>
        <p:nvSpPr>
          <p:cNvPr id="15" name="Oval 14"/>
          <p:cNvSpPr/>
          <p:nvPr/>
        </p:nvSpPr>
        <p:spPr>
          <a:xfrm>
            <a:off x="745236" y="2694165"/>
            <a:ext cx="73152" cy="73152"/>
          </a:xfrm>
          <a:prstGeom prst="ellipse">
            <a:avLst/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403" y="2623642"/>
            <a:ext cx="7237476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Des coûts maîtrisés</a:t>
            </a:r>
          </a:p>
        </p:txBody>
      </p:sp>
      <p:sp>
        <p:nvSpPr>
          <p:cNvPr id="17" name="Oval 16"/>
          <p:cNvSpPr/>
          <p:nvPr/>
        </p:nvSpPr>
        <p:spPr>
          <a:xfrm>
            <a:off x="745236" y="2972371"/>
            <a:ext cx="73152" cy="73152"/>
          </a:xfrm>
          <a:prstGeom prst="ellipse">
            <a:avLst/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3" y="2901848"/>
            <a:ext cx="7237476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Une captation des signaux (bugs, logs, attaques cyber…) au plus tôt</a:t>
            </a:r>
          </a:p>
        </p:txBody>
      </p:sp>
      <p:sp>
        <p:nvSpPr>
          <p:cNvPr id="19" name="Oval 18"/>
          <p:cNvSpPr/>
          <p:nvPr/>
        </p:nvSpPr>
        <p:spPr>
          <a:xfrm>
            <a:off x="745236" y="3250577"/>
            <a:ext cx="73152" cy="73152"/>
          </a:xfrm>
          <a:prstGeom prst="ellipse">
            <a:avLst/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3" y="3180054"/>
            <a:ext cx="7237476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Une qualité aux meilleurs standards du marché</a:t>
            </a:r>
          </a:p>
        </p:txBody>
      </p:sp>
      <p:sp>
        <p:nvSpPr>
          <p:cNvPr id="21" name="Oval 20"/>
          <p:cNvSpPr/>
          <p:nvPr/>
        </p:nvSpPr>
        <p:spPr>
          <a:xfrm>
            <a:off x="745236" y="3528783"/>
            <a:ext cx="73152" cy="73152"/>
          </a:xfrm>
          <a:prstGeom prst="ellipse">
            <a:avLst/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3" y="3458260"/>
            <a:ext cx="7237476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Une base documentaire toujours à jour</a:t>
            </a:r>
          </a:p>
        </p:txBody>
      </p:sp>
      <p:sp>
        <p:nvSpPr>
          <p:cNvPr id="23" name="Oval 22"/>
          <p:cNvSpPr/>
          <p:nvPr/>
        </p:nvSpPr>
        <p:spPr>
          <a:xfrm>
            <a:off x="745236" y="3806990"/>
            <a:ext cx="73152" cy="73152"/>
          </a:xfrm>
          <a:prstGeom prst="ellipse">
            <a:avLst/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3" y="3736467"/>
            <a:ext cx="7237476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Une expérience produit maintenue (saisir les opportunités et rester dans l'amélioration continue)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" y="4205325"/>
            <a:ext cx="7804404" cy="595274"/>
          </a:xfrm>
          <a:prstGeom prst="roundRect">
            <a:avLst>
              <a:gd name="adj" fmla="val 1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" y="4223613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00D2DD"/>
                </a:solidFill>
                <a:latin typeface="Outfit"/>
              </a:rPr>
              <a:t>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" y="4205325"/>
            <a:ext cx="6670548" cy="59527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utfit"/>
              </a:rPr>
              <a:t>C'est la boucle qui transforme un contrat de maintenance en levier de valeur produit.</a:t>
            </a:r>
            <a:r>
              <a:rPr sz="1300" b="1">
                <a:solidFill>
                  <a:srgbClr val="00D2DD"/>
                </a:solidFill>
                <a:latin typeface="Outfit"/>
              </a:rPr>
              <a:t>  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E2356"/>
                </a:solidFill>
              </a:rPr>
              <a:t>En pratique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786384"/>
            <a:ext cx="78044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Trois phases, du diagnostic au pilotage continu.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1428" y="1216151"/>
            <a:ext cx="6085332" cy="868680"/>
          </a:xfrm>
          <a:prstGeom prst="roundRect">
            <a:avLst>
              <a:gd name="adj" fmla="val 7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50418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" y="150418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8116" y="1546936"/>
            <a:ext cx="1188720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586586"/>
                </a:solidFill>
                <a:latin typeface="Outfit"/>
              </a:rPr>
              <a:t>Diagnostiquer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46020" y="1335024"/>
            <a:ext cx="1631289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E4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46020" y="1335024"/>
            <a:ext cx="1631289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3E4F78"/>
                </a:solidFill>
                <a:latin typeface="Outfit"/>
              </a:rPr>
              <a:t>Run Readiness 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8749" y="1335024"/>
            <a:ext cx="1631289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E4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8749" y="1335024"/>
            <a:ext cx="1631289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3E4F78"/>
                </a:solidFill>
                <a:latin typeface="Outfit"/>
              </a:rPr>
              <a:t>Niveau de criticité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46020" y="1682495"/>
            <a:ext cx="2743200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E4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6020" y="1682495"/>
            <a:ext cx="2743200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3E4F78"/>
                </a:solidFill>
                <a:latin typeface="Outfit"/>
              </a:rPr>
              <a:t>Rétrodocumentation de l'application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80660" y="1682495"/>
            <a:ext cx="1283817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E4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0660" y="1682495"/>
            <a:ext cx="1283817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3E4F78"/>
                </a:solidFill>
                <a:latin typeface="Outfit"/>
              </a:rPr>
              <a:t>Audit sécurité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55917" y="1682495"/>
            <a:ext cx="1214323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E4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5917" y="1682495"/>
            <a:ext cx="1214323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3E4F78"/>
                </a:solidFill>
                <a:latin typeface="Outfit"/>
              </a:rPr>
              <a:t>Audit qualité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1428" y="2203704"/>
            <a:ext cx="6085332" cy="1216152"/>
          </a:xfrm>
          <a:prstGeom prst="roundRect">
            <a:avLst>
              <a:gd name="adj" fmla="val 7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2356" y="266547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6" y="2665476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" y="2708224"/>
            <a:ext cx="1188720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586586"/>
                </a:solidFill>
                <a:latin typeface="Outfit"/>
              </a:rPr>
              <a:t>Mettre sous contrôle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46020" y="2322576"/>
            <a:ext cx="3299155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E4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46020" y="2322576"/>
            <a:ext cx="3299155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3E4F78"/>
                </a:solidFill>
                <a:latin typeface="Outfit"/>
              </a:rPr>
              <a:t>Mise en place du monitoring (observabilité)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46020" y="2670048"/>
            <a:ext cx="2882188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E4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46020" y="2670048"/>
            <a:ext cx="2882188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3E4F78"/>
                </a:solidFill>
                <a:latin typeface="Outfit"/>
              </a:rPr>
              <a:t>Définition des indicateurs SLA et XLA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46020" y="3017520"/>
            <a:ext cx="4063593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E4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46020" y="3017520"/>
            <a:ext cx="4063593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3E4F78"/>
                </a:solidFill>
                <a:latin typeface="Outfit"/>
              </a:rPr>
              <a:t>Mise en place de l'ASRF (Agentic Software Run Factory)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1428" y="3538728"/>
            <a:ext cx="6085332" cy="1216152"/>
          </a:xfrm>
          <a:prstGeom prst="roundRect">
            <a:avLst>
              <a:gd name="adj" fmla="val 7000"/>
            </a:avLst>
          </a:prstGeom>
          <a:solidFill>
            <a:srgbClr val="DB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2356" y="40005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2356" y="400050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  <a:latin typeface="Outfit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" y="4043248"/>
            <a:ext cx="1188720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00D2DD"/>
                </a:solidFill>
                <a:latin typeface="Outfit"/>
              </a:rPr>
              <a:t>Piloter en continu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46020" y="3657600"/>
            <a:ext cx="2743200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2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46020" y="3657600"/>
            <a:ext cx="2743200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0E2356"/>
                </a:solidFill>
                <a:latin typeface="Outfit"/>
              </a:rPr>
              <a:t>Reporting en temps réel et alerting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80660" y="3657600"/>
            <a:ext cx="2117750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2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80660" y="3657600"/>
            <a:ext cx="2117750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0E2356"/>
                </a:solidFill>
                <a:latin typeface="Outfit"/>
              </a:rPr>
              <a:t>Reporting exécutif mensuel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46020" y="4005072"/>
            <a:ext cx="4411065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2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46020" y="4005072"/>
            <a:ext cx="4411065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0E2356"/>
                </a:solidFill>
                <a:latin typeface="Outfit"/>
              </a:rPr>
              <a:t>Tickets : analyse auto → validation humaine → mise en œuvre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446020" y="4352544"/>
            <a:ext cx="2465222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2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46020" y="4352544"/>
            <a:ext cx="2465222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0E2356"/>
                </a:solidFill>
                <a:latin typeface="Outfit"/>
              </a:rPr>
              <a:t>Planning partagé avec le client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E2356"/>
                </a:solidFill>
              </a:rPr>
              <a:t>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786384"/>
            <a:ext cx="78044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Un même socle de mesure, restitué à deux rythmes.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79592" y="1437665"/>
            <a:ext cx="2487168" cy="25191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62472" y="1602257"/>
            <a:ext cx="212140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0D2DD"/>
                </a:solidFill>
                <a:latin typeface="Outfit"/>
              </a:rPr>
              <a:t>XLA — TROIS FAMILLES CROISÉES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2472" y="1931441"/>
            <a:ext cx="457200" cy="41148"/>
          </a:xfrm>
          <a:prstGeom prst="rect">
            <a:avLst/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62472" y="2163013"/>
            <a:ext cx="64008" cy="64008"/>
          </a:xfrm>
          <a:prstGeom prst="ellipse">
            <a:avLst/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2100605"/>
            <a:ext cx="1920240" cy="359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00" b="1">
                <a:solidFill>
                  <a:srgbClr val="0E2356"/>
                </a:solidFill>
                <a:latin typeface="Outfit"/>
              </a:rPr>
              <a:t>Le ressenti : </a:t>
            </a:r>
            <a:r>
              <a:rPr sz="900">
                <a:solidFill>
                  <a:srgbClr val="3E4F78"/>
                </a:solidFill>
                <a:latin typeface="Outfit"/>
              </a:rPr>
              <a:t>déclaré par les utilisateurs, recueilli par sondage</a:t>
            </a:r>
          </a:p>
        </p:txBody>
      </p:sp>
      <p:sp>
        <p:nvSpPr>
          <p:cNvPr id="9" name="Oval 8"/>
          <p:cNvSpPr/>
          <p:nvPr/>
        </p:nvSpPr>
        <p:spPr>
          <a:xfrm>
            <a:off x="6062472" y="2632100"/>
            <a:ext cx="64008" cy="64008"/>
          </a:xfrm>
          <a:prstGeom prst="ellipse">
            <a:avLst/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569692"/>
            <a:ext cx="1920240" cy="359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00" b="1">
                <a:solidFill>
                  <a:srgbClr val="0E2356"/>
                </a:solidFill>
                <a:latin typeface="Outfit"/>
              </a:rPr>
              <a:t>Les processus : </a:t>
            </a:r>
            <a:r>
              <a:rPr sz="900">
                <a:solidFill>
                  <a:srgbClr val="3E4F78"/>
                </a:solidFill>
                <a:latin typeface="Outfit"/>
              </a:rPr>
              <a:t>délais, respect des SLA, KPI</a:t>
            </a:r>
          </a:p>
        </p:txBody>
      </p:sp>
      <p:sp>
        <p:nvSpPr>
          <p:cNvPr id="11" name="Oval 10"/>
          <p:cNvSpPr/>
          <p:nvPr/>
        </p:nvSpPr>
        <p:spPr>
          <a:xfrm>
            <a:off x="6062472" y="3101187"/>
            <a:ext cx="64008" cy="64008"/>
          </a:xfrm>
          <a:prstGeom prst="ellipse">
            <a:avLst/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038779"/>
            <a:ext cx="1920240" cy="359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00" b="1">
                <a:solidFill>
                  <a:srgbClr val="0E2356"/>
                </a:solidFill>
                <a:latin typeface="Outfit"/>
              </a:rPr>
              <a:t>Les outils : </a:t>
            </a:r>
            <a:r>
              <a:rPr sz="900">
                <a:solidFill>
                  <a:srgbClr val="3E4F78"/>
                </a:solidFill>
                <a:latin typeface="Outfit"/>
              </a:rPr>
              <a:t>performance des postes, des applications, du réseau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" y="1880006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2356" y="1880006"/>
            <a:ext cx="1298448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TEMPS RÉEL</a:t>
            </a:r>
          </a:p>
        </p:txBody>
      </p:sp>
      <p:sp>
        <p:nvSpPr>
          <p:cNvPr id="15" name="Chevron 14"/>
          <p:cNvSpPr/>
          <p:nvPr/>
        </p:nvSpPr>
        <p:spPr>
          <a:xfrm>
            <a:off x="1961388" y="1861718"/>
            <a:ext cx="310896" cy="310896"/>
          </a:xfrm>
          <a:prstGeom prst="chevron">
            <a:avLst>
              <a:gd name="adj" fmla="val 30000"/>
            </a:avLst>
          </a:prstGeom>
          <a:solidFill>
            <a:srgbClr val="FFFFFF"/>
          </a:solidFill>
          <a:ln w="22860">
            <a:solidFill>
              <a:srgbClr val="5865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72868" y="1437665"/>
            <a:ext cx="3250691" cy="115900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37460" y="1602257"/>
            <a:ext cx="2921507" cy="2916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E2356"/>
                </a:solidFill>
                <a:latin typeface="Outfit"/>
              </a:rPr>
              <a:t>Pour le management opérationnel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7460" y="1985391"/>
            <a:ext cx="2921507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Alerting inclus : l'écart se voit quand il se produit, pas au bilan.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" y="3240176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6" y="3240176"/>
            <a:ext cx="1298448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  <a:latin typeface="Outfit"/>
              </a:rPr>
              <a:t>MENSUEL</a:t>
            </a:r>
          </a:p>
        </p:txBody>
      </p:sp>
      <p:sp>
        <p:nvSpPr>
          <p:cNvPr id="21" name="Chevron 20"/>
          <p:cNvSpPr/>
          <p:nvPr/>
        </p:nvSpPr>
        <p:spPr>
          <a:xfrm>
            <a:off x="1961388" y="3221888"/>
            <a:ext cx="310896" cy="310896"/>
          </a:xfrm>
          <a:prstGeom prst="chevron">
            <a:avLst>
              <a:gd name="adj" fmla="val 30000"/>
            </a:avLst>
          </a:prstGeom>
          <a:solidFill>
            <a:srgbClr val="FFFFFF"/>
          </a:solidFill>
          <a:ln w="22860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372868" y="2797835"/>
            <a:ext cx="3250691" cy="115900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37460" y="2962427"/>
            <a:ext cx="2921507" cy="2916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E2356"/>
                </a:solidFill>
                <a:latin typeface="Outfit"/>
              </a:rPr>
              <a:t>Pour le pilotage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37460" y="3345561"/>
            <a:ext cx="2921507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Vue exécutive : la tendance, la dette et les engagements de service.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" y="4425238"/>
            <a:ext cx="7804404" cy="375361"/>
          </a:xfrm>
          <a:prstGeom prst="roundRect">
            <a:avLst>
              <a:gd name="adj" fmla="val 1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" y="4443526"/>
            <a:ext cx="365760" cy="3387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00D2DD"/>
                </a:solidFill>
                <a:latin typeface="Outfit"/>
              </a:rPr>
              <a:t>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" y="4425238"/>
            <a:ext cx="6670548" cy="375361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utfit"/>
              </a:rPr>
              <a:t>Deux rythmes, deux publics : l'un pour réagir, l'autre pour décider.</a:t>
            </a:r>
            <a:r>
              <a:rPr sz="1300" b="1">
                <a:solidFill>
                  <a:srgbClr val="00D2DD"/>
                </a:solidFill>
                <a:latin typeface="Outfit"/>
              </a:rPr>
              <a:t>  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E2356"/>
                </a:solidFill>
              </a:rPr>
              <a:t>Ce que cela change chez nos clients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786384"/>
            <a:ext cx="78044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Chaque douleur exprimée trouve sa réponse dans le dispositif.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291018"/>
            <a:ext cx="3520440" cy="28392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5236" y="1455610"/>
            <a:ext cx="2468880" cy="23774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5236" y="1455610"/>
            <a:ext cx="24688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AUJOURD'HUI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" y="1839658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  <a:latin typeface="Outfit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116" y="1839658"/>
            <a:ext cx="2971800" cy="359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00" b="1">
                <a:solidFill>
                  <a:srgbClr val="0E2356"/>
                </a:solidFill>
                <a:latin typeface="Outfit"/>
              </a:rPr>
              <a:t>La valeur du forfait </a:t>
            </a:r>
            <a:r>
              <a:rPr sz="900">
                <a:solidFill>
                  <a:srgbClr val="3E4F78"/>
                </a:solidFill>
                <a:latin typeface="Outfit"/>
              </a:rPr>
              <a:t>se discute, faute de preuve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" y="2281313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  <a:latin typeface="Outfit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" y="2281313"/>
            <a:ext cx="2971800" cy="359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00" b="1">
                <a:solidFill>
                  <a:srgbClr val="0E2356"/>
                </a:solidFill>
                <a:latin typeface="Outfit"/>
              </a:rPr>
              <a:t>Le prestataire exécute </a:t>
            </a:r>
            <a:r>
              <a:rPr sz="900">
                <a:solidFill>
                  <a:srgbClr val="3E4F78"/>
                </a:solidFill>
                <a:latin typeface="Outfit"/>
              </a:rPr>
              <a:t>sans jamais challenger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" y="2722968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  <a:latin typeface="Outfit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" y="2722968"/>
            <a:ext cx="2971800" cy="359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00" b="1">
                <a:solidFill>
                  <a:srgbClr val="0E2356"/>
                </a:solidFill>
                <a:latin typeface="Outfit"/>
              </a:rPr>
              <a:t>La connaissance part </a:t>
            </a:r>
            <a:r>
              <a:rPr sz="900">
                <a:solidFill>
                  <a:srgbClr val="3E4F78"/>
                </a:solidFill>
                <a:latin typeface="Outfit"/>
              </a:rPr>
              <a:t>avec les équipes qui tournent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" y="3164624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  <a:latin typeface="Outfit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" y="3164624"/>
            <a:ext cx="2971800" cy="359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00" b="1">
                <a:solidFill>
                  <a:srgbClr val="0E2356"/>
                </a:solidFill>
                <a:latin typeface="Outfit"/>
              </a:rPr>
              <a:t>L'état réel des applications </a:t>
            </a:r>
            <a:r>
              <a:rPr sz="900">
                <a:solidFill>
                  <a:srgbClr val="3E4F78"/>
                </a:solidFill>
                <a:latin typeface="Outfit"/>
              </a:rPr>
              <a:t>reste un angle mort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" y="360627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  <a:latin typeface="Outfit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" y="3606279"/>
            <a:ext cx="2971800" cy="359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00" b="1">
                <a:solidFill>
                  <a:srgbClr val="0E2356"/>
                </a:solidFill>
                <a:latin typeface="Outfit"/>
              </a:rPr>
              <a:t>La réversibilité </a:t>
            </a:r>
            <a:r>
              <a:rPr sz="900">
                <a:solidFill>
                  <a:srgbClr val="3E4F78"/>
                </a:solidFill>
                <a:latin typeface="Outfit"/>
              </a:rPr>
              <a:t>reste théorique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1291018"/>
            <a:ext cx="3520440" cy="28392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0" y="1455610"/>
            <a:ext cx="2468880" cy="23774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455610"/>
            <a:ext cx="24688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  <a:latin typeface="Outfit"/>
              </a:rPr>
              <a:t>AVEC AGENTIC PRODUCT 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839658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0D2DD"/>
                </a:solidFill>
                <a:latin typeface="Outfit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1839658"/>
            <a:ext cx="2971800" cy="359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00" b="1">
                <a:solidFill>
                  <a:srgbClr val="0E2356"/>
                </a:solidFill>
                <a:latin typeface="Outfit"/>
              </a:rPr>
              <a:t>SLA, XLA et reporting mensuel </a:t>
            </a:r>
            <a:r>
              <a:rPr sz="900">
                <a:solidFill>
                  <a:srgbClr val="3E4F78"/>
                </a:solidFill>
                <a:latin typeface="Outfit"/>
              </a:rPr>
              <a:t>la valeur se mesure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281313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0D2DD"/>
                </a:solidFill>
                <a:latin typeface="Outfit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281313"/>
            <a:ext cx="2971800" cy="359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00" b="1">
                <a:solidFill>
                  <a:srgbClr val="0E2356"/>
                </a:solidFill>
                <a:latin typeface="Outfit"/>
              </a:rPr>
              <a:t>Audits sécurité et qualité </a:t>
            </a:r>
            <a:r>
              <a:rPr sz="900">
                <a:solidFill>
                  <a:srgbClr val="3E4F78"/>
                </a:solidFill>
                <a:latin typeface="Outfit"/>
              </a:rPr>
              <a:t>ce qui ne va pas remonte sans qu'on le demande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722968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0D2DD"/>
                </a:solidFill>
                <a:latin typeface="Outfit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2722968"/>
            <a:ext cx="2971800" cy="359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00" b="1">
                <a:solidFill>
                  <a:srgbClr val="0E2356"/>
                </a:solidFill>
                <a:latin typeface="Outfit"/>
              </a:rPr>
              <a:t>Rétrodocumentation </a:t>
            </a:r>
            <a:r>
              <a:rPr sz="900">
                <a:solidFill>
                  <a:srgbClr val="3E4F78"/>
                </a:solidFill>
                <a:latin typeface="Outfit"/>
              </a:rPr>
              <a:t>la connaissance sort des têtes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164624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0D2DD"/>
                </a:solidFill>
                <a:latin typeface="Outfit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3164624"/>
            <a:ext cx="2971800" cy="359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00" b="1">
                <a:solidFill>
                  <a:srgbClr val="0E2356"/>
                </a:solidFill>
                <a:latin typeface="Outfit"/>
              </a:rPr>
              <a:t>Readiness Check et monitoring </a:t>
            </a:r>
            <a:r>
              <a:rPr sz="900">
                <a:solidFill>
                  <a:srgbClr val="3E4F78"/>
                </a:solidFill>
                <a:latin typeface="Outfit"/>
              </a:rPr>
              <a:t>l'état est connu, en continu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60627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0D2DD"/>
                </a:solidFill>
                <a:latin typeface="Outfit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3606279"/>
            <a:ext cx="2971800" cy="359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00" b="1">
                <a:solidFill>
                  <a:srgbClr val="0E2356"/>
                </a:solidFill>
                <a:latin typeface="Outfit"/>
              </a:rPr>
              <a:t>Base documentaire à jour </a:t>
            </a:r>
            <a:r>
              <a:rPr sz="900">
                <a:solidFill>
                  <a:srgbClr val="3E4F78"/>
                </a:solidFill>
                <a:latin typeface="Outfit"/>
              </a:rPr>
              <a:t>la reprise devient exerçable</a:t>
            </a:r>
          </a:p>
        </p:txBody>
      </p:sp>
      <p:sp>
        <p:nvSpPr>
          <p:cNvPr id="30" name="Chevron 29"/>
          <p:cNvSpPr/>
          <p:nvPr/>
        </p:nvSpPr>
        <p:spPr>
          <a:xfrm>
            <a:off x="4190238" y="2436304"/>
            <a:ext cx="548640" cy="548640"/>
          </a:xfrm>
          <a:prstGeom prst="chevron">
            <a:avLst/>
          </a:prstGeom>
          <a:solidFill>
            <a:srgbClr val="FFFFFF"/>
          </a:solidFill>
          <a:ln w="31750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2356" y="4433697"/>
            <a:ext cx="7804404" cy="366903"/>
          </a:xfrm>
          <a:prstGeom prst="roundRect">
            <a:avLst>
              <a:gd name="adj" fmla="val 1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8660" y="4451984"/>
            <a:ext cx="365760" cy="3303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00D2DD"/>
                </a:solidFill>
                <a:latin typeface="Outfit"/>
              </a:rPr>
              <a:t>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" y="4433697"/>
            <a:ext cx="6670548" cy="366903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Outfit"/>
              </a:rPr>
              <a:t>Aucune de ces réponses n'est une posture : chacune est une activité du parcours.</a:t>
            </a:r>
            <a:r>
              <a:rPr sz="1250" b="1">
                <a:solidFill>
                  <a:srgbClr val="00D2DD"/>
                </a:solidFill>
                <a:latin typeface="Outfit"/>
              </a:rPr>
              <a:t>  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E2356"/>
                </a:solidFill>
              </a:rPr>
              <a:t>Opportunités, pitch et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786384"/>
            <a:ext cx="78044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Le pitch d'abord — c'est la phrase qui doit rester en tête.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170432"/>
            <a:ext cx="7804404" cy="1350568"/>
          </a:xfrm>
          <a:prstGeom prst="roundRect">
            <a:avLst>
              <a:gd name="adj" fmla="val 1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3252" y="1708556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3252" y="1708556"/>
            <a:ext cx="117043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  <a:latin typeface="Outfit"/>
              </a:rPr>
              <a:t>LE PITCH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53412" y="1362456"/>
            <a:ext cx="41148" cy="236829"/>
          </a:xfrm>
          <a:prstGeom prst="roundRect">
            <a:avLst>
              <a:gd name="adj" fmla="val 50000"/>
            </a:avLst>
          </a:prstGeom>
          <a:solidFill>
            <a:srgbClr val="3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18004" y="1335024"/>
            <a:ext cx="5737860" cy="2916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Outfit"/>
              </a:rPr>
              <a:t>Un Run augmenté </a:t>
            </a:r>
            <a:r>
              <a:rPr sz="1400">
                <a:solidFill>
                  <a:srgbClr val="FFFFFF"/>
                </a:solidFill>
                <a:latin typeface="Outfit"/>
              </a:rPr>
              <a:t>pas seulement maintenu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53412" y="1727301"/>
            <a:ext cx="41148" cy="236829"/>
          </a:xfrm>
          <a:prstGeom prst="roundRect">
            <a:avLst>
              <a:gd name="adj" fmla="val 50000"/>
            </a:avLst>
          </a:prstGeom>
          <a:solidFill>
            <a:srgbClr val="3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18004" y="1699869"/>
            <a:ext cx="5737860" cy="2916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Outfit"/>
              </a:rPr>
              <a:t>Une boucle </a:t>
            </a:r>
            <a:r>
              <a:rPr sz="1400">
                <a:solidFill>
                  <a:srgbClr val="FFFFFF"/>
                </a:solidFill>
                <a:latin typeface="Outfit"/>
              </a:rPr>
              <a:t>entre maturité du Run et croissance produit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53412" y="2092147"/>
            <a:ext cx="41148" cy="236829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18004" y="2064715"/>
            <a:ext cx="5737860" cy="2916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400" b="1">
                <a:solidFill>
                  <a:srgbClr val="00D2DD"/>
                </a:solidFill>
                <a:latin typeface="Outfit"/>
              </a:rPr>
              <a:t>Le Run maîtrisé </a:t>
            </a:r>
            <a:r>
              <a:rPr sz="1400">
                <a:solidFill>
                  <a:srgbClr val="FFFFFF"/>
                </a:solidFill>
                <a:latin typeface="Outfit"/>
              </a:rPr>
              <a:t>devient une opportunité de growth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" y="2649016"/>
            <a:ext cx="2525268" cy="205191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7" y="2795320"/>
            <a:ext cx="219608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  <a:latin typeface="Outfit"/>
              </a:rPr>
              <a:t>OPPORTUNITÉS POUR OCTO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7" y="3124504"/>
            <a:ext cx="457200" cy="41148"/>
          </a:xfrm>
          <a:prstGeom prst="rect">
            <a:avLst/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6947" y="3360648"/>
            <a:ext cx="54864" cy="54864"/>
          </a:xfrm>
          <a:prstGeom prst="ellipse">
            <a:avLst/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5" y="3293668"/>
            <a:ext cx="1994916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Valider la valeur pour OCTO</a:t>
            </a:r>
          </a:p>
        </p:txBody>
      </p:sp>
      <p:sp>
        <p:nvSpPr>
          <p:cNvPr id="18" name="Oval 17"/>
          <p:cNvSpPr/>
          <p:nvPr/>
        </p:nvSpPr>
        <p:spPr>
          <a:xfrm>
            <a:off x="726947" y="3650056"/>
            <a:ext cx="54864" cy="54864"/>
          </a:xfrm>
          <a:prstGeom prst="ellipse">
            <a:avLst/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5" y="3583076"/>
            <a:ext cx="1994916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Finaliser la présentation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16224" y="2649016"/>
            <a:ext cx="2525268" cy="205191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80816" y="2795320"/>
            <a:ext cx="219608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  <a:latin typeface="Outfit"/>
              </a:rPr>
              <a:t>CONTACTER D'AUTRES OCTOS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80816" y="3124504"/>
            <a:ext cx="457200" cy="41148"/>
          </a:xfrm>
          <a:prstGeom prst="rect">
            <a:avLst/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480816" y="3360648"/>
            <a:ext cx="54864" cy="54864"/>
          </a:xfrm>
          <a:prstGeom prst="ellipse">
            <a:avLst/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81984" y="3293668"/>
            <a:ext cx="1994916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Équipe AI OPS en cours de formation chez C&amp;P</a:t>
            </a:r>
          </a:p>
        </p:txBody>
      </p:sp>
      <p:sp>
        <p:nvSpPr>
          <p:cNvPr id="25" name="Oval 24"/>
          <p:cNvSpPr/>
          <p:nvPr/>
        </p:nvSpPr>
        <p:spPr>
          <a:xfrm>
            <a:off x="3480816" y="3802303"/>
            <a:ext cx="54864" cy="54864"/>
          </a:xfrm>
          <a:prstGeom prst="ellipse">
            <a:avLst/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81984" y="3735324"/>
            <a:ext cx="1994916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Reynald RIVI est intéressé</a:t>
            </a:r>
          </a:p>
        </p:txBody>
      </p:sp>
      <p:sp>
        <p:nvSpPr>
          <p:cNvPr id="27" name="Oval 26"/>
          <p:cNvSpPr/>
          <p:nvPr/>
        </p:nvSpPr>
        <p:spPr>
          <a:xfrm>
            <a:off x="3480816" y="4243958"/>
            <a:ext cx="54864" cy="54864"/>
          </a:xfrm>
          <a:prstGeom prst="ellipse">
            <a:avLst/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81984" y="4176979"/>
            <a:ext cx="1994916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Identifier d'autres interlocuteurs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70092" y="2649016"/>
            <a:ext cx="2525268" cy="205191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4684" y="2795320"/>
            <a:ext cx="219608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0D2DD"/>
                </a:solidFill>
                <a:latin typeface="Outfit"/>
              </a:rPr>
              <a:t>NEXT STEPS — PROPOSITION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4684" y="3124504"/>
            <a:ext cx="457200" cy="41148"/>
          </a:xfrm>
          <a:prstGeom prst="rect">
            <a:avLst/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34684" y="3360648"/>
            <a:ext cx="54864" cy="54864"/>
          </a:xfrm>
          <a:prstGeom prst="ellipse">
            <a:avLst/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5852" y="3293668"/>
            <a:ext cx="1994916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Un Run Readiness Check sur un premier périmètre client</a:t>
            </a:r>
          </a:p>
        </p:txBody>
      </p:sp>
      <p:sp>
        <p:nvSpPr>
          <p:cNvPr id="34" name="Oval 33"/>
          <p:cNvSpPr/>
          <p:nvPr/>
        </p:nvSpPr>
        <p:spPr>
          <a:xfrm>
            <a:off x="6234684" y="3802303"/>
            <a:ext cx="54864" cy="54864"/>
          </a:xfrm>
          <a:prstGeom prst="ellipse">
            <a:avLst/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5852" y="3735324"/>
            <a:ext cx="1994916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Identifier un compte pilote pour la démonstration</a:t>
            </a:r>
          </a:p>
        </p:txBody>
      </p:sp>
      <p:sp>
        <p:nvSpPr>
          <p:cNvPr id="36" name="Oval 35"/>
          <p:cNvSpPr/>
          <p:nvPr/>
        </p:nvSpPr>
        <p:spPr>
          <a:xfrm>
            <a:off x="6234684" y="4243958"/>
            <a:ext cx="54864" cy="54864"/>
          </a:xfrm>
          <a:prstGeom prst="ellipse">
            <a:avLst/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35852" y="4176979"/>
            <a:ext cx="1994916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Un jalon de livrable montrable sous quelques semaines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6 - OCTO">
  <a:themeElements>
    <a:clrScheme name="Custom">
      <a:dk1>
        <a:srgbClr val="0E2356"/>
      </a:dk1>
      <a:lt1>
        <a:srgbClr val="FFFFFF"/>
      </a:lt1>
      <a:dk2>
        <a:srgbClr val="3E4F78"/>
      </a:dk2>
      <a:lt2>
        <a:srgbClr val="586586"/>
      </a:lt2>
      <a:accent1>
        <a:srgbClr val="6E7B9A"/>
      </a:accent1>
      <a:accent2>
        <a:srgbClr val="9FA7BB"/>
      </a:accent2>
      <a:accent3>
        <a:srgbClr val="00D2DD"/>
      </a:accent3>
      <a:accent4>
        <a:srgbClr val="B7BDCC"/>
      </a:accent4>
      <a:accent5>
        <a:srgbClr val="CFD3DD"/>
      </a:accent5>
      <a:accent6>
        <a:srgbClr val="E7E9EE"/>
      </a:accent6>
      <a:hlink>
        <a:srgbClr val="33B5CB"/>
      </a:hlink>
      <a:folHlink>
        <a:srgbClr val="33B5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Custom">
      <a:dk1>
        <a:srgbClr val="0E2356"/>
      </a:dk1>
      <a:lt1>
        <a:srgbClr val="FFFFFF"/>
      </a:lt1>
      <a:dk2>
        <a:srgbClr val="566589"/>
      </a:dk2>
      <a:lt2>
        <a:srgbClr val="8691AA"/>
      </a:lt2>
      <a:accent1>
        <a:srgbClr val="B7BDCC"/>
      </a:accent1>
      <a:accent2>
        <a:srgbClr val="ECEDF3"/>
      </a:accent2>
      <a:accent3>
        <a:srgbClr val="DDF4F8"/>
      </a:accent3>
      <a:accent4>
        <a:srgbClr val="B6E8F0"/>
      </a:accent4>
      <a:accent5>
        <a:srgbClr val="80D7E5"/>
      </a:accent5>
      <a:accent6>
        <a:srgbClr val="00AFCB"/>
      </a:accent6>
      <a:hlink>
        <a:srgbClr val="26BBD3"/>
      </a:hlink>
      <a:folHlink>
        <a:srgbClr val="26BB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</Words>
  <Application>Microsoft Office PowerPoint</Application>
  <PresentationFormat>On-screen Show (16:9)</PresentationFormat>
  <Paragraphs>76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Outfit Light</vt:lpstr>
      <vt:lpstr>Century Gothic</vt:lpstr>
      <vt:lpstr>Helvetica Neue Light</vt:lpstr>
      <vt:lpstr>Outfit</vt:lpstr>
      <vt:lpstr>Outfit Medium</vt:lpstr>
      <vt:lpstr>Outfit SemiBold</vt:lpstr>
      <vt:lpstr>2026 - OCTO</vt:lpstr>
      <vt:lpstr>OCTO Technology</vt:lpstr>
      <vt:lpstr>Sommaire</vt:lpstr>
      <vt:lpstr>Contexte</vt:lpstr>
      <vt:lpstr>xxx</vt:lpstr>
      <vt:lpstr>Notre approche</vt:lpstr>
      <vt:lpstr>Notre approche </vt:lpstr>
      <vt:lpstr>Une approche contextualisée pour un premier déploiement aligné </vt:lpstr>
      <vt:lpstr>Planning des interventions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Camus, Claude</cp:lastModifiedBy>
  <cp:revision>1</cp:revision>
  <dcterms:modified xsi:type="dcterms:W3CDTF">2026-06-19T16:03:54Z</dcterms:modified>
</cp:coreProperties>
</file>