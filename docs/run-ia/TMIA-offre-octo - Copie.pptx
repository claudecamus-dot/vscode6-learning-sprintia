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4"/>
    <p:sldId id="263" r:id="rId3"/>
    <p:sldId id="264" r:id="rId2"/>
    <p:sldId id="265" r:id="rId32"/>
    <p:sldId id="266" r:id="rId33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Helvetica Neue Light" panose="020B0604020202020204" charset="0"/>
      <p:regular r:id="rId16"/>
      <p:bold r:id="rId17"/>
      <p:italic r:id="rId18"/>
      <p:boldItalic r:id="rId19"/>
    </p:embeddedFont>
    <p:embeddedFont>
      <p:font typeface="Outfit" panose="020B0604020202020204" charset="0"/>
      <p:regular r:id="rId20"/>
      <p:bold r:id="rId21"/>
    </p:embeddedFont>
    <p:embeddedFont>
      <p:font typeface="Outfit Light" panose="020B0604020202020204" charset="0"/>
      <p:regular r:id="rId22"/>
      <p:bold r:id="rId23"/>
    </p:embeddedFont>
    <p:embeddedFont>
      <p:font typeface="Outfit Medium" panose="020B0604020202020204" charset="0"/>
      <p:regular r:id="rId24"/>
      <p:bold r:id="rId25"/>
    </p:embeddedFont>
    <p:embeddedFont>
      <p:font typeface="Outfit SemiBold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Relationship Id="rId22" Type="http://schemas.openxmlformats.org/officeDocument/2006/relationships/font" Target="fonts/font11.fntdata"/><Relationship Id="rId23" Type="http://schemas.openxmlformats.org/officeDocument/2006/relationships/font" Target="fonts/font12.fntdata"/><Relationship Id="rId24" Type="http://schemas.openxmlformats.org/officeDocument/2006/relationships/font" Target="fonts/font13.fntdata"/><Relationship Id="rId25" Type="http://schemas.openxmlformats.org/officeDocument/2006/relationships/font" Target="fonts/font14.fntdata"/><Relationship Id="rId26" Type="http://schemas.openxmlformats.org/officeDocument/2006/relationships/font" Target="fonts/font15.fntdata"/><Relationship Id="rId27" Type="http://schemas.openxmlformats.org/officeDocument/2006/relationships/font" Target="fonts/font16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0.xml"/><Relationship Id="rId33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Focus">
  <p:cSld name="05 - Focus">
    <p:bg>
      <p:bgPr>
        <a:solidFill>
          <a:schemeClr val="dk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name="adj" fmla="val 355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" name="Google Shape;66;p8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1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2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>
            <a:off x="89501" y="125680"/>
            <a:ext cx="8793074" cy="4738970"/>
            <a:chOff x="89501" y="125680"/>
            <a:chExt cx="8793074" cy="4738970"/>
          </a:xfrm>
        </p:grpSpPr>
        <p:grpSp>
          <p:nvGrpSpPr>
            <p:cNvPr id="71" name="Google Shape;71;p8"/>
            <p:cNvGrpSpPr/>
            <p:nvPr/>
          </p:nvGrpSpPr>
          <p:grpSpPr>
            <a:xfrm>
              <a:off x="89501" y="125680"/>
              <a:ext cx="170063" cy="166438"/>
              <a:chOff x="6838242" y="518225"/>
              <a:chExt cx="1247708" cy="1221114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5" name="Google Shape;75;p8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6" name="Google Shape;76;p8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7" name="Google Shape;77;p8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8" name="Google Shape;78;p8"/>
              <p:cNvCxnSpPr>
                <a:stCxn id="79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0" name="Google Shape;80;p8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1" name="Google Shape;81;p8"/>
              <p:cNvCxnSpPr>
                <a:endCxn id="80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2" name="Google Shape;82;p8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 rot="-5400000" flipH="1">
                <a:off x="8499018" y="45899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3" name="Google Shape;83;p8"/>
              <p:cNvCxnSpPr>
                <a:stCxn id="82" idx="2"/>
                <a:endCxn id="80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0 - Couverture [1]">
  <p:cSld name="40 - Couverture [1]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01" name="Google Shape;101;p10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102" name="Google Shape;102;p1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5" name="Google Shape;105;p10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7" name="Google Shape;107;p10"/>
          <p:cNvGrpSpPr/>
          <p:nvPr/>
        </p:nvGrpSpPr>
        <p:grpSpPr>
          <a:xfrm>
            <a:off x="1097923" y="1336707"/>
            <a:ext cx="4598402" cy="1873532"/>
            <a:chOff x="2164723" y="1336707"/>
            <a:chExt cx="4598402" cy="1873532"/>
          </a:xfrm>
        </p:grpSpPr>
        <p:cxnSp>
          <p:nvCxnSpPr>
            <p:cNvPr id="108" name="Google Shape;108;p10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9" name="Google Shape;109;p10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0" name="Google Shape;110;p10"/>
            <p:cNvCxnSpPr>
              <a:endCxn id="109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1" name="Google Shape;111;p10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 rot="-5400561" flipH="1">
              <a:off x="2143273" y="1358457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3" name="Google Shape;113;p10"/>
            <p:cNvCxnSpPr>
              <a:stCxn id="111" idx="2"/>
              <a:endCxn id="109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4" name="Google Shape;114;p10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t="338" b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>
            <a:spLocks noGrp="1"/>
          </p:cNvSpPr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17" name="Google Shape;117;p10"/>
          <p:cNvSpPr txBox="1">
            <a:spLocks noGrp="1"/>
          </p:cNvSpPr>
          <p:nvPr>
            <p:ph type="subTitle" idx="1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19" name="Google Shape;119;p10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120" name="Google Shape;120;p10"/>
            <p:cNvCxnSpPr>
              <a:stCxn id="121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2" name="Google Shape;122;p10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3" name="Google Shape;123;p10"/>
            <p:cNvCxnSpPr>
              <a:endCxn id="122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" name="Google Shape;124;p10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1" name="Google Shape;121;p10"/>
            <p:cNvSpPr/>
            <p:nvPr/>
          </p:nvSpPr>
          <p:spPr>
            <a:xfrm rot="-5400570" flipH="1">
              <a:off x="1792271" y="1738633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5" name="Google Shape;125;p10"/>
            <p:cNvCxnSpPr>
              <a:stCxn id="124" idx="2"/>
              <a:endCxn id="122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6" name="Google Shape;126;p10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10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 2">
  <p:cSld name="03 - Titre et sous-titre_1_2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>
            <a:spLocks noGrp="1"/>
          </p:cNvSpPr>
          <p:nvPr>
            <p:ph type="subTitle" idx="1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TMIA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 TMA augmentée par l'IA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OCTO Technology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t>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Le RUN, là où la valeur se perd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Nos clients paient deux fois : une fois pour construire, une fois pour ne plus comprendre.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170432"/>
            <a:ext cx="3787902" cy="126415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6947" y="13258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7" y="132588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7" y="1307592"/>
            <a:ext cx="3092958" cy="460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Le produit tourne, plus personne ne l'explique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7" y="1878177"/>
            <a:ext cx="3458718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L'équipe de build est partie et les décisions d'architecture ne sont écrites nulle part.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8858" y="1170432"/>
            <a:ext cx="3787902" cy="126415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43450" y="13258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3450" y="132588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9210" y="1307592"/>
            <a:ext cx="3092958" cy="460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Chaque bug est traité comme un objet isolé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3450" y="1878177"/>
            <a:ext cx="3458718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Dix-sept tickets pour un seul défaut. Le même incident revient six mois plus tard.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2571750"/>
            <a:ext cx="3787902" cy="126415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6947" y="272719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7" y="272719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7" y="2708910"/>
            <a:ext cx="3092958" cy="460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La dette se discute, elle ne se mesure 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7" y="3279495"/>
            <a:ext cx="3458718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Elle est arbitrée à l'opinion la plus forte, jamais au coût réel des incidents.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8858" y="2571750"/>
            <a:ext cx="3787902" cy="126415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43450" y="272719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43450" y="272719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9210" y="2708910"/>
            <a:ext cx="3092958" cy="460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Les retours utilisateurs n'atteignent pas le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3450" y="3279495"/>
            <a:ext cx="3458718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Verbatims, tickets, analytics et dépôts vivent dans quatre outils que personne ne rapproche.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" y="4197553"/>
            <a:ext cx="7804404" cy="603046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" y="421584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" y="4197553"/>
            <a:ext cx="7438644" cy="60304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Outfit"/>
              </a:rPr>
              <a:t>Le RUN n'est pas un centre de coût à comprimer : c'est le seul endroit où l'on sait vraiment ce que le produit vaut.</a:t>
            </a:r>
            <a:r>
              <a:rPr sz="135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Pourquoi cette offre est possible maintenant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Deux ruptures se croisent : l'IA sait enfin lire un patrimoine, et le build agentique en produit plus vite qu'on ne le maîtrise.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170432"/>
            <a:ext cx="3787902" cy="2709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5236" y="1335024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" y="1335024"/>
            <a:ext cx="120700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RUPTURE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" y="1682496"/>
            <a:ext cx="3422142" cy="5285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E2356"/>
                </a:solidFill>
                <a:latin typeface="Outfit"/>
              </a:rPr>
              <a:t>L'IA sait lire un patrimoine entier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8" y="2403043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827" y="2339035"/>
            <a:ext cx="3257550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Code, logs, tickets, traces et documents : une seule matière analysable.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8" y="2886303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7" y="2822295"/>
            <a:ext cx="3257550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Une cartographie qui demandait six semaines se produit en quelques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8" y="336956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7" y="3305556"/>
            <a:ext cx="3257550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Chaque conclusion cite ses preuves : commits, appels d'API,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8858" y="1170432"/>
            <a:ext cx="3787902" cy="2709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61738" y="1335024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1738" y="1335024"/>
            <a:ext cx="120700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RUPTURE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1738" y="1682496"/>
            <a:ext cx="3422142" cy="5285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E2356"/>
                </a:solidFill>
                <a:latin typeface="Outfit"/>
              </a:rPr>
              <a:t>Le build agentique livre plus vite qu'il ne documente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89170" y="2403043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26330" y="2339035"/>
            <a:ext cx="3257550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Des produits fonctionnent sans que personne sache pourquoi.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89170" y="2886303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6330" y="2822295"/>
            <a:ext cx="3257550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Nouveaux objets à exploiter : agents, prompts, modèles, outils.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89170" y="3369564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6330" y="3305556"/>
            <a:ext cx="3257550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Le non-déterminisme rend inopérants les réflexes de RUN classiques.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" y="4197553"/>
            <a:ext cx="7804404" cy="603046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" y="421584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" y="4197553"/>
            <a:ext cx="7438644" cy="60304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Outfit"/>
              </a:rPr>
              <a:t>Nos clients vont accumuler ces produits en 2026. Personne ne leur vend encore la mise sous contrôle qui va avec.</a:t>
            </a:r>
            <a:r>
              <a:rPr sz="135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La promesse : des signaux dispersés, des actions traçables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Une seule chaîne, de ce que le système émet à ce que l'équipe en apprend.</a:t>
            </a:r>
          </a:p>
        </p:txBody>
      </p:sp>
      <p:sp>
        <p:nvSpPr>
          <p:cNvPr id="4" name="Chevron 3"/>
          <p:cNvSpPr/>
          <p:nvPr/>
        </p:nvSpPr>
        <p:spPr>
          <a:xfrm>
            <a:off x="562356" y="1170432"/>
            <a:ext cx="1262634" cy="457200"/>
          </a:xfrm>
          <a:prstGeom prst="chevron">
            <a:avLst/>
          </a:prstGeom>
          <a:solidFill>
            <a:srgbClr val="0E2356"/>
          </a:solidFill>
          <a:ln w="1524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" y="1298448"/>
            <a:ext cx="102489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Signal</a:t>
            </a:r>
          </a:p>
        </p:txBody>
      </p:sp>
      <p:sp>
        <p:nvSpPr>
          <p:cNvPr id="6" name="Chevron 5"/>
          <p:cNvSpPr/>
          <p:nvPr/>
        </p:nvSpPr>
        <p:spPr>
          <a:xfrm>
            <a:off x="1870710" y="1170432"/>
            <a:ext cx="1262634" cy="4572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0438" y="1298448"/>
            <a:ext cx="102489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Compréhension</a:t>
            </a:r>
          </a:p>
        </p:txBody>
      </p:sp>
      <p:sp>
        <p:nvSpPr>
          <p:cNvPr id="8" name="Chevron 7"/>
          <p:cNvSpPr/>
          <p:nvPr/>
        </p:nvSpPr>
        <p:spPr>
          <a:xfrm>
            <a:off x="3179064" y="1170432"/>
            <a:ext cx="1262634" cy="4572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8792" y="1298448"/>
            <a:ext cx="102489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Décision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4487418" y="1170432"/>
            <a:ext cx="1262634" cy="4572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7146" y="1298448"/>
            <a:ext cx="102489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Action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5795772" y="1170432"/>
            <a:ext cx="1262634" cy="4572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5500" y="1298448"/>
            <a:ext cx="102489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Validation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7104126" y="1170432"/>
            <a:ext cx="1262634" cy="457200"/>
          </a:xfrm>
          <a:prstGeom prst="chevron">
            <a:avLst/>
          </a:prstGeom>
          <a:solidFill>
            <a:srgbClr val="0E2356"/>
          </a:solidFill>
          <a:ln w="1524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13854" y="1298448"/>
            <a:ext cx="102489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Apprentissage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1865376"/>
            <a:ext cx="3787902" cy="22094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" y="2029968"/>
            <a:ext cx="342214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CE QUI ENTRE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" y="2359152"/>
            <a:ext cx="457200" cy="41148"/>
          </a:xfrm>
          <a:prstGeom prst="rect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2668" y="259232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7" y="2528316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Tickets de support et incidents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8" y="287967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7" y="2815666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Logs, alertes, traces d'agents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8" y="316702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7" y="3103016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Retours utilisateurs et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8" y="345437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7" y="3390366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Dépôts, pipelines et dépendances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8" y="374172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7" y="3677716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Documentation existante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8858" y="1865376"/>
            <a:ext cx="3787902" cy="22094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61738" y="2029968"/>
            <a:ext cx="342214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CE QUI EN SORT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61738" y="2359152"/>
            <a:ext cx="457200" cy="41148"/>
          </a:xfrm>
          <a:prstGeom prst="rect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89170" y="2592324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26330" y="2528316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 dossier de bug enrichi, dédoublonné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89170" y="2879674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26330" y="2815666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Une cause racine proposée et prouvée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89170" y="3167024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26330" y="3103016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Des tests de non-régression générés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89170" y="3454374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26330" y="3390366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 runbook et une documentation à jour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89170" y="3741724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26330" y="3677716"/>
            <a:ext cx="3257550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Une priorité argumentée, pas subie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2356" y="4197553"/>
            <a:ext cx="7804404" cy="603046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" y="421584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" y="4197553"/>
            <a:ext cx="7438644" cy="60304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Outfit"/>
              </a:rPr>
              <a:t>Chaque action reste attribuée à un humain qui décide. L'IA instruit le dossier, elle ne prend pas la main.</a:t>
            </a:r>
            <a:r>
              <a:rPr sz="135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L'offre en trois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Une porte d'entrée courte et chiffrable, puis deux prolongements que le client déclenche s'il a vu la valeur.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170432"/>
            <a:ext cx="2479548" cy="3746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6947" y="1316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7" y="131673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7" y="1700784"/>
            <a:ext cx="215036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0E2356"/>
                </a:solidFill>
                <a:latin typeface="Outfit"/>
              </a:rPr>
              <a:t>RUN Readiness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7" y="2048256"/>
            <a:ext cx="1335024" cy="219456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7" y="2048256"/>
            <a:ext cx="1335024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2 à 4 semaines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" y="2459736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39" y="2395728"/>
            <a:ext cx="1985771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Diagnostic de mise sous contrôle d'un produit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" y="2924708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39" y="2860700"/>
            <a:ext cx="1985771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Cartographie construite sur le code réel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" y="3389680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39" y="3325672"/>
            <a:ext cx="1985771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Score de maturité RUN sur 10 domaines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" y="3854653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39" y="3790645"/>
            <a:ext cx="1985771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Backlog de sécurisation priorisé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7" y="4328769"/>
            <a:ext cx="215036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7" y="4411065"/>
            <a:ext cx="2150364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E2356"/>
                </a:solidFill>
                <a:latin typeface="Outfit"/>
              </a:rPr>
              <a:t>Livrable : un état des lieux opposable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24783" y="1170432"/>
            <a:ext cx="2479548" cy="3746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89376" y="1316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9376" y="131673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M2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9376" y="1700784"/>
            <a:ext cx="215036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0E2356"/>
                </a:solidFill>
                <a:latin typeface="Outfit"/>
              </a:rPr>
              <a:t>Mise sous contrôle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9376" y="2048256"/>
            <a:ext cx="1335024" cy="219456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9376" y="2048256"/>
            <a:ext cx="1335024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3 à 6 mois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6807" y="2459736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53968" y="2395728"/>
            <a:ext cx="1985771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Documentation vivante avec niveau de confiance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6807" y="2924708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53968" y="2860700"/>
            <a:ext cx="1985771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Runbooks et procédures de rollback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16807" y="3389680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53968" y="3325672"/>
            <a:ext cx="1985771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Observabilité des parcours critiques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16807" y="3854653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53968" y="3790645"/>
            <a:ext cx="1985771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Baseline de dette et d'évaluation des agents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9376" y="4328769"/>
            <a:ext cx="215036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9376" y="4411065"/>
            <a:ext cx="2150364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E2356"/>
                </a:solidFill>
                <a:latin typeface="Outfit"/>
              </a:rPr>
              <a:t>Livrable : un produit reprenable sans son équipe de build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87212" y="1170432"/>
            <a:ext cx="2479548" cy="3746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051804" y="1316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51804" y="131673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M3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1804" y="1700784"/>
            <a:ext cx="215036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0E2356"/>
                </a:solidFill>
                <a:latin typeface="Outfit"/>
              </a:rPr>
              <a:t>RUN augmenté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51804" y="2048256"/>
            <a:ext cx="1335024" cy="219456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51804" y="2048256"/>
            <a:ext cx="1335024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au forfait ou en régie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79236" y="2459736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6396" y="2395728"/>
            <a:ext cx="1985771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Triage et déduplication des signaux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79236" y="2924708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6396" y="2860700"/>
            <a:ext cx="1985771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Investigation et reproduction assistées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79236" y="3389680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6396" y="3325672"/>
            <a:ext cx="1985771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Documentation mise à jour par la résolution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79236" y="3854653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6396" y="3790645"/>
            <a:ext cx="1985771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AgentOps pour les produits agentiques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51804" y="4328769"/>
            <a:ext cx="215036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51804" y="4411065"/>
            <a:ext cx="2150364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0E2356"/>
                </a:solidFill>
                <a:latin typeface="Outfit"/>
              </a:rPr>
              <a:t>Livrable : un RUN qui apprend de chaque incident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La porte d'entrée : le RUN Readiness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Dix questions auxquelles presque aucun de nos clients ne sait répondre sur son propre produit.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" y="1170432"/>
            <a:ext cx="4617720" cy="298551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" y="1216152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7108" y="1216152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Composants et flux critiques identifiés 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" y="1514703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7108" y="1514703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Chaque composant a-t-il un propriétaire ?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" y="1767535"/>
            <a:ext cx="4617720" cy="298551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" y="1813255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Observabilité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7108" y="1813255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Parcours critiques sous monitoring 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" y="2111806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7108" y="2111806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Couverture de tests sur le critique 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" y="2364638"/>
            <a:ext cx="4617720" cy="298551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" y="2410358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7108" y="2410358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Exploitation et rollback documentés 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" y="2708910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Sécurité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7108" y="2708910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Secrets et dépendances maîtrisés 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" y="2961741"/>
            <a:ext cx="4617720" cy="298551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" y="3007461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Dette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7108" y="3007461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Risques techniques connus et chiffrés 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" y="3306013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IA et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7108" y="3306013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Modèles, prompts et outils inventoriés 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" y="3558844"/>
            <a:ext cx="4617720" cy="298551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" y="3604564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Continuité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07108" y="3604564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Reprise possible sans l'équipe de build 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" y="3903116"/>
            <a:ext cx="1298448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Gouvernance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7108" y="3903116"/>
            <a:ext cx="3044952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Niveaux d'autonomie explicites 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26380" y="1170432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26380" y="1170432"/>
            <a:ext cx="157276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2 À 4 SEMAINES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26380" y="1572768"/>
            <a:ext cx="3040380" cy="22094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9260" y="1737360"/>
            <a:ext cx="26746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CE QUE LE CLIENT REPART AVEC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09260" y="2066543"/>
            <a:ext cx="457200" cy="41148"/>
          </a:xfrm>
          <a:prstGeom prst="rect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536692" y="2299715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73852" y="2235708"/>
            <a:ext cx="251002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 score de maturité RUN par domaine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36692" y="2587066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73852" y="2523058"/>
            <a:ext cx="251002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La cartographie du produit, sourcée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36692" y="2874416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73852" y="2810408"/>
            <a:ext cx="251002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La liste explicite des zones inconnues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36692" y="3161766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73852" y="3097758"/>
            <a:ext cx="251002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Un backlog de sécurisation priorisé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36692" y="3449116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73852" y="3385108"/>
            <a:ext cx="2510028" cy="232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Les risques bloquants avant production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2356" y="4283964"/>
            <a:ext cx="7804404" cy="402336"/>
          </a:xfrm>
          <a:prstGeom prst="roundRect">
            <a:avLst>
              <a:gd name="adj" fmla="val 12000"/>
            </a:avLst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2356" y="4283964"/>
            <a:ext cx="54864" cy="402336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8" y="4283964"/>
            <a:ext cx="7292340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1C2330"/>
                </a:solidFill>
                <a:latin typeface="Outfit"/>
              </a:rPr>
              <a:t>Un diagnostic court, à prix ferme, qui ouvre la conversation sur tout le reste.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Ce qui nous distingue : la preuve, pas la fluidité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Une documentation élégante et fausse coûte plus cher que pas de documentation du tout.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170432"/>
            <a:ext cx="3520440" cy="257312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5236" y="1335024"/>
            <a:ext cx="2395728" cy="23774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" y="1335024"/>
            <a:ext cx="239572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SANS CETTE EXIGENCE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" y="171907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586586"/>
                </a:solidFill>
                <a:latin typeface="Outfit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" y="1719072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Une réponse plausible </a:t>
            </a:r>
            <a:r>
              <a:rPr sz="1050">
                <a:solidFill>
                  <a:srgbClr val="3E4F78"/>
                </a:solidFill>
                <a:latin typeface="Outfit"/>
              </a:rPr>
              <a:t>que personne ne peut vérifier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" y="220233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586586"/>
                </a:solidFill>
                <a:latin typeface="Outfit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" y="2202332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Une documentation lisse </a:t>
            </a:r>
            <a:r>
              <a:rPr sz="1050">
                <a:solidFill>
                  <a:srgbClr val="3E4F78"/>
                </a:solidFill>
                <a:latin typeface="Outfit"/>
              </a:rPr>
              <a:t>dont on ignore la date et la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" y="268559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586586"/>
                </a:solidFill>
                <a:latin typeface="Outfit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" y="2685592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Une contradiction </a:t>
            </a:r>
            <a:r>
              <a:rPr sz="1050">
                <a:solidFill>
                  <a:srgbClr val="3E4F78"/>
                </a:solidFill>
                <a:latin typeface="Outfit"/>
              </a:rPr>
              <a:t>silencieusement arbitrée par le modèle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" y="316885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586586"/>
                </a:solidFill>
                <a:latin typeface="Outfit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" y="3168853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Une recommandation </a:t>
            </a:r>
            <a:r>
              <a:rPr sz="1050">
                <a:solidFill>
                  <a:srgbClr val="3E4F78"/>
                </a:solidFill>
                <a:latin typeface="Outfit"/>
              </a:rPr>
              <a:t>sans responsable ni niveau de confiance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170432"/>
            <a:ext cx="3520440" cy="257312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335024"/>
            <a:ext cx="2395728" cy="23774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335024"/>
            <a:ext cx="239572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AVEC L'EXIGENCE DE PREUVE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71907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0D2DD"/>
                </a:solidFill>
                <a:latin typeface="Outfi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719072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Chaque conclusion cite ses sources </a:t>
            </a:r>
            <a:r>
              <a:rPr sz="1050">
                <a:solidFill>
                  <a:srgbClr val="3E4F78"/>
                </a:solidFill>
                <a:latin typeface="Outfit"/>
              </a:rPr>
              <a:t>commits, appels d'API,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20233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0D2DD"/>
                </a:solidFill>
                <a:latin typeface="Outfit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202332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Tout élément porte sa date </a:t>
            </a:r>
            <a:r>
              <a:rPr sz="1050">
                <a:solidFill>
                  <a:srgbClr val="3E4F78"/>
                </a:solidFill>
                <a:latin typeface="Outfit"/>
              </a:rPr>
              <a:t>de dernière vérification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68559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0D2DD"/>
                </a:solidFill>
                <a:latin typeface="Outfi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685592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Les contradictions sont remontées </a:t>
            </a:r>
            <a:r>
              <a:rPr sz="1050">
                <a:solidFill>
                  <a:srgbClr val="3E4F78"/>
                </a:solidFill>
                <a:latin typeface="Outfit"/>
              </a:rPr>
              <a:t>jamais tranchées sans un humain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16885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0D2DD"/>
                </a:solidFill>
                <a:latin typeface="Outfit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168853"/>
            <a:ext cx="2971800" cy="410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0E2356"/>
                </a:solidFill>
                <a:latin typeface="Outfit"/>
              </a:rPr>
              <a:t>Chaque recommandation nomme </a:t>
            </a:r>
            <a:r>
              <a:rPr sz="1050">
                <a:solidFill>
                  <a:srgbClr val="3E4F78"/>
                </a:solidFill>
                <a:latin typeface="Outfit"/>
              </a:rPr>
              <a:t>sa confiance et son valideur</a:t>
            </a:r>
          </a:p>
        </p:txBody>
      </p:sp>
      <p:sp>
        <p:nvSpPr>
          <p:cNvPr id="26" name="Chevron 25"/>
          <p:cNvSpPr/>
          <p:nvPr/>
        </p:nvSpPr>
        <p:spPr>
          <a:xfrm>
            <a:off x="4224528" y="2219248"/>
            <a:ext cx="530352" cy="475488"/>
          </a:xfrm>
          <a:prstGeom prst="chevron">
            <a:avLst/>
          </a:prstGeom>
          <a:solidFill>
            <a:srgbClr val="FFFFFF"/>
          </a:solidFill>
          <a:ln w="2540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2356" y="4214469"/>
            <a:ext cx="7804404" cy="586130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" y="4232757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" y="4214469"/>
            <a:ext cx="7438644" cy="58613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utfit"/>
              </a:rPr>
              <a:t>Le service Billing semble responsable du calcul des remises — confiance 82 %, sur six appels d'API et trois tests ; une page Confluence plus ancienne dit le contraire.</a:t>
            </a:r>
            <a:r>
              <a:rPr sz="130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Le terrain où nous sommes seuls : les produits agentiques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Ce que nos clients construisent en 2026 avec des agents, ils devront l'exploiter en 2027.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170432"/>
            <a:ext cx="2479548" cy="2916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6947" y="1335024"/>
            <a:ext cx="21503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NOUVEAUX OBJETS À EXPLOITER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26947" y="1664207"/>
            <a:ext cx="457200" cy="41148"/>
          </a:xfrm>
          <a:prstGeom prst="rect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4380" y="1897379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39" y="1833372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Agents, prompts et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" y="2329891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39" y="2265883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Modèles et outils accessibles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" y="2762402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39" y="2698394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Mémoires et bases de connaissances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" y="3194913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39" y="3130905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Traces de raisonnement et d'action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" y="362742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39" y="3563416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Jeux d'évaluation et permissions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24783" y="1170432"/>
            <a:ext cx="2479548" cy="2916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9376" y="1335024"/>
            <a:ext cx="21503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RISQUES QUE LE RUN CLASSIQUE IGNORE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9376" y="1664207"/>
            <a:ext cx="457200" cy="41148"/>
          </a:xfrm>
          <a:prstGeom prst="rect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16807" y="1897379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3968" y="1833372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Dérive après un changement de modèle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16807" y="2329891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53968" y="2265883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Régression après une retouche de prompt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16807" y="2762402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3968" y="2698394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Boucles, erreurs d'outil, dépassements de coût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6807" y="3194913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53968" y="3130905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Exécutions impossibles à reproduire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6807" y="362742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53968" y="3563416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Code généré vite, peu maintenable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87212" y="1170432"/>
            <a:ext cx="2479548" cy="2916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1804" y="1335024"/>
            <a:ext cx="21503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CE QUE NOUS METTONS EN PLACE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1804" y="1664207"/>
            <a:ext cx="457200" cy="41148"/>
          </a:xfrm>
          <a:prstGeom prst="rect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79236" y="1897379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6396" y="1833372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Taux de réussite par type de tâche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79236" y="2329891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6396" y="2265883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Taux d'intervention humaine et d'abandon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79236" y="2762402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6396" y="2698394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Coût par résultat, latence par étape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79236" y="3194913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6396" y="3130905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Détection des régressions après changement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79236" y="3627424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6396" y="3563416"/>
            <a:ext cx="1985771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Niveaux d'autonomie explicites et réversibles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2356" y="4197553"/>
            <a:ext cx="7804404" cy="603046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" y="421584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" y="4197553"/>
            <a:ext cx="7438644" cy="60304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Outfit"/>
              </a:rPr>
              <a:t>Un seul modèle pour le microservice classique et pour l'agent : c'est ce qui nous évite de vendre deux offres qui ne se parlent pas.</a:t>
            </a:r>
            <a:r>
              <a:rPr sz="135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La trajectoire : trois incréments, l'autonomie en dernier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On ne commence jamais par l'agent qui corrige tout seul — on commence par celui qui comprend.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225296"/>
            <a:ext cx="2467356" cy="3508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708660" y="1371600"/>
            <a:ext cx="2174748" cy="365760"/>
          </a:xfrm>
          <a:prstGeom prst="chevron">
            <a:avLst/>
          </a:prstGeom>
          <a:solidFill>
            <a:srgbClr val="0E2356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" y="1453896"/>
            <a:ext cx="18638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Observer et comprendre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" y="14081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" y="140817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" y="1828800"/>
            <a:ext cx="1115568" cy="219456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" y="1828800"/>
            <a:ext cx="11155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Incrément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" y="22219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" y="2157984"/>
            <a:ext cx="201015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Connecter et centraliser les signaux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" y="268696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" y="2622956"/>
            <a:ext cx="201015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Qualifier, dédoublonner, cartographier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" y="3151936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" y="3087928"/>
            <a:ext cx="201015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Identifier les manques et recommander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" y="3644341"/>
            <a:ext cx="2174748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0E2356"/>
                </a:solidFill>
                <a:latin typeface="Outfit"/>
              </a:rPr>
              <a:t>Aucune action automatique sensible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" y="4164177"/>
            <a:ext cx="2174748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" y="4237329"/>
            <a:ext cx="217474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900" b="0" i="1">
                <a:solidFill>
                  <a:srgbClr val="586586"/>
                </a:solidFill>
                <a:latin typeface="Outfit"/>
              </a:rPr>
              <a:t>Autonomie 0-1 : observation et recommandation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0880" y="1225296"/>
            <a:ext cx="2467356" cy="3508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3377184" y="1371600"/>
            <a:ext cx="2174748" cy="365760"/>
          </a:xfrm>
          <a:prstGeom prst="chevron">
            <a:avLst/>
          </a:prstGeom>
          <a:solidFill>
            <a:srgbClr val="0E2356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0064" y="1453896"/>
            <a:ext cx="18638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Préparer et assister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67456" y="14081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7456" y="140817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77184" y="1828800"/>
            <a:ext cx="1115568" cy="219456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77184" y="1828800"/>
            <a:ext cx="11155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Incrément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4616" y="22219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1776" y="2157984"/>
            <a:ext cx="201015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Tickets, reproductions et tests générés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04616" y="268696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1776" y="2622956"/>
            <a:ext cx="201015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Pull requests et réponses préparées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4616" y="3151936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1776" y="3087928"/>
            <a:ext cx="201015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Documentation mise à jour sous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77184" y="3644341"/>
            <a:ext cx="2174748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0E2356"/>
                </a:solidFill>
                <a:latin typeface="Outfit"/>
              </a:rPr>
              <a:t>Tout est préparé, rien n'est appliqué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77184" y="4164177"/>
            <a:ext cx="2174748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77184" y="4237329"/>
            <a:ext cx="217474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900" b="0" i="1">
                <a:solidFill>
                  <a:srgbClr val="586586"/>
                </a:solidFill>
                <a:latin typeface="Outfit"/>
              </a:rPr>
              <a:t>Autonomie 2-3 : préparation puis approbation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9404" y="1225296"/>
            <a:ext cx="2467356" cy="3508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evron 36"/>
          <p:cNvSpPr/>
          <p:nvPr/>
        </p:nvSpPr>
        <p:spPr>
          <a:xfrm>
            <a:off x="6045708" y="1371600"/>
            <a:ext cx="2174748" cy="365760"/>
          </a:xfrm>
          <a:prstGeom prst="chevron">
            <a:avLst/>
          </a:prstGeom>
          <a:solidFill>
            <a:srgbClr val="0E2356"/>
          </a:solidFill>
          <a:ln w="12700">
            <a:solidFill>
              <a:srgbClr val="0E2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8588" y="1453896"/>
            <a:ext cx="18638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Agir sous contrôle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35980" y="14081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35980" y="140817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45708" y="1828800"/>
            <a:ext cx="1115568" cy="219456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45708" y="1828800"/>
            <a:ext cx="11155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E4F78"/>
                </a:solidFill>
                <a:latin typeface="Outfit"/>
              </a:rPr>
              <a:t>Incrément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73140" y="22219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0300" y="2157984"/>
            <a:ext cx="201015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Remédiations connues et réversibles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73140" y="2686964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0300" y="2622956"/>
            <a:ext cx="201015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Surveillance post-déploiement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73140" y="3151936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0300" y="3087928"/>
            <a:ext cx="2010156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Escalade si la confiance est insuffisante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45708" y="3644341"/>
            <a:ext cx="2174748" cy="410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0E2356"/>
                </a:solidFill>
                <a:latin typeface="Outfit"/>
              </a:rPr>
              <a:t>Périmètre restreint, rollback obligatoire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45708" y="4164177"/>
            <a:ext cx="2174748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45708" y="4237329"/>
            <a:ext cx="2174748" cy="3593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900" b="0" i="1">
                <a:solidFill>
                  <a:srgbClr val="586586"/>
                </a:solidFill>
                <a:latin typeface="Outfit"/>
              </a:rPr>
              <a:t>Autonomie 4 : encadrée et surveillée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Comment cette offre se vend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Une offre ne tient que si l'on sait à qui l'adresser, sur quel événement, et ce qu'on met sur le devis.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353769"/>
            <a:ext cx="3787902" cy="1549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6947" y="1490929"/>
            <a:ext cx="345871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À QUI</a:t>
            </a:r>
          </a:p>
        </p:txBody>
      </p:sp>
      <p:sp>
        <p:nvSpPr>
          <p:cNvPr id="6" name="Rectangle 5"/>
          <p:cNvSpPr/>
          <p:nvPr/>
        </p:nvSpPr>
        <p:spPr>
          <a:xfrm>
            <a:off x="726947" y="1820113"/>
            <a:ext cx="457200" cy="41148"/>
          </a:xfrm>
          <a:prstGeom prst="rect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4380" y="2053285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39" y="1989277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DSI et CTO au patrimoine applicatif chargé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" y="232440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39" y="2260396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Directions produit héritant d'un build externalisé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" y="259552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39" y="2531516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Responsables d'exploitation face à des produits 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8858" y="1353769"/>
            <a:ext cx="3787902" cy="1549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3450" y="1490929"/>
            <a:ext cx="345871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SUR QUEL DÉCLENCHEUR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43450" y="1820113"/>
            <a:ext cx="457200" cy="41148"/>
          </a:xfrm>
          <a:prstGeom prst="rect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70882" y="2053285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8042" y="1989277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Fin de build ou transfert à une autre équipe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70882" y="232440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8042" y="2260396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Incident majeur dont personne ne retrouve la cause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70882" y="2595524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8042" y="2531516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Premier produit agentique qui passe en production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" y="3067811"/>
            <a:ext cx="3787902" cy="1549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7" y="3204971"/>
            <a:ext cx="345871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  <a:latin typeface="Outfit"/>
              </a:rPr>
              <a:t>CE QU'ON MET SUR LE DEVIS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7" y="3534155"/>
            <a:ext cx="457200" cy="41148"/>
          </a:xfrm>
          <a:prstGeom prst="rect">
            <a:avLst/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4380" y="3767327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39" y="3703319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Module 1 : forfait ferme — à chiffrer avec vous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" y="4038447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39" y="3974439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Modules 2 et 3 : au forfait ou en régie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" y="4309567"/>
            <a:ext cx="54864" cy="54864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39" y="4245559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Profils : tech lead, architecte, expert 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8858" y="3067811"/>
            <a:ext cx="3787902" cy="1549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3450" y="3204971"/>
            <a:ext cx="345871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0D2DD"/>
                </a:solidFill>
                <a:latin typeface="Outfit"/>
              </a:rPr>
              <a:t>CE QU'IL NOUS MANQUE POUR VENDRE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43450" y="3534155"/>
            <a:ext cx="457200" cy="41148"/>
          </a:xfrm>
          <a:prstGeom prst="rect">
            <a:avLst/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70882" y="3767327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8042" y="3703319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Une référence client, même anonymisée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70882" y="4038447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8042" y="3974439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Le chiffrage ferme du module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70882" y="4309567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08042" y="4245559"/>
            <a:ext cx="3294126" cy="2071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E4F78"/>
                </a:solidFill>
                <a:latin typeface="Outfit"/>
              </a:rPr>
              <a:t>Un exemple de livrable à montrer en rendez-vous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E2356"/>
                </a:solidFill>
              </a:rPr>
              <a:t>Ce que je vous demande de trancher aujourd'hui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786384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Trois décisions suffisent à savoir si la TMIA devient une offre ou reste une note.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577111"/>
            <a:ext cx="2479548" cy="203088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6947" y="17234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7" y="17234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7" y="2125751"/>
            <a:ext cx="2150364" cy="460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L'offre est-elle vendable en l'état 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7" y="2696337"/>
            <a:ext cx="2150364" cy="765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Le RUN Readiness Check tient-il comme porte d'entrée face à un acheteur, ou faut-il l'adosser à une offre existante 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4783" y="1577111"/>
            <a:ext cx="2479548" cy="203088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0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9376" y="17234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9376" y="17234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9376" y="2125751"/>
            <a:ext cx="2150364" cy="460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Sur quel compte la tester en premier 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9376" y="2696337"/>
            <a:ext cx="2150364" cy="765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Nous avons besoin d'un client pilote pour transformer le module 1 en référence montrable.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87212" y="1577111"/>
            <a:ext cx="2479548" cy="203088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51804" y="17234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1804" y="17234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1804" y="2125751"/>
            <a:ext cx="2150364" cy="460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E2356"/>
                </a:solidFill>
                <a:latin typeface="Outfit"/>
              </a:rPr>
              <a:t>Quel chiffrage pour le module 1 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1804" y="2696337"/>
            <a:ext cx="2150364" cy="765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E4F78"/>
                </a:solidFill>
                <a:latin typeface="Outfit"/>
              </a:rPr>
              <a:t>Prix ferme, durée et profils : c'est la seule case que je ne peux pas remplir sans vous.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" y="4197553"/>
            <a:ext cx="7804404" cy="603046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" y="421584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" y="4197553"/>
            <a:ext cx="7438644" cy="60304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Outfit"/>
              </a:rPr>
              <a:t>Prochain jalon proposé : un chiffrage ferme du module 1 et un compte pilote identifié d'ici deux semaines.</a:t>
            </a:r>
            <a:r>
              <a:rPr sz="1350" b="1">
                <a:solidFill>
                  <a:srgbClr val="00D2DD"/>
                </a:solidFill>
                <a:latin typeface="Outfit"/>
              </a:rPr>
              <a:t>  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On-screen Show (16:9)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Outfit Light</vt:lpstr>
      <vt:lpstr>Century Gothic</vt:lpstr>
      <vt:lpstr>Helvetica Neue Light</vt:lpstr>
      <vt:lpstr>Outfit</vt:lpstr>
      <vt:lpstr>Outfit Medium</vt:lpstr>
      <vt:lpstr>Outfit SemiBold</vt:lpstr>
      <vt:lpstr>2026 - OCTO</vt:lpstr>
      <vt:lpstr>OCTO Technology</vt:lpstr>
      <vt:lpstr>Sommaire</vt:lpstr>
      <vt:lpstr>Contexte</vt:lpstr>
      <vt:lpstr>xxx</vt:lpstr>
      <vt:lpstr>Notre approche</vt:lpstr>
      <vt:lpstr>Notre approche </vt:lpstr>
      <vt:lpstr>Une approche contextualisée pour un premier déploiement aligné </vt:lpstr>
      <vt:lpstr>Planning des interventions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Camus, Claude</cp:lastModifiedBy>
  <cp:revision>1</cp:revision>
  <dcterms:modified xsi:type="dcterms:W3CDTF">2026-06-19T16:03:54Z</dcterms:modified>
</cp:coreProperties>
</file>