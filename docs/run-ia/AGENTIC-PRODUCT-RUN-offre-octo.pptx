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1"/>
  </p:notesMasterIdLst>
  <p:sldIdLst>
    <p:sldId id="256" r:id="rId10"/>
    <p:sldId id="257" r:id="rId9"/>
    <p:sldId id="258" r:id="rId8"/>
    <p:sldId id="259" r:id="rId7"/>
    <p:sldId id="260" r:id="rId6"/>
    <p:sldId id="261" r:id="rId5"/>
    <p:sldId id="262" r:id="rId4"/>
    <p:sldId id="263" r:id="rId3"/>
    <p:sldId id="264" r:id="rId2"/>
    <p:sldId id="265" r:id="rId32"/>
    <p:sldId id="266" r:id="rId33"/>
    <p:sldId id="267" r:id="rId34"/>
    <p:sldId id="268" r:id="rId35"/>
    <p:sldId id="269" r:id="rId36"/>
    <p:sldId id="270" r:id="rId37"/>
    <p:sldId id="271" r:id="rId38"/>
    <p:sldId id="272" r:id="rId39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2"/>
      <p:bold r:id="rId13"/>
      <p:italic r:id="rId14"/>
      <p:boldItalic r:id="rId15"/>
    </p:embeddedFont>
    <p:embeddedFont>
      <p:font typeface="Helvetica Neue Light" panose="020B0604020202020204" charset="0"/>
      <p:regular r:id="rId16"/>
      <p:bold r:id="rId17"/>
      <p:italic r:id="rId18"/>
      <p:boldItalic r:id="rId19"/>
    </p:embeddedFont>
    <p:embeddedFont>
      <p:font typeface="Outfit" panose="020B0604020202020204" charset="0"/>
      <p:regular r:id="rId20"/>
      <p:bold r:id="rId21"/>
    </p:embeddedFont>
    <p:embeddedFont>
      <p:font typeface="Outfit Light" panose="020B0604020202020204" charset="0"/>
      <p:regular r:id="rId22"/>
      <p:bold r:id="rId23"/>
    </p:embeddedFont>
    <p:embeddedFont>
      <p:font typeface="Outfit Medium" panose="020B0604020202020204" charset="0"/>
      <p:regular r:id="rId24"/>
      <p:bold r:id="rId25"/>
    </p:embeddedFont>
    <p:embeddedFont>
      <p:font typeface="Outfit SemiBold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20" Type="http://schemas.openxmlformats.org/officeDocument/2006/relationships/font" Target="fonts/font9.fntdata"/><Relationship Id="rId21" Type="http://schemas.openxmlformats.org/officeDocument/2006/relationships/font" Target="fonts/font10.fntdata"/><Relationship Id="rId22" Type="http://schemas.openxmlformats.org/officeDocument/2006/relationships/font" Target="fonts/font11.fntdata"/><Relationship Id="rId23" Type="http://schemas.openxmlformats.org/officeDocument/2006/relationships/font" Target="fonts/font12.fntdata"/><Relationship Id="rId24" Type="http://schemas.openxmlformats.org/officeDocument/2006/relationships/font" Target="fonts/font13.fntdata"/><Relationship Id="rId25" Type="http://schemas.openxmlformats.org/officeDocument/2006/relationships/font" Target="fonts/font14.fntdata"/><Relationship Id="rId26" Type="http://schemas.openxmlformats.org/officeDocument/2006/relationships/font" Target="fonts/font15.fntdata"/><Relationship Id="rId27" Type="http://schemas.openxmlformats.org/officeDocument/2006/relationships/font" Target="fonts/font16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0.xml"/><Relationship Id="rId33" Type="http://schemas.openxmlformats.org/officeDocument/2006/relationships/slide" Target="slides/slide11.xml"/><Relationship Id="rId34" Type="http://schemas.openxmlformats.org/officeDocument/2006/relationships/slide" Target="slides/slide12.xml"/><Relationship Id="rId35" Type="http://schemas.openxmlformats.org/officeDocument/2006/relationships/slide" Target="slides/slide13.xml"/><Relationship Id="rId36" Type="http://schemas.openxmlformats.org/officeDocument/2006/relationships/slide" Target="slides/slide14.xml"/><Relationship Id="rId37" Type="http://schemas.openxmlformats.org/officeDocument/2006/relationships/slide" Target="slides/slide15.xml"/><Relationship Id="rId38" Type="http://schemas.openxmlformats.org/officeDocument/2006/relationships/slide" Target="slides/slide16.xml"/><Relationship Id="rId39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sz="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sz="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sz="7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6 - Slide vide">
  <p:cSld name="06 - Slide vid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2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20" name="Google Shape;20;p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3" name="Google Shape;23;p2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24" name="Google Shape;24;p2"/>
          <p:cNvCxnSpPr>
            <a:stCxn id="25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2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7" name="Google Shape;27;p2"/>
          <p:cNvCxnSpPr>
            <a:endCxn id="26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2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" name="Google Shape;25;p2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9" name="Google Shape;29;p2"/>
          <p:cNvCxnSpPr>
            <a:stCxn id="28" idx="2"/>
            <a:endCxn id="26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- Titre, sous-titre et contenu">
  <p:cSld name="01 - Titre, sous-titre et contenu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2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0 - Chapitre [1]">
  <p:cSld name="50 - Chapitre [1]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457625" y="1226750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9" name="Google Shape;39;p4"/>
          <p:cNvGrpSpPr/>
          <p:nvPr/>
        </p:nvGrpSpPr>
        <p:grpSpPr>
          <a:xfrm>
            <a:off x="3171776" y="1360130"/>
            <a:ext cx="170063" cy="166438"/>
            <a:chOff x="6838242" y="518225"/>
            <a:chExt cx="1247708" cy="1221114"/>
          </a:xfrm>
        </p:grpSpPr>
        <p:sp>
          <p:nvSpPr>
            <p:cNvPr id="40" name="Google Shape;40;p4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43" name="Google Shape;43;p4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44" name="Google Shape;44;p4"/>
          <p:cNvCxnSpPr>
            <a:stCxn id="45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4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7" name="Google Shape;47;p4"/>
          <p:cNvCxnSpPr>
            <a:endCxn id="46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4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" name="Google Shape;45;p4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9" name="Google Shape;49;p4"/>
          <p:cNvCxnSpPr>
            <a:stCxn id="48" idx="2"/>
            <a:endCxn id="46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4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" name="Google Shape;51;p4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2277075" y="23278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" name="Google Shape;53;p4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4" name="Google Shape;54;p4"/>
          <p:cNvSpPr/>
          <p:nvPr/>
        </p:nvSpPr>
        <p:spPr>
          <a:xfrm rot="-5400000">
            <a:off x="3014525" y="1216850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799">
          <p15:clr>
            <a:srgbClr val="FA7B17"/>
          </p15:clr>
        </p15:guide>
        <p15:guide id="2" pos="562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- Titre et contenu">
  <p:cSld name="02 - Titre et contenu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>
            <a:spLocks noGrp="1"/>
          </p:cNvSpPr>
          <p:nvPr>
            <p:ph type="body" idx="1"/>
          </p:nvPr>
        </p:nvSpPr>
        <p:spPr>
          <a:xfrm>
            <a:off x="578425" y="817575"/>
            <a:ext cx="79290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">
  <p:cSld name="03 - Titre et sous-titr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>
            <a:spLocks noGrp="1"/>
          </p:cNvSpPr>
          <p:nvPr>
            <p:ph type="subTitle" idx="1"/>
          </p:nvPr>
        </p:nvSpPr>
        <p:spPr>
          <a:xfrm>
            <a:off x="571500" y="7791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- Titre seul">
  <p:cSld name="04 - Titre seu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- Focus">
  <p:cSld name="05 - Focus">
    <p:bg>
      <p:bgPr>
        <a:solidFill>
          <a:schemeClr val="dk2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185625" y="210050"/>
            <a:ext cx="190500" cy="17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276300" y="292125"/>
            <a:ext cx="8591400" cy="4571700"/>
          </a:xfrm>
          <a:prstGeom prst="roundRect">
            <a:avLst>
              <a:gd name="adj" fmla="val 355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" name="Google Shape;66;p8"/>
          <p:cNvSpPr/>
          <p:nvPr/>
        </p:nvSpPr>
        <p:spPr>
          <a:xfrm rot="-5400000">
            <a:off x="-1143306" y="34836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67" name="Google Shape;67;p8"/>
          <p:cNvSpPr txBox="1">
            <a:spLocks noGrp="1"/>
          </p:cNvSpPr>
          <p:nvPr>
            <p:ph type="subTitle" idx="1"/>
          </p:nvPr>
        </p:nvSpPr>
        <p:spPr>
          <a:xfrm>
            <a:off x="571500" y="778000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563300" y="361275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2"/>
          </p:nvPr>
        </p:nvSpPr>
        <p:spPr>
          <a:xfrm>
            <a:off x="571500" y="1273150"/>
            <a:ext cx="7884000" cy="3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70" name="Google Shape;70;p8"/>
          <p:cNvGrpSpPr/>
          <p:nvPr/>
        </p:nvGrpSpPr>
        <p:grpSpPr>
          <a:xfrm>
            <a:off x="89501" y="125680"/>
            <a:ext cx="8793074" cy="4738970"/>
            <a:chOff x="89501" y="125680"/>
            <a:chExt cx="8793074" cy="4738970"/>
          </a:xfrm>
        </p:grpSpPr>
        <p:grpSp>
          <p:nvGrpSpPr>
            <p:cNvPr id="71" name="Google Shape;71;p8"/>
            <p:cNvGrpSpPr/>
            <p:nvPr/>
          </p:nvGrpSpPr>
          <p:grpSpPr>
            <a:xfrm>
              <a:off x="89501" y="125680"/>
              <a:ext cx="170063" cy="166438"/>
              <a:chOff x="6838242" y="518225"/>
              <a:chExt cx="1247708" cy="1221114"/>
            </a:xfrm>
          </p:grpSpPr>
          <p:sp>
            <p:nvSpPr>
              <p:cNvPr id="72" name="Google Shape;72;p8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3" name="Google Shape;73;p8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4" name="Google Shape;74;p8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75" name="Google Shape;75;p8"/>
            <p:cNvSpPr/>
            <p:nvPr/>
          </p:nvSpPr>
          <p:spPr>
            <a:xfrm>
              <a:off x="8441325" y="4438950"/>
              <a:ext cx="425700" cy="425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grpSp>
          <p:nvGrpSpPr>
            <p:cNvPr id="76" name="Google Shape;76;p8"/>
            <p:cNvGrpSpPr/>
            <p:nvPr/>
          </p:nvGrpSpPr>
          <p:grpSpPr>
            <a:xfrm>
              <a:off x="8383075" y="4575725"/>
              <a:ext cx="499500" cy="228600"/>
              <a:chOff x="8383075" y="4575725"/>
              <a:chExt cx="499500" cy="228600"/>
            </a:xfrm>
          </p:grpSpPr>
          <p:sp>
            <p:nvSpPr>
              <p:cNvPr id="77" name="Google Shape;77;p8"/>
              <p:cNvSpPr txBox="1"/>
              <p:nvPr/>
            </p:nvSpPr>
            <p:spPr>
              <a:xfrm>
                <a:off x="8383075" y="45757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78" name="Google Shape;78;p8"/>
              <p:cNvCxnSpPr>
                <a:stCxn id="79" idx="2"/>
              </p:cNvCxnSpPr>
              <p:nvPr/>
            </p:nvCxnSpPr>
            <p:spPr>
              <a:xfrm>
                <a:off x="8599834" y="47884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0" name="Google Shape;80;p8"/>
              <p:cNvSpPr/>
              <p:nvPr/>
            </p:nvSpPr>
            <p:spPr>
              <a:xfrm>
                <a:off x="8586528" y="45915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81" name="Google Shape;81;p8"/>
              <p:cNvCxnSpPr>
                <a:endCxn id="80" idx="2"/>
              </p:cNvCxnSpPr>
              <p:nvPr/>
            </p:nvCxnSpPr>
            <p:spPr>
              <a:xfrm rot="10800000">
                <a:off x="8787104" y="46944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2" name="Google Shape;82;p8"/>
              <p:cNvSpPr/>
              <p:nvPr/>
            </p:nvSpPr>
            <p:spPr>
              <a:xfrm rot="-5400000">
                <a:off x="8499018" y="45938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9" name="Google Shape;79;p8"/>
              <p:cNvSpPr/>
              <p:nvPr/>
            </p:nvSpPr>
            <p:spPr>
              <a:xfrm rot="-5400000" flipH="1">
                <a:off x="8499018" y="45899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83" name="Google Shape;83;p8"/>
              <p:cNvCxnSpPr>
                <a:stCxn id="82" idx="2"/>
                <a:endCxn id="80" idx="0"/>
              </p:cNvCxnSpPr>
              <p:nvPr/>
            </p:nvCxnSpPr>
            <p:spPr>
              <a:xfrm>
                <a:off x="8599704" y="4591602"/>
                <a:ext cx="885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7 - Slide vide fond foncé">
  <p:cSld name="07 - Slide vide fond foncé"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9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86" name="Google Shape;86;p9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89" name="Google Shape;89;p9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0" name="Google Shape;90;p9"/>
          <p:cNvCxnSpPr>
            <a:stCxn id="91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9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3" name="Google Shape;93;p9"/>
          <p:cNvCxnSpPr>
            <a:endCxn id="92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9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1" name="Google Shape;91;p9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5" name="Google Shape;95;p9"/>
          <p:cNvCxnSpPr>
            <a:stCxn id="94" idx="2"/>
            <a:endCxn id="92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p9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" name="Google Shape;97;p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0 - Couverture [1]">
  <p:cSld name="40 - Couverture [1]"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100" name="Google Shape;100;p10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01" name="Google Shape;101;p10"/>
          <p:cNvGrpSpPr/>
          <p:nvPr/>
        </p:nvGrpSpPr>
        <p:grpSpPr>
          <a:xfrm>
            <a:off x="276293" y="292119"/>
            <a:ext cx="345989" cy="338615"/>
            <a:chOff x="6838242" y="518225"/>
            <a:chExt cx="1247708" cy="1221114"/>
          </a:xfrm>
        </p:grpSpPr>
        <p:sp>
          <p:nvSpPr>
            <p:cNvPr id="102" name="Google Shape;102;p10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5" name="Google Shape;105;p10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07" name="Google Shape;107;p10"/>
          <p:cNvGrpSpPr/>
          <p:nvPr/>
        </p:nvGrpSpPr>
        <p:grpSpPr>
          <a:xfrm>
            <a:off x="1097923" y="1336707"/>
            <a:ext cx="4598402" cy="1873532"/>
            <a:chOff x="2164723" y="1336707"/>
            <a:chExt cx="4598402" cy="1873532"/>
          </a:xfrm>
        </p:grpSpPr>
        <p:cxnSp>
          <p:nvCxnSpPr>
            <p:cNvPr id="108" name="Google Shape;108;p10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9" name="Google Shape;109;p10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0" name="Google Shape;110;p10"/>
            <p:cNvCxnSpPr>
              <a:endCxn id="109" idx="2"/>
            </p:cNvCxnSpPr>
            <p:nvPr/>
          </p:nvCxnSpPr>
          <p:spPr>
            <a:xfrm rot="10800000">
              <a:off x="6761983" y="2313859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1" name="Google Shape;111;p10"/>
            <p:cNvSpPr/>
            <p:nvPr/>
          </p:nvSpPr>
          <p:spPr>
            <a:xfrm rot="-5399439">
              <a:off x="2143273" y="1392988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2" name="Google Shape;112;p10"/>
            <p:cNvSpPr/>
            <p:nvPr/>
          </p:nvSpPr>
          <p:spPr>
            <a:xfrm rot="-5400561" flipH="1">
              <a:off x="2143273" y="1358457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3" name="Google Shape;113;p10"/>
            <p:cNvCxnSpPr>
              <a:stCxn id="111" idx="2"/>
              <a:endCxn id="109" idx="0"/>
            </p:cNvCxnSpPr>
            <p:nvPr/>
          </p:nvCxnSpPr>
          <p:spPr>
            <a:xfrm>
              <a:off x="3065855" y="1371394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4" name="Google Shape;114;p10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I PART OF ACCENTURE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115" name="Google Shape;115;p10"/>
          <p:cNvPicPr preferRelativeResize="0"/>
          <p:nvPr/>
        </p:nvPicPr>
        <p:blipFill rotWithShape="1">
          <a:blip r:embed="rId3">
            <a:alphaModFix/>
          </a:blip>
          <a:srcRect t="338" b="338"/>
          <a:stretch/>
        </p:blipFill>
        <p:spPr>
          <a:xfrm>
            <a:off x="5866738" y="2120950"/>
            <a:ext cx="172402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0"/>
          <p:cNvSpPr txBox="1">
            <a:spLocks noGrp="1"/>
          </p:cNvSpPr>
          <p:nvPr>
            <p:ph type="title"/>
          </p:nvPr>
        </p:nvSpPr>
        <p:spPr>
          <a:xfrm>
            <a:off x="1657350" y="1619250"/>
            <a:ext cx="36480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17" name="Google Shape;117;p10"/>
          <p:cNvSpPr txBox="1">
            <a:spLocks noGrp="1"/>
          </p:cNvSpPr>
          <p:nvPr>
            <p:ph type="subTitle" idx="1"/>
          </p:nvPr>
        </p:nvSpPr>
        <p:spPr>
          <a:xfrm>
            <a:off x="1657350" y="2668200"/>
            <a:ext cx="3648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19" name="Google Shape;119;p10"/>
          <p:cNvGrpSpPr/>
          <p:nvPr/>
        </p:nvGrpSpPr>
        <p:grpSpPr>
          <a:xfrm rot="10800000">
            <a:off x="4572194" y="3152705"/>
            <a:ext cx="2605006" cy="616888"/>
            <a:chOff x="2164721" y="1365883"/>
            <a:chExt cx="4598421" cy="1890555"/>
          </a:xfrm>
        </p:grpSpPr>
        <p:cxnSp>
          <p:nvCxnSpPr>
            <p:cNvPr id="120" name="Google Shape;120;p10"/>
            <p:cNvCxnSpPr>
              <a:stCxn id="121" idx="2"/>
            </p:cNvCxnSpPr>
            <p:nvPr/>
          </p:nvCxnSpPr>
          <p:spPr>
            <a:xfrm>
              <a:off x="2699642" y="3175623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2" name="Google Shape;122;p10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23" name="Google Shape;123;p10"/>
            <p:cNvCxnSpPr>
              <a:endCxn id="122" idx="2"/>
            </p:cNvCxnSpPr>
            <p:nvPr/>
          </p:nvCxnSpPr>
          <p:spPr>
            <a:xfrm rot="10800000">
              <a:off x="6762341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4" name="Google Shape;124;p10"/>
            <p:cNvSpPr/>
            <p:nvPr/>
          </p:nvSpPr>
          <p:spPr>
            <a:xfrm rot="-5399453">
              <a:off x="1791865" y="1744138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21" name="Google Shape;121;p10"/>
            <p:cNvSpPr/>
            <p:nvPr/>
          </p:nvSpPr>
          <p:spPr>
            <a:xfrm rot="-5400570" flipH="1">
              <a:off x="1792271" y="1738633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25" name="Google Shape;125;p10"/>
            <p:cNvCxnSpPr>
              <a:stCxn id="124" idx="2"/>
              <a:endCxn id="122" idx="0"/>
            </p:cNvCxnSpPr>
            <p:nvPr/>
          </p:nvCxnSpPr>
          <p:spPr>
            <a:xfrm>
              <a:off x="2736435" y="137109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26" name="Google Shape;126;p10"/>
          <p:cNvCxnSpPr/>
          <p:nvPr/>
        </p:nvCxnSpPr>
        <p:spPr>
          <a:xfrm>
            <a:off x="5567313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" name="Google Shape;127;p10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28" name="Google Shape;128;p10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1 - Couverture [2]">
  <p:cSld name="41 - Couverture [2]">
    <p:bg>
      <p:bgPr>
        <a:solidFill>
          <a:schemeClr val="dk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>
            <a:spLocks noGrp="1"/>
          </p:cNvSpPr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31" name="Google Shape;131;p11"/>
          <p:cNvSpPr txBox="1">
            <a:spLocks noGrp="1"/>
          </p:cNvSpPr>
          <p:nvPr>
            <p:ph type="subTitle" idx="1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32" name="Google Shape;132;p11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1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134" name="Google Shape;134;p11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5" name="Google Shape;135;p11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6" name="Google Shape;136;p11"/>
            <p:cNvCxnSpPr>
              <a:endCxn id="135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7" name="Google Shape;137;p11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 rot="-5400561" flipH="1">
              <a:off x="2143273" y="1358460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9" name="Google Shape;139;p11"/>
            <p:cNvCxnSpPr>
              <a:stCxn id="137" idx="2"/>
              <a:endCxn id="135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0" name="Google Shape;140;p11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1" name="Google Shape;141;p11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142" name="Google Shape;142;p1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11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46" name="Google Shape;146;p11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7" name="Google Shape;147;p11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148" name="Google Shape;148;p11"/>
            <p:cNvCxnSpPr>
              <a:stCxn id="149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0" name="Google Shape;150;p11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" name="Google Shape;151;p11"/>
            <p:cNvCxnSpPr>
              <a:endCxn id="150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" name="Google Shape;152;p11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570" flipH="1">
              <a:off x="1792271" y="1738695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3" name="Google Shape;153;p11"/>
            <p:cNvCxnSpPr>
              <a:stCxn id="152" idx="2"/>
              <a:endCxn id="150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54" name="Google Shape;154;p11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" name="Google Shape;155;p11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1 - Chapitre [2]">
  <p:cSld name="51 - Chapitre [2]"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/>
          <p:nvPr/>
        </p:nvSpPr>
        <p:spPr>
          <a:xfrm rot="5400000" flipH="1">
            <a:off x="1344924" y="364825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59" name="Google Shape;159;p12"/>
          <p:cNvSpPr/>
          <p:nvPr/>
        </p:nvSpPr>
        <p:spPr>
          <a:xfrm flipH="1">
            <a:off x="830825" y="817575"/>
            <a:ext cx="3663300" cy="38163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body" idx="1"/>
          </p:nvPr>
        </p:nvSpPr>
        <p:spPr>
          <a:xfrm>
            <a:off x="841248" y="37465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>
            <a:off x="4699800" y="268520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62" name="Google Shape;162;p12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63" name="Google Shape;163;p12"/>
          <p:cNvCxnSpPr>
            <a:stCxn id="164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12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6" name="Google Shape;166;p12"/>
          <p:cNvCxnSpPr>
            <a:endCxn id="165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12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4" name="Google Shape;164;p12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8" name="Google Shape;168;p12"/>
          <p:cNvCxnSpPr>
            <a:stCxn id="167" idx="2"/>
            <a:endCxn id="165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9" name="Google Shape;169;p12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0" name="Google Shape;170;p12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2262425" y="20484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" name="Google Shape;172;p12"/>
          <p:cNvSpPr/>
          <p:nvPr/>
        </p:nvSpPr>
        <p:spPr>
          <a:xfrm flipH="1">
            <a:off x="841248" y="374725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73" name="Google Shape;173;p12"/>
          <p:cNvGrpSpPr/>
          <p:nvPr/>
        </p:nvGrpSpPr>
        <p:grpSpPr>
          <a:xfrm>
            <a:off x="1450811" y="508105"/>
            <a:ext cx="170063" cy="166438"/>
            <a:chOff x="6838242" y="518225"/>
            <a:chExt cx="1247708" cy="1221114"/>
          </a:xfrm>
        </p:grpSpPr>
        <p:sp>
          <p:nvSpPr>
            <p:cNvPr id="174" name="Google Shape;174;p1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6" name="Google Shape;176;p1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9 - There is a better way">
  <p:cSld name="59 - There is a better way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3"/>
          <p:cNvGrpSpPr/>
          <p:nvPr/>
        </p:nvGrpSpPr>
        <p:grpSpPr>
          <a:xfrm>
            <a:off x="290068" y="235357"/>
            <a:ext cx="345989" cy="338615"/>
            <a:chOff x="6838242" y="518225"/>
            <a:chExt cx="1247708" cy="1221114"/>
          </a:xfrm>
        </p:grpSpPr>
        <p:sp>
          <p:nvSpPr>
            <p:cNvPr id="179" name="Google Shape;179;p13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pic>
        <p:nvPicPr>
          <p:cNvPr id="182" name="Google Shape;18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36975" y="3307206"/>
            <a:ext cx="1670077" cy="82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3"/>
          <p:cNvPicPr preferRelativeResize="0"/>
          <p:nvPr/>
        </p:nvPicPr>
        <p:blipFill rotWithShape="1">
          <a:blip r:embed="rId3">
            <a:alphaModFix/>
          </a:blip>
          <a:srcRect l="17993" t="18848" r="18089" b="13862"/>
          <a:stretch/>
        </p:blipFill>
        <p:spPr>
          <a:xfrm>
            <a:off x="3589050" y="1007225"/>
            <a:ext cx="1965925" cy="20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0 - Titre et visuel">
  <p:cSld name="60 - Titre et visuel"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 txBox="1">
            <a:spLocks noGrp="1"/>
          </p:cNvSpPr>
          <p:nvPr>
            <p:ph type="title"/>
          </p:nvPr>
        </p:nvSpPr>
        <p:spPr>
          <a:xfrm>
            <a:off x="562550" y="3823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89" name="Google Shape;189;p14"/>
          <p:cNvCxnSpPr>
            <a:stCxn id="190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p14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2" name="Google Shape;192;p14"/>
          <p:cNvCxnSpPr>
            <a:endCxn id="191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p14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0" name="Google Shape;190;p14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4" name="Google Shape;194;p14"/>
          <p:cNvCxnSpPr>
            <a:stCxn id="193" idx="2"/>
            <a:endCxn id="191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14"/>
          <p:cNvSpPr>
            <a:spLocks noGrp="1"/>
          </p:cNvSpPr>
          <p:nvPr>
            <p:ph type="pic" idx="2"/>
          </p:nvPr>
        </p:nvSpPr>
        <p:spPr>
          <a:xfrm>
            <a:off x="528800" y="732450"/>
            <a:ext cx="8019000" cy="4131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4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1 - Titre, sous-titre et visuel">
  <p:cSld name="61 - Titre, sous-titre et visuel">
    <p:bg>
      <p:bgPr>
        <a:solidFill>
          <a:schemeClr val="l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/>
          <p:nvPr/>
        </p:nvSpPr>
        <p:spPr>
          <a:xfrm>
            <a:off x="213475" y="208900"/>
            <a:ext cx="8715600" cy="4728600"/>
          </a:xfrm>
          <a:prstGeom prst="roundRect">
            <a:avLst>
              <a:gd name="adj" fmla="val 161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9" name="Google Shape;19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 rot="-5400000">
            <a:off x="-514095" y="25332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5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There is a better way</a:t>
            </a:r>
            <a:endParaRPr sz="65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6682750" y="4939025"/>
            <a:ext cx="23352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Outfit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OCTO Part of Accenture © 2023- All rights reserved</a:t>
            </a:r>
            <a:endParaRPr sz="6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3" name="Google Shape;203;p15"/>
          <p:cNvSpPr txBox="1">
            <a:spLocks noGrp="1"/>
          </p:cNvSpPr>
          <p:nvPr>
            <p:ph type="title"/>
          </p:nvPr>
        </p:nvSpPr>
        <p:spPr>
          <a:xfrm>
            <a:off x="574050" y="361400"/>
            <a:ext cx="80079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subTitle" idx="1"/>
          </p:nvPr>
        </p:nvSpPr>
        <p:spPr>
          <a:xfrm>
            <a:off x="557250" y="830200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5" name="Google Shape;205;p15"/>
          <p:cNvSpPr>
            <a:spLocks noGrp="1"/>
          </p:cNvSpPr>
          <p:nvPr>
            <p:ph type="pic" idx="2"/>
          </p:nvPr>
        </p:nvSpPr>
        <p:spPr>
          <a:xfrm>
            <a:off x="545225" y="1257950"/>
            <a:ext cx="8041500" cy="3606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15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2 - Visuel seul">
  <p:cSld name="62 - Visuel seul"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6"/>
          <p:cNvSpPr>
            <a:spLocks noGrp="1"/>
          </p:cNvSpPr>
          <p:nvPr>
            <p:ph type="pic" idx="2"/>
          </p:nvPr>
        </p:nvSpPr>
        <p:spPr>
          <a:xfrm>
            <a:off x="3275" y="-230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16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3 - Titre, contenu et visuel à droite - cadre blanc">
  <p:cSld name="63 - Titre, contenu et visuel à droite - cadre blanc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7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13" name="Google Shape;213;p17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4" name="Google Shape;214;p17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15" name="Google Shape;215;p17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16" name="Google Shape;216;p17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18" name="Google Shape;218;p17"/>
            <p:cNvCxnSpPr>
              <a:stCxn id="21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0" name="Google Shape;220;p17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1" name="Google Shape;221;p17"/>
            <p:cNvCxnSpPr>
              <a:endCxn id="22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2" name="Google Shape;222;p17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3" name="Google Shape;223;p17"/>
            <p:cNvCxnSpPr>
              <a:stCxn id="222" idx="2"/>
              <a:endCxn id="22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4" name="Google Shape;224;p17"/>
          <p:cNvSpPr txBox="1">
            <a:spLocks noGrp="1"/>
          </p:cNvSpPr>
          <p:nvPr>
            <p:ph type="body" idx="1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25" name="Google Shape;225;p17"/>
          <p:cNvSpPr txBox="1">
            <a:spLocks noGrp="1"/>
          </p:cNvSpPr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26" name="Google Shape;226;p17"/>
          <p:cNvGrpSpPr/>
          <p:nvPr/>
        </p:nvGrpSpPr>
        <p:grpSpPr>
          <a:xfrm>
            <a:off x="364209" y="292130"/>
            <a:ext cx="82155" cy="82230"/>
            <a:chOff x="7483200" y="518225"/>
            <a:chExt cx="602750" cy="603300"/>
          </a:xfrm>
        </p:grpSpPr>
        <p:sp>
          <p:nvSpPr>
            <p:cNvPr id="227" name="Google Shape;227;p17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29" name="Google Shape;229;p17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4 - Titre, sous-titre, contenu et visuel à droite - cadre blanc">
  <p:cSld name="64 - Titre, sous-titre, contenu et visuel à droite - cadre blanc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8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32" name="Google Shape;232;p18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34" name="Google Shape;234;p18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cxnSp>
          <p:nvCxnSpPr>
            <p:cNvPr id="235" name="Google Shape;235;p18"/>
            <p:cNvCxnSpPr>
              <a:stCxn id="236" idx="2"/>
              <a:endCxn id="237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38" name="Google Shape;238;p18"/>
            <p:cNvGrpSpPr/>
            <p:nvPr/>
          </p:nvGrpSpPr>
          <p:grpSpPr>
            <a:xfrm>
              <a:off x="276303" y="295049"/>
              <a:ext cx="8682472" cy="4585476"/>
              <a:chOff x="276303" y="295049"/>
              <a:chExt cx="8682472" cy="4585476"/>
            </a:xfrm>
          </p:grpSpPr>
          <p:sp>
            <p:nvSpPr>
              <p:cNvPr id="239" name="Google Shape;239;p18"/>
              <p:cNvSpPr/>
              <p:nvPr/>
            </p:nvSpPr>
            <p:spPr>
              <a:xfrm>
                <a:off x="276303" y="295049"/>
                <a:ext cx="163500" cy="1635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0" name="Google Shape;240;p18"/>
              <p:cNvSpPr txBox="1"/>
              <p:nvPr/>
            </p:nvSpPr>
            <p:spPr>
              <a:xfrm>
                <a:off x="8459275" y="46519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241" name="Google Shape;241;p18"/>
              <p:cNvCxnSpPr>
                <a:stCxn id="242" idx="2"/>
              </p:cNvCxnSpPr>
              <p:nvPr/>
            </p:nvCxnSpPr>
            <p:spPr>
              <a:xfrm>
                <a:off x="8676034" y="48646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7" name="Google Shape;237;p18"/>
              <p:cNvSpPr/>
              <p:nvPr/>
            </p:nvSpPr>
            <p:spPr>
              <a:xfrm>
                <a:off x="8662728" y="46677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243" name="Google Shape;243;p18"/>
              <p:cNvCxnSpPr>
                <a:endCxn id="237" idx="2"/>
              </p:cNvCxnSpPr>
              <p:nvPr/>
            </p:nvCxnSpPr>
            <p:spPr>
              <a:xfrm rot="10800000">
                <a:off x="8863304" y="47706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6" name="Google Shape;236;p18"/>
              <p:cNvSpPr/>
              <p:nvPr/>
            </p:nvSpPr>
            <p:spPr>
              <a:xfrm rot="-5400000">
                <a:off x="8575218" y="46700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 rot="-5400000" flipH="1">
                <a:off x="8575218" y="46661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244" name="Google Shape;244;p18"/>
          <p:cNvSpPr txBox="1">
            <a:spLocks noGrp="1"/>
          </p:cNvSpPr>
          <p:nvPr>
            <p:ph type="body" idx="1"/>
          </p:nvPr>
        </p:nvSpPr>
        <p:spPr>
          <a:xfrm>
            <a:off x="562800" y="1273200"/>
            <a:ext cx="5305500" cy="3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0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subTitle" idx="2"/>
          </p:nvPr>
        </p:nvSpPr>
        <p:spPr>
          <a:xfrm>
            <a:off x="571015" y="778000"/>
            <a:ext cx="5305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47" name="Google Shape;247;p18"/>
          <p:cNvGrpSpPr/>
          <p:nvPr/>
        </p:nvGrpSpPr>
        <p:grpSpPr>
          <a:xfrm>
            <a:off x="276301" y="295049"/>
            <a:ext cx="163560" cy="163519"/>
            <a:chOff x="6838242" y="539639"/>
            <a:chExt cx="1200000" cy="1199700"/>
          </a:xfrm>
        </p:grpSpPr>
        <p:sp>
          <p:nvSpPr>
            <p:cNvPr id="248" name="Google Shape;248;p18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0" name="Google Shape;250;p18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1" name="Google Shape;251;p18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5 - Titre, contenu, visuel à droite et bloc conclu - cadre blanc">
  <p:cSld name="65 - Titre, contenu, visuel à droite et bloc conclu - cadre blanc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9"/>
          <p:cNvGrpSpPr/>
          <p:nvPr/>
        </p:nvGrpSpPr>
        <p:grpSpPr>
          <a:xfrm rot="10800000">
            <a:off x="5754900" y="3471525"/>
            <a:ext cx="1392300" cy="1392300"/>
            <a:chOff x="7475475" y="301725"/>
            <a:chExt cx="1392300" cy="1392300"/>
          </a:xfrm>
        </p:grpSpPr>
        <p:sp>
          <p:nvSpPr>
            <p:cNvPr id="254" name="Google Shape;254;p19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6" name="Google Shape;256;p19"/>
          <p:cNvSpPr/>
          <p:nvPr/>
        </p:nvSpPr>
        <p:spPr>
          <a:xfrm>
            <a:off x="6549661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257" name="Google Shape;257;p19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58" name="Google Shape;258;p19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59" name="Google Shape;259;p19"/>
            <p:cNvCxnSpPr>
              <a:stCxn id="26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1" name="Google Shape;261;p19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2" name="Google Shape;262;p19"/>
            <p:cNvCxnSpPr>
              <a:endCxn id="26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3" name="Google Shape;263;p19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60" name="Google Shape;260;p19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4" name="Google Shape;264;p19"/>
            <p:cNvCxnSpPr>
              <a:stCxn id="263" idx="2"/>
              <a:endCxn id="26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5" name="Google Shape;265;p19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266" name="Google Shape;266;p19"/>
          <p:cNvSpPr txBox="1">
            <a:spLocks noGrp="1"/>
          </p:cNvSpPr>
          <p:nvPr>
            <p:ph type="body" idx="1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7" name="Google Shape;267;p19"/>
          <p:cNvSpPr txBox="1">
            <a:spLocks noGrp="1"/>
          </p:cNvSpPr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8" name="Google Shape;268;p19"/>
          <p:cNvSpPr txBox="1">
            <a:spLocks noGrp="1"/>
          </p:cNvSpPr>
          <p:nvPr>
            <p:ph type="body" idx="2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69" name="Google Shape;269;p19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19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364209" y="345001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2" name="Google Shape;272;p1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6 - Titre, sous-titre, contenu, visuel à droite et bloc conclu - cadre blanc">
  <p:cSld name="66 - Titre, sous-titre, contenu, visuel à droite et bloc conclu - cadre blanc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 txBox="1">
            <a:spLocks noGrp="1"/>
          </p:cNvSpPr>
          <p:nvPr>
            <p:ph type="body" idx="1"/>
          </p:nvPr>
        </p:nvSpPr>
        <p:spPr>
          <a:xfrm>
            <a:off x="562825" y="1267800"/>
            <a:ext cx="47904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subTitle" idx="2"/>
          </p:nvPr>
        </p:nvSpPr>
        <p:spPr>
          <a:xfrm>
            <a:off x="571015" y="777619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6" name="Google Shape;276;p20"/>
          <p:cNvSpPr txBox="1">
            <a:spLocks noGrp="1"/>
          </p:cNvSpPr>
          <p:nvPr>
            <p:ph type="title"/>
          </p:nvPr>
        </p:nvSpPr>
        <p:spPr>
          <a:xfrm>
            <a:off x="562825" y="367000"/>
            <a:ext cx="4790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77" name="Google Shape;277;p20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278" name="Google Shape;278;p20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279" name="Google Shape;279;p20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0" name="Google Shape;280;p20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1" name="Google Shape;281;p20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282" name="Google Shape;282;p20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83" name="Google Shape;283;p20"/>
            <p:cNvCxnSpPr>
              <a:stCxn id="28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5" name="Google Shape;285;p20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6" name="Google Shape;286;p20"/>
            <p:cNvCxnSpPr>
              <a:endCxn id="28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7" name="Google Shape;287;p20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8" name="Google Shape;288;p20"/>
            <p:cNvCxnSpPr>
              <a:stCxn id="287" idx="2"/>
              <a:endCxn id="28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89" name="Google Shape;289;p20"/>
          <p:cNvGrpSpPr/>
          <p:nvPr/>
        </p:nvGrpSpPr>
        <p:grpSpPr>
          <a:xfrm rot="10800000">
            <a:off x="5754902" y="3471525"/>
            <a:ext cx="1392300" cy="1392300"/>
            <a:chOff x="7475475" y="301725"/>
            <a:chExt cx="1392300" cy="1392300"/>
          </a:xfrm>
        </p:grpSpPr>
        <p:sp>
          <p:nvSpPr>
            <p:cNvPr id="290" name="Google Shape;290;p20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91" name="Google Shape;291;p20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92" name="Google Shape;292;p20"/>
          <p:cNvSpPr/>
          <p:nvPr/>
        </p:nvSpPr>
        <p:spPr>
          <a:xfrm>
            <a:off x="6543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3" name="Google Shape;293;p20"/>
          <p:cNvSpPr txBox="1">
            <a:spLocks noGrp="1"/>
          </p:cNvSpPr>
          <p:nvPr>
            <p:ph type="body" idx="3"/>
          </p:nvPr>
        </p:nvSpPr>
        <p:spPr>
          <a:xfrm>
            <a:off x="6920975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94" name="Google Shape;294;p20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5" name="Google Shape;295;p20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7 - Titre, contenu et visuel à gauche - cadre blanc">
  <p:cSld name="67 - Titre, contenu et visuel à gauche - cadre blanc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 txBox="1">
            <a:spLocks noGrp="1"/>
          </p:cNvSpPr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98" name="Google Shape;298;p21"/>
          <p:cNvSpPr txBox="1">
            <a:spLocks noGrp="1"/>
          </p:cNvSpPr>
          <p:nvPr>
            <p:ph type="body" idx="1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99" name="Google Shape;299;p21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00" name="Google Shape;300;p21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1" name="Google Shape;301;p21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02" name="Google Shape;302;p21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03" name="Google Shape;303;p21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04" name="Google Shape;304;p21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5" name="Google Shape;305;p21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6" name="Google Shape;306;p21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07" name="Google Shape;307;p21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08" name="Google Shape;308;p21"/>
            <p:cNvCxnSpPr>
              <a:stCxn id="30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0" name="Google Shape;310;p21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1" name="Google Shape;311;p21"/>
            <p:cNvCxnSpPr>
              <a:endCxn id="31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2" name="Google Shape;312;p21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9" name="Google Shape;309;p21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3" name="Google Shape;313;p21"/>
            <p:cNvCxnSpPr>
              <a:stCxn id="312" idx="2"/>
              <a:endCxn id="31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4" name="Google Shape;314;p2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8 - Titre, sous-titre, contenu et visuel à gauche - cadre blanc">
  <p:cSld name="68 - Titre, sous-titre, contenu et visuel à gauche - cadre blanc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"/>
          <p:cNvSpPr/>
          <p:nvPr/>
        </p:nvSpPr>
        <p:spPr>
          <a:xfrm rot="5400000" flipH="1">
            <a:off x="4143250" y="131125"/>
            <a:ext cx="4709400" cy="4865400"/>
          </a:xfrm>
          <a:prstGeom prst="round2SameRect">
            <a:avLst>
              <a:gd name="adj1" fmla="val 1367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7" name="Google Shape;317;p22"/>
          <p:cNvSpPr txBox="1">
            <a:spLocks noGrp="1"/>
          </p:cNvSpPr>
          <p:nvPr>
            <p:ph type="subTitle" idx="1"/>
          </p:nvPr>
        </p:nvSpPr>
        <p:spPr>
          <a:xfrm>
            <a:off x="3442450" y="779144"/>
            <a:ext cx="51393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8" name="Google Shape;318;p22"/>
          <p:cNvSpPr txBox="1">
            <a:spLocks noGrp="1"/>
          </p:cNvSpPr>
          <p:nvPr>
            <p:ph type="body" idx="2"/>
          </p:nvPr>
        </p:nvSpPr>
        <p:spPr>
          <a:xfrm>
            <a:off x="3438150" y="1271025"/>
            <a:ext cx="5139300" cy="3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9" name="Google Shape;319;p22"/>
          <p:cNvSpPr txBox="1">
            <a:spLocks noGrp="1"/>
          </p:cNvSpPr>
          <p:nvPr>
            <p:ph type="title"/>
          </p:nvPr>
        </p:nvSpPr>
        <p:spPr>
          <a:xfrm>
            <a:off x="3438150" y="358969"/>
            <a:ext cx="51393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20" name="Google Shape;320;p22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21" name="Google Shape;321;p22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22" name="Google Shape;322;p22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23" name="Google Shape;323;p22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24" name="Google Shape;324;p22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25" name="Google Shape;325;p22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6" name="Google Shape;326;p22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7" name="Google Shape;327;p22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28" name="Google Shape;328;p22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29" name="Google Shape;329;p22"/>
            <p:cNvCxnSpPr>
              <a:stCxn id="33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1" name="Google Shape;331;p22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2" name="Google Shape;332;p22"/>
            <p:cNvCxnSpPr>
              <a:endCxn id="33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3" name="Google Shape;333;p22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30" name="Google Shape;330;p22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4" name="Google Shape;334;p22"/>
            <p:cNvCxnSpPr>
              <a:stCxn id="333" idx="2"/>
              <a:endCxn id="33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35" name="Google Shape;335;p2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9 - Titre, contenu, visuel à gauche et bloc conclu - cadre blanc">
  <p:cSld name="69 - Titre, contenu, visuel à gauche et bloc conclu - cadre blanc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23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38" name="Google Shape;338;p23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39" name="Google Shape;339;p23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0" name="Google Shape;340;p23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1" name="Google Shape;341;p23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42" name="Google Shape;342;p23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43" name="Google Shape;343;p23"/>
            <p:cNvCxnSpPr>
              <a:stCxn id="34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5" name="Google Shape;345;p23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6" name="Google Shape;346;p23"/>
            <p:cNvCxnSpPr>
              <a:endCxn id="34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7" name="Google Shape;347;p23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44" name="Google Shape;344;p23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8" name="Google Shape;348;p23"/>
            <p:cNvCxnSpPr>
              <a:stCxn id="347" idx="2"/>
              <a:endCxn id="34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49" name="Google Shape;349;p23"/>
          <p:cNvSpPr txBox="1">
            <a:spLocks noGrp="1"/>
          </p:cNvSpPr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50" name="Google Shape;350;p23"/>
          <p:cNvGrpSpPr/>
          <p:nvPr/>
        </p:nvGrpSpPr>
        <p:grpSpPr>
          <a:xfrm rot="10800000">
            <a:off x="420900" y="3471525"/>
            <a:ext cx="1392300" cy="1392300"/>
            <a:chOff x="7475475" y="301725"/>
            <a:chExt cx="1392300" cy="1392300"/>
          </a:xfrm>
        </p:grpSpPr>
        <p:sp>
          <p:nvSpPr>
            <p:cNvPr id="351" name="Google Shape;351;p23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52" name="Google Shape;352;p23"/>
            <p:cNvSpPr txBox="1"/>
            <p:nvPr/>
          </p:nvSpPr>
          <p:spPr>
            <a:xfrm rot="10800000">
              <a:off x="7776275" y="553855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53" name="Google Shape;353;p23"/>
          <p:cNvSpPr txBox="1">
            <a:spLocks noGrp="1"/>
          </p:cNvSpPr>
          <p:nvPr>
            <p:ph type="body" idx="1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4" name="Google Shape;354;p23"/>
          <p:cNvSpPr txBox="1">
            <a:spLocks noGrp="1"/>
          </p:cNvSpPr>
          <p:nvPr>
            <p:ph type="body" idx="2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1209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56" name="Google Shape;356;p2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0 - Titre, sous-titre, contenu, visuel à gauche et bloc conclu - cadre blanc">
  <p:cSld name="70 - Titre, sous-titre, contenu, visuel à gauche et bloc conclu - cadre blanc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24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59" name="Google Shape;359;p24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60" name="Google Shape;360;p24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63" name="Google Shape;363;p24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64" name="Google Shape;364;p24"/>
            <p:cNvCxnSpPr>
              <a:stCxn id="365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6" name="Google Shape;366;p24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7" name="Google Shape;367;p24"/>
            <p:cNvCxnSpPr>
              <a:endCxn id="366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8" name="Google Shape;368;p24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65" name="Google Shape;365;p24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9" name="Google Shape;369;p24"/>
            <p:cNvCxnSpPr>
              <a:stCxn id="368" idx="2"/>
              <a:endCxn id="366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70" name="Google Shape;370;p24"/>
          <p:cNvSpPr txBox="1">
            <a:spLocks noGrp="1"/>
          </p:cNvSpPr>
          <p:nvPr>
            <p:ph type="body" idx="1"/>
          </p:nvPr>
        </p:nvSpPr>
        <p:spPr>
          <a:xfrm>
            <a:off x="3943350" y="1271025"/>
            <a:ext cx="4564200" cy="3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1" name="Google Shape;371;p24"/>
          <p:cNvSpPr txBox="1">
            <a:spLocks noGrp="1"/>
          </p:cNvSpPr>
          <p:nvPr>
            <p:ph type="subTitle" idx="2"/>
          </p:nvPr>
        </p:nvSpPr>
        <p:spPr>
          <a:xfrm>
            <a:off x="3935150" y="770950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2" name="Google Shape;372;p24"/>
          <p:cNvSpPr txBox="1">
            <a:spLocks noGrp="1"/>
          </p:cNvSpPr>
          <p:nvPr>
            <p:ph type="title"/>
          </p:nvPr>
        </p:nvSpPr>
        <p:spPr>
          <a:xfrm>
            <a:off x="3935150" y="348725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73" name="Google Shape;373;p24"/>
          <p:cNvGrpSpPr/>
          <p:nvPr/>
        </p:nvGrpSpPr>
        <p:grpSpPr>
          <a:xfrm rot="10800000">
            <a:off x="420900" y="3471800"/>
            <a:ext cx="1392300" cy="1392300"/>
            <a:chOff x="7475475" y="301725"/>
            <a:chExt cx="1392300" cy="1392300"/>
          </a:xfrm>
        </p:grpSpPr>
        <p:sp>
          <p:nvSpPr>
            <p:cNvPr id="374" name="Google Shape;374;p24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75" name="Google Shape;375;p24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76" name="Google Shape;376;p24"/>
          <p:cNvSpPr/>
          <p:nvPr/>
        </p:nvSpPr>
        <p:spPr>
          <a:xfrm>
            <a:off x="1209075" y="30031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77" name="Google Shape;377;p24"/>
          <p:cNvSpPr txBox="1">
            <a:spLocks noGrp="1"/>
          </p:cNvSpPr>
          <p:nvPr>
            <p:ph type="body" idx="3"/>
          </p:nvPr>
        </p:nvSpPr>
        <p:spPr>
          <a:xfrm>
            <a:off x="1511925" y="812385"/>
            <a:ext cx="1719000" cy="20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8" name="Google Shape;378;p24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0 - Table des matières [2]">
  <p:cSld name="90 - Table des matières [2]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1" name="Google Shape;381;p25"/>
          <p:cNvSpPr txBox="1">
            <a:spLocks noGrp="1"/>
          </p:cNvSpPr>
          <p:nvPr>
            <p:ph type="body" idx="1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2" name="Google Shape;382;p25"/>
          <p:cNvSpPr txBox="1">
            <a:spLocks noGrp="1"/>
          </p:cNvSpPr>
          <p:nvPr>
            <p:ph type="body" idx="2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3" name="Google Shape;383;p25"/>
          <p:cNvSpPr/>
          <p:nvPr/>
        </p:nvSpPr>
        <p:spPr>
          <a:xfrm>
            <a:off x="1106400" y="22486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1086263" y="2254176"/>
            <a:ext cx="808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5192425" y="2286425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5160164" y="2254177"/>
            <a:ext cx="852600" cy="8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1 - Table des matières [3]">
  <p:cSld name="91 - Table des matières [3]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"/>
          <p:cNvSpPr txBox="1">
            <a:spLocks noGrp="1"/>
          </p:cNvSpPr>
          <p:nvPr>
            <p:ph type="title"/>
          </p:nvPr>
        </p:nvSpPr>
        <p:spPr>
          <a:xfrm>
            <a:off x="829600" y="12635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9" name="Google Shape;389;p26"/>
          <p:cNvSpPr txBox="1">
            <a:spLocks noGrp="1"/>
          </p:cNvSpPr>
          <p:nvPr>
            <p:ph type="body" idx="1"/>
          </p:nvPr>
        </p:nvSpPr>
        <p:spPr>
          <a:xfrm>
            <a:off x="1172550" y="26890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0" name="Google Shape;390;p26"/>
          <p:cNvSpPr txBox="1">
            <a:spLocks noGrp="1"/>
          </p:cNvSpPr>
          <p:nvPr>
            <p:ph type="body" idx="2"/>
          </p:nvPr>
        </p:nvSpPr>
        <p:spPr>
          <a:xfrm>
            <a:off x="3666975" y="27118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1" name="Google Shape;391;p26"/>
          <p:cNvSpPr txBox="1">
            <a:spLocks noGrp="1"/>
          </p:cNvSpPr>
          <p:nvPr>
            <p:ph type="body" idx="3"/>
          </p:nvPr>
        </p:nvSpPr>
        <p:spPr>
          <a:xfrm>
            <a:off x="6260400" y="2711825"/>
            <a:ext cx="23172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2" name="Google Shape;392;p26"/>
          <p:cNvSpPr/>
          <p:nvPr/>
        </p:nvSpPr>
        <p:spPr>
          <a:xfrm rot="10800000">
            <a:off x="3666963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3" name="Google Shape;393;p26"/>
          <p:cNvSpPr/>
          <p:nvPr/>
        </p:nvSpPr>
        <p:spPr>
          <a:xfrm rot="10800000">
            <a:off x="1172550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4" name="Google Shape;394;p26"/>
          <p:cNvSpPr/>
          <p:nvPr/>
        </p:nvSpPr>
        <p:spPr>
          <a:xfrm rot="10800000">
            <a:off x="6260388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1164446" y="179938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3650472" y="179937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7" name="Google Shape;397;p26"/>
          <p:cNvSpPr txBox="1"/>
          <p:nvPr/>
        </p:nvSpPr>
        <p:spPr>
          <a:xfrm>
            <a:off x="6243911" y="1799374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2 - Table des matières [4]">
  <p:cSld name="92 - Table des matières [4]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7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0" name="Google Shape;400;p27"/>
          <p:cNvSpPr txBox="1">
            <a:spLocks noGrp="1"/>
          </p:cNvSpPr>
          <p:nvPr>
            <p:ph type="body" idx="1"/>
          </p:nvPr>
        </p:nvSpPr>
        <p:spPr>
          <a:xfrm>
            <a:off x="1681525" y="1738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1" name="Google Shape;401;p27"/>
          <p:cNvSpPr txBox="1">
            <a:spLocks noGrp="1"/>
          </p:cNvSpPr>
          <p:nvPr>
            <p:ph type="body" idx="2"/>
          </p:nvPr>
        </p:nvSpPr>
        <p:spPr>
          <a:xfrm>
            <a:off x="1681500" y="30141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2" name="Google Shape;402;p27"/>
          <p:cNvSpPr txBox="1">
            <a:spLocks noGrp="1"/>
          </p:cNvSpPr>
          <p:nvPr>
            <p:ph type="body" idx="3"/>
          </p:nvPr>
        </p:nvSpPr>
        <p:spPr>
          <a:xfrm>
            <a:off x="5619625" y="17381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3" name="Google Shape;403;p27"/>
          <p:cNvSpPr txBox="1">
            <a:spLocks noGrp="1"/>
          </p:cNvSpPr>
          <p:nvPr>
            <p:ph type="body" idx="4"/>
          </p:nvPr>
        </p:nvSpPr>
        <p:spPr>
          <a:xfrm>
            <a:off x="5619750" y="30141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4" name="Google Shape;404;p27"/>
          <p:cNvSpPr/>
          <p:nvPr/>
        </p:nvSpPr>
        <p:spPr>
          <a:xfrm rot="5400000">
            <a:off x="4767525" y="2951177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5" name="Google Shape;405;p27"/>
          <p:cNvSpPr/>
          <p:nvPr/>
        </p:nvSpPr>
        <p:spPr>
          <a:xfrm rot="5400000">
            <a:off x="4767525" y="172202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6" name="Google Shape;406;p27"/>
          <p:cNvSpPr/>
          <p:nvPr/>
        </p:nvSpPr>
        <p:spPr>
          <a:xfrm rot="5400000">
            <a:off x="867525" y="2980796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7" name="Google Shape;407;p27"/>
          <p:cNvSpPr/>
          <p:nvPr/>
        </p:nvSpPr>
        <p:spPr>
          <a:xfrm rot="5400000">
            <a:off x="867525" y="1722025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967623" y="1866129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9" name="Google Shape;409;p27"/>
          <p:cNvSpPr txBox="1"/>
          <p:nvPr/>
        </p:nvSpPr>
        <p:spPr>
          <a:xfrm>
            <a:off x="967623" y="3116186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0" name="Google Shape;410;p27"/>
          <p:cNvSpPr txBox="1"/>
          <p:nvPr/>
        </p:nvSpPr>
        <p:spPr>
          <a:xfrm>
            <a:off x="4869747" y="1851848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1" name="Google Shape;411;p27"/>
          <p:cNvSpPr txBox="1"/>
          <p:nvPr/>
        </p:nvSpPr>
        <p:spPr>
          <a:xfrm>
            <a:off x="4869747" y="3072492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3 - Table des matières [5]">
  <p:cSld name="93 - Table des matières [5]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"/>
          <p:cNvSpPr txBox="1">
            <a:spLocks noGrp="1"/>
          </p:cNvSpPr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4" name="Google Shape;414;p28"/>
          <p:cNvSpPr txBox="1">
            <a:spLocks noGrp="1"/>
          </p:cNvSpPr>
          <p:nvPr>
            <p:ph type="body" idx="1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5" name="Google Shape;415;p28"/>
          <p:cNvSpPr txBox="1">
            <a:spLocks noGrp="1"/>
          </p:cNvSpPr>
          <p:nvPr>
            <p:ph type="body" idx="2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6" name="Google Shape;416;p28"/>
          <p:cNvSpPr txBox="1">
            <a:spLocks noGrp="1"/>
          </p:cNvSpPr>
          <p:nvPr>
            <p:ph type="body" idx="3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7" name="Google Shape;417;p28"/>
          <p:cNvSpPr txBox="1">
            <a:spLocks noGrp="1"/>
          </p:cNvSpPr>
          <p:nvPr>
            <p:ph type="body" idx="4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8" name="Google Shape;418;p28"/>
          <p:cNvSpPr txBox="1">
            <a:spLocks noGrp="1"/>
          </p:cNvSpPr>
          <p:nvPr>
            <p:ph type="body" idx="5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9" name="Google Shape;419;p28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0" name="Google Shape;420;p28"/>
          <p:cNvSpPr/>
          <p:nvPr/>
        </p:nvSpPr>
        <p:spPr>
          <a:xfrm rot="5400000">
            <a:off x="883425" y="2447222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1" name="Google Shape;421;p28"/>
          <p:cNvSpPr/>
          <p:nvPr/>
        </p:nvSpPr>
        <p:spPr>
          <a:xfrm rot="5400000">
            <a:off x="883425" y="3243569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2" name="Google Shape;422;p28"/>
          <p:cNvSpPr/>
          <p:nvPr/>
        </p:nvSpPr>
        <p:spPr>
          <a:xfrm rot="5400000">
            <a:off x="4767525" y="1651025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3" name="Google Shape;423;p28"/>
          <p:cNvSpPr/>
          <p:nvPr/>
        </p:nvSpPr>
        <p:spPr>
          <a:xfrm rot="5400000">
            <a:off x="4767525" y="2447566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4" name="Google Shape;424;p28"/>
          <p:cNvSpPr txBox="1"/>
          <p:nvPr/>
        </p:nvSpPr>
        <p:spPr>
          <a:xfrm>
            <a:off x="985647" y="178739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5" name="Google Shape;425;p28"/>
          <p:cNvSpPr txBox="1"/>
          <p:nvPr/>
        </p:nvSpPr>
        <p:spPr>
          <a:xfrm>
            <a:off x="985647" y="258794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6" name="Google Shape;426;p28"/>
          <p:cNvSpPr txBox="1"/>
          <p:nvPr/>
        </p:nvSpPr>
        <p:spPr>
          <a:xfrm>
            <a:off x="985647" y="3388496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7" name="Google Shape;427;p28"/>
          <p:cNvSpPr txBox="1"/>
          <p:nvPr/>
        </p:nvSpPr>
        <p:spPr>
          <a:xfrm>
            <a:off x="4869767" y="178743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8" name="Google Shape;428;p28"/>
          <p:cNvSpPr txBox="1"/>
          <p:nvPr/>
        </p:nvSpPr>
        <p:spPr>
          <a:xfrm>
            <a:off x="4867105" y="2563728"/>
            <a:ext cx="439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4 - Table des matières [6]">
  <p:cSld name="94 - Table des matières [6]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"/>
          <p:cNvSpPr txBox="1">
            <a:spLocks noGrp="1"/>
          </p:cNvSpPr>
          <p:nvPr>
            <p:ph type="title"/>
          </p:nvPr>
        </p:nvSpPr>
        <p:spPr>
          <a:xfrm>
            <a:off x="829600" y="10321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1" name="Google Shape;431;p29"/>
          <p:cNvSpPr txBox="1">
            <a:spLocks noGrp="1"/>
          </p:cNvSpPr>
          <p:nvPr>
            <p:ph type="body" idx="1"/>
          </p:nvPr>
        </p:nvSpPr>
        <p:spPr>
          <a:xfrm>
            <a:off x="1747225" y="16507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2" name="Google Shape;432;p29"/>
          <p:cNvSpPr txBox="1">
            <a:spLocks noGrp="1"/>
          </p:cNvSpPr>
          <p:nvPr>
            <p:ph type="body" idx="2"/>
          </p:nvPr>
        </p:nvSpPr>
        <p:spPr>
          <a:xfrm>
            <a:off x="1747225" y="244722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3" name="Google Shape;433;p29"/>
          <p:cNvSpPr txBox="1">
            <a:spLocks noGrp="1"/>
          </p:cNvSpPr>
          <p:nvPr>
            <p:ph type="body" idx="3"/>
          </p:nvPr>
        </p:nvSpPr>
        <p:spPr>
          <a:xfrm>
            <a:off x="1747225" y="32436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4" name="Google Shape;434;p29"/>
          <p:cNvSpPr txBox="1">
            <a:spLocks noGrp="1"/>
          </p:cNvSpPr>
          <p:nvPr>
            <p:ph type="body" idx="4"/>
          </p:nvPr>
        </p:nvSpPr>
        <p:spPr>
          <a:xfrm>
            <a:off x="5685325" y="16508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5" name="Google Shape;435;p29"/>
          <p:cNvSpPr txBox="1">
            <a:spLocks noGrp="1"/>
          </p:cNvSpPr>
          <p:nvPr>
            <p:ph type="body" idx="5"/>
          </p:nvPr>
        </p:nvSpPr>
        <p:spPr>
          <a:xfrm>
            <a:off x="5685325" y="24472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6" name="Google Shape;436;p29"/>
          <p:cNvSpPr txBox="1">
            <a:spLocks noGrp="1"/>
          </p:cNvSpPr>
          <p:nvPr>
            <p:ph type="body" idx="6"/>
          </p:nvPr>
        </p:nvSpPr>
        <p:spPr>
          <a:xfrm>
            <a:off x="5685325" y="32437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7" name="Google Shape;437;p29"/>
          <p:cNvSpPr/>
          <p:nvPr/>
        </p:nvSpPr>
        <p:spPr>
          <a:xfrm rot="5400000">
            <a:off x="47675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8" name="Google Shape;438;p29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9" name="Google Shape;439;p29"/>
          <p:cNvSpPr/>
          <p:nvPr/>
        </p:nvSpPr>
        <p:spPr>
          <a:xfrm rot="5400000">
            <a:off x="8834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0" name="Google Shape;440;p29"/>
          <p:cNvSpPr/>
          <p:nvPr/>
        </p:nvSpPr>
        <p:spPr>
          <a:xfrm rot="5400000">
            <a:off x="8834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1" name="Google Shape;441;p29"/>
          <p:cNvSpPr/>
          <p:nvPr/>
        </p:nvSpPr>
        <p:spPr>
          <a:xfrm rot="5400000">
            <a:off x="47675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2" name="Google Shape;442;p29"/>
          <p:cNvSpPr/>
          <p:nvPr/>
        </p:nvSpPr>
        <p:spPr>
          <a:xfrm rot="5400000">
            <a:off x="47675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3" name="Google Shape;443;p29"/>
          <p:cNvSpPr txBox="1"/>
          <p:nvPr/>
        </p:nvSpPr>
        <p:spPr>
          <a:xfrm>
            <a:off x="985647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4" name="Google Shape;444;p29"/>
          <p:cNvSpPr txBox="1"/>
          <p:nvPr/>
        </p:nvSpPr>
        <p:spPr>
          <a:xfrm>
            <a:off x="985647" y="255458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5" name="Google Shape;445;p29"/>
          <p:cNvSpPr txBox="1"/>
          <p:nvPr/>
        </p:nvSpPr>
        <p:spPr>
          <a:xfrm>
            <a:off x="985647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6" name="Google Shape;446;p29"/>
          <p:cNvSpPr txBox="1"/>
          <p:nvPr/>
        </p:nvSpPr>
        <p:spPr>
          <a:xfrm>
            <a:off x="4868853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7" name="Google Shape;447;p29"/>
          <p:cNvSpPr txBox="1"/>
          <p:nvPr/>
        </p:nvSpPr>
        <p:spPr>
          <a:xfrm>
            <a:off x="4868853" y="2554580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8" name="Google Shape;448;p29"/>
          <p:cNvSpPr txBox="1"/>
          <p:nvPr/>
        </p:nvSpPr>
        <p:spPr>
          <a:xfrm>
            <a:off x="4868853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5 - Table des matières [7]">
  <p:cSld name="95 - Table des matières [7]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"/>
          <p:cNvSpPr txBox="1">
            <a:spLocks noGrp="1"/>
          </p:cNvSpPr>
          <p:nvPr>
            <p:ph type="title"/>
          </p:nvPr>
        </p:nvSpPr>
        <p:spPr>
          <a:xfrm>
            <a:off x="829600" y="891150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1" name="Google Shape;451;p30"/>
          <p:cNvSpPr txBox="1">
            <a:spLocks noGrp="1"/>
          </p:cNvSpPr>
          <p:nvPr>
            <p:ph type="body" idx="1"/>
          </p:nvPr>
        </p:nvSpPr>
        <p:spPr>
          <a:xfrm>
            <a:off x="1678225" y="13977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2" name="Google Shape;452;p30"/>
          <p:cNvSpPr txBox="1">
            <a:spLocks noGrp="1"/>
          </p:cNvSpPr>
          <p:nvPr>
            <p:ph type="body" idx="2"/>
          </p:nvPr>
        </p:nvSpPr>
        <p:spPr>
          <a:xfrm>
            <a:off x="1678225" y="21186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3" name="Google Shape;453;p30"/>
          <p:cNvSpPr txBox="1">
            <a:spLocks noGrp="1"/>
          </p:cNvSpPr>
          <p:nvPr>
            <p:ph type="body" idx="3"/>
          </p:nvPr>
        </p:nvSpPr>
        <p:spPr>
          <a:xfrm>
            <a:off x="1678225" y="28520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4" name="Google Shape;454;p30"/>
          <p:cNvSpPr txBox="1">
            <a:spLocks noGrp="1"/>
          </p:cNvSpPr>
          <p:nvPr>
            <p:ph type="body" idx="4"/>
          </p:nvPr>
        </p:nvSpPr>
        <p:spPr>
          <a:xfrm>
            <a:off x="1678125" y="35768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5" name="Google Shape;455;p30"/>
          <p:cNvSpPr txBox="1">
            <a:spLocks noGrp="1"/>
          </p:cNvSpPr>
          <p:nvPr>
            <p:ph type="body" idx="5"/>
          </p:nvPr>
        </p:nvSpPr>
        <p:spPr>
          <a:xfrm>
            <a:off x="5619625" y="1385200"/>
            <a:ext cx="29208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6" name="Google Shape;456;p30"/>
          <p:cNvSpPr txBox="1">
            <a:spLocks noGrp="1"/>
          </p:cNvSpPr>
          <p:nvPr>
            <p:ph type="body" idx="6"/>
          </p:nvPr>
        </p:nvSpPr>
        <p:spPr>
          <a:xfrm>
            <a:off x="5619625" y="210155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7" name="Google Shape;457;p30"/>
          <p:cNvSpPr txBox="1">
            <a:spLocks noGrp="1"/>
          </p:cNvSpPr>
          <p:nvPr>
            <p:ph type="body" idx="7"/>
          </p:nvPr>
        </p:nvSpPr>
        <p:spPr>
          <a:xfrm>
            <a:off x="5619625" y="285210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8" name="Google Shape;458;p30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59" name="Google Shape;459;p30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0" name="Google Shape;460;p30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1" name="Google Shape;461;p30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2" name="Google Shape;462;p30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3" name="Google Shape;463;p30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4" name="Google Shape;464;p30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5" name="Google Shape;465;p30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6" name="Google Shape;466;p30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7" name="Google Shape;467;p30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8" name="Google Shape;468;p30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9" name="Google Shape;469;p30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0" name="Google Shape;470;p30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1" name="Google Shape;471;p30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6 - Table des matières [8]">
  <p:cSld name="96 - Table des matières [8]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1"/>
          <p:cNvSpPr txBox="1">
            <a:spLocks noGrp="1"/>
          </p:cNvSpPr>
          <p:nvPr>
            <p:ph type="title"/>
          </p:nvPr>
        </p:nvSpPr>
        <p:spPr>
          <a:xfrm>
            <a:off x="829600" y="89702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4" name="Google Shape;474;p31"/>
          <p:cNvSpPr txBox="1">
            <a:spLocks noGrp="1"/>
          </p:cNvSpPr>
          <p:nvPr>
            <p:ph type="body" idx="1"/>
          </p:nvPr>
        </p:nvSpPr>
        <p:spPr>
          <a:xfrm>
            <a:off x="1681525" y="13977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5" name="Google Shape;475;p31"/>
          <p:cNvSpPr txBox="1">
            <a:spLocks noGrp="1"/>
          </p:cNvSpPr>
          <p:nvPr>
            <p:ph type="body" idx="2"/>
          </p:nvPr>
        </p:nvSpPr>
        <p:spPr>
          <a:xfrm>
            <a:off x="1681525" y="21207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6" name="Google Shape;476;p31"/>
          <p:cNvSpPr txBox="1">
            <a:spLocks noGrp="1"/>
          </p:cNvSpPr>
          <p:nvPr>
            <p:ph type="body" idx="3"/>
          </p:nvPr>
        </p:nvSpPr>
        <p:spPr>
          <a:xfrm>
            <a:off x="1681525" y="28520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7" name="Google Shape;477;p31"/>
          <p:cNvSpPr txBox="1">
            <a:spLocks noGrp="1"/>
          </p:cNvSpPr>
          <p:nvPr>
            <p:ph type="body" idx="4"/>
          </p:nvPr>
        </p:nvSpPr>
        <p:spPr>
          <a:xfrm>
            <a:off x="1681525" y="35855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8" name="Google Shape;478;p31"/>
          <p:cNvSpPr txBox="1">
            <a:spLocks noGrp="1"/>
          </p:cNvSpPr>
          <p:nvPr>
            <p:ph type="body" idx="5"/>
          </p:nvPr>
        </p:nvSpPr>
        <p:spPr>
          <a:xfrm>
            <a:off x="5619625" y="13978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9" name="Google Shape;479;p31"/>
          <p:cNvSpPr txBox="1">
            <a:spLocks noGrp="1"/>
          </p:cNvSpPr>
          <p:nvPr>
            <p:ph type="body" idx="6"/>
          </p:nvPr>
        </p:nvSpPr>
        <p:spPr>
          <a:xfrm>
            <a:off x="5619625" y="21207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0" name="Google Shape;480;p31"/>
          <p:cNvSpPr txBox="1">
            <a:spLocks noGrp="1"/>
          </p:cNvSpPr>
          <p:nvPr>
            <p:ph type="body" idx="7"/>
          </p:nvPr>
        </p:nvSpPr>
        <p:spPr>
          <a:xfrm>
            <a:off x="5619625" y="28434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1" name="Google Shape;481;p31"/>
          <p:cNvSpPr txBox="1">
            <a:spLocks noGrp="1"/>
          </p:cNvSpPr>
          <p:nvPr>
            <p:ph type="body" idx="8"/>
          </p:nvPr>
        </p:nvSpPr>
        <p:spPr>
          <a:xfrm>
            <a:off x="5619625" y="35663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2" name="Google Shape;482;p31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3" name="Google Shape;483;p31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4" name="Google Shape;484;p31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5" name="Google Shape;485;p31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6" name="Google Shape;486;p31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7" name="Google Shape;487;p31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8" name="Google Shape;488;p31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9" name="Google Shape;489;p31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0" name="Google Shape;490;p31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1" name="Google Shape;491;p31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2" name="Google Shape;492;p31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3" name="Google Shape;493;p31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4" name="Google Shape;494;p31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5" name="Google Shape;495;p31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6" name="Google Shape;496;p31"/>
          <p:cNvSpPr/>
          <p:nvPr/>
        </p:nvSpPr>
        <p:spPr>
          <a:xfrm rot="5400000">
            <a:off x="4788825" y="356642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97" name="Google Shape;497;p31"/>
          <p:cNvSpPr txBox="1"/>
          <p:nvPr/>
        </p:nvSpPr>
        <p:spPr>
          <a:xfrm>
            <a:off x="4814169" y="3638040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7 - Table des matières [9]">
  <p:cSld name="97 - Table des matières [9]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2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0" name="Google Shape;500;p32"/>
          <p:cNvSpPr txBox="1">
            <a:spLocks noGrp="1"/>
          </p:cNvSpPr>
          <p:nvPr>
            <p:ph type="body" idx="1"/>
          </p:nvPr>
        </p:nvSpPr>
        <p:spPr>
          <a:xfrm>
            <a:off x="1681525" y="11224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1" name="Google Shape;501;p32"/>
          <p:cNvSpPr txBox="1">
            <a:spLocks noGrp="1"/>
          </p:cNvSpPr>
          <p:nvPr>
            <p:ph type="body" idx="2"/>
          </p:nvPr>
        </p:nvSpPr>
        <p:spPr>
          <a:xfrm>
            <a:off x="1681525" y="18195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2" name="Google Shape;502;p32"/>
          <p:cNvSpPr txBox="1">
            <a:spLocks noGrp="1"/>
          </p:cNvSpPr>
          <p:nvPr>
            <p:ph type="body" idx="3"/>
          </p:nvPr>
        </p:nvSpPr>
        <p:spPr>
          <a:xfrm>
            <a:off x="1681525" y="24900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3" name="Google Shape;503;p32"/>
          <p:cNvSpPr txBox="1">
            <a:spLocks noGrp="1"/>
          </p:cNvSpPr>
          <p:nvPr>
            <p:ph type="body" idx="4"/>
          </p:nvPr>
        </p:nvSpPr>
        <p:spPr>
          <a:xfrm>
            <a:off x="1681525" y="32864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4" name="Google Shape;504;p32"/>
          <p:cNvSpPr txBox="1">
            <a:spLocks noGrp="1"/>
          </p:cNvSpPr>
          <p:nvPr>
            <p:ph type="body" idx="5"/>
          </p:nvPr>
        </p:nvSpPr>
        <p:spPr>
          <a:xfrm>
            <a:off x="1681525" y="39788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5" name="Google Shape;505;p32"/>
          <p:cNvSpPr txBox="1">
            <a:spLocks noGrp="1"/>
          </p:cNvSpPr>
          <p:nvPr>
            <p:ph type="body" idx="6"/>
          </p:nvPr>
        </p:nvSpPr>
        <p:spPr>
          <a:xfrm>
            <a:off x="5619625" y="10771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6" name="Google Shape;506;p32"/>
          <p:cNvSpPr txBox="1">
            <a:spLocks noGrp="1"/>
          </p:cNvSpPr>
          <p:nvPr>
            <p:ph type="body" idx="7"/>
          </p:nvPr>
        </p:nvSpPr>
        <p:spPr>
          <a:xfrm>
            <a:off x="5619625" y="18106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7" name="Google Shape;507;p32"/>
          <p:cNvSpPr txBox="1">
            <a:spLocks noGrp="1"/>
          </p:cNvSpPr>
          <p:nvPr>
            <p:ph type="body" idx="8"/>
          </p:nvPr>
        </p:nvSpPr>
        <p:spPr>
          <a:xfrm>
            <a:off x="5619625" y="26070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8" name="Google Shape;508;p32"/>
          <p:cNvSpPr txBox="1">
            <a:spLocks noGrp="1"/>
          </p:cNvSpPr>
          <p:nvPr>
            <p:ph type="body" idx="9"/>
          </p:nvPr>
        </p:nvSpPr>
        <p:spPr>
          <a:xfrm>
            <a:off x="5619625" y="32145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9" name="Google Shape;509;p32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0" name="Google Shape;510;p32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1" name="Google Shape;511;p32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2" name="Google Shape;512;p32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3" name="Google Shape;513;p32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4" name="Google Shape;514;p32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5" name="Google Shape;515;p32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6" name="Google Shape;516;p32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7" name="Google Shape;517;p32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8" name="Google Shape;518;p32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9" name="Google Shape;519;p32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0" name="Google Shape;520;p32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1" name="Google Shape;521;p32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2" name="Google Shape;522;p32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3" name="Google Shape;523;p32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4" name="Google Shape;524;p32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5" name="Google Shape;525;p32"/>
          <p:cNvSpPr/>
          <p:nvPr/>
        </p:nvSpPr>
        <p:spPr>
          <a:xfrm rot="5400000">
            <a:off x="4788825" y="32573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6" name="Google Shape;526;p32"/>
          <p:cNvSpPr txBox="1"/>
          <p:nvPr/>
        </p:nvSpPr>
        <p:spPr>
          <a:xfrm>
            <a:off x="4814169" y="33289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8 - Table des matières [10]">
  <p:cSld name="98 - Table des matières [10]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3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29" name="Google Shape;529;p33"/>
          <p:cNvSpPr txBox="1">
            <a:spLocks noGrp="1"/>
          </p:cNvSpPr>
          <p:nvPr>
            <p:ph type="body" idx="1"/>
          </p:nvPr>
        </p:nvSpPr>
        <p:spPr>
          <a:xfrm>
            <a:off x="1678225" y="1122425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0" name="Google Shape;530;p33"/>
          <p:cNvSpPr txBox="1">
            <a:spLocks noGrp="1"/>
          </p:cNvSpPr>
          <p:nvPr>
            <p:ph type="body" idx="2"/>
          </p:nvPr>
        </p:nvSpPr>
        <p:spPr>
          <a:xfrm>
            <a:off x="1678225" y="18195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1" name="Google Shape;531;p33"/>
          <p:cNvSpPr txBox="1">
            <a:spLocks noGrp="1"/>
          </p:cNvSpPr>
          <p:nvPr>
            <p:ph type="body" idx="3"/>
          </p:nvPr>
        </p:nvSpPr>
        <p:spPr>
          <a:xfrm>
            <a:off x="1678225" y="255302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2" name="Google Shape;532;p33"/>
          <p:cNvSpPr txBox="1">
            <a:spLocks noGrp="1"/>
          </p:cNvSpPr>
          <p:nvPr>
            <p:ph type="body" idx="4"/>
          </p:nvPr>
        </p:nvSpPr>
        <p:spPr>
          <a:xfrm>
            <a:off x="1678125" y="32864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3" name="Google Shape;533;p33"/>
          <p:cNvSpPr txBox="1">
            <a:spLocks noGrp="1"/>
          </p:cNvSpPr>
          <p:nvPr>
            <p:ph type="body" idx="5"/>
          </p:nvPr>
        </p:nvSpPr>
        <p:spPr>
          <a:xfrm>
            <a:off x="1681525" y="401517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4" name="Google Shape;534;p33"/>
          <p:cNvSpPr txBox="1">
            <a:spLocks noGrp="1"/>
          </p:cNvSpPr>
          <p:nvPr>
            <p:ph type="body" idx="6"/>
          </p:nvPr>
        </p:nvSpPr>
        <p:spPr>
          <a:xfrm>
            <a:off x="5619625" y="11401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5" name="Google Shape;535;p33"/>
          <p:cNvSpPr txBox="1">
            <a:spLocks noGrp="1"/>
          </p:cNvSpPr>
          <p:nvPr>
            <p:ph type="body" idx="7"/>
          </p:nvPr>
        </p:nvSpPr>
        <p:spPr>
          <a:xfrm>
            <a:off x="5619625" y="18736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6" name="Google Shape;536;p33"/>
          <p:cNvSpPr txBox="1">
            <a:spLocks noGrp="1"/>
          </p:cNvSpPr>
          <p:nvPr>
            <p:ph type="body" idx="8"/>
          </p:nvPr>
        </p:nvSpPr>
        <p:spPr>
          <a:xfrm>
            <a:off x="5619625" y="25440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7" name="Google Shape;537;p33"/>
          <p:cNvSpPr txBox="1">
            <a:spLocks noGrp="1"/>
          </p:cNvSpPr>
          <p:nvPr>
            <p:ph type="body" idx="9"/>
          </p:nvPr>
        </p:nvSpPr>
        <p:spPr>
          <a:xfrm>
            <a:off x="5619625" y="33405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8" name="Google Shape;538;p33"/>
          <p:cNvSpPr txBox="1">
            <a:spLocks noGrp="1"/>
          </p:cNvSpPr>
          <p:nvPr>
            <p:ph type="body" idx="13"/>
          </p:nvPr>
        </p:nvSpPr>
        <p:spPr>
          <a:xfrm>
            <a:off x="5619625" y="40329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9" name="Google Shape;539;p33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0" name="Google Shape;540;p33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1" name="Google Shape;541;p33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2" name="Google Shape;542;p33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3" name="Google Shape;543;p33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4" name="Google Shape;544;p33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5" name="Google Shape;545;p33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6" name="Google Shape;546;p33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7" name="Google Shape;547;p33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8" name="Google Shape;548;p33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9" name="Google Shape;549;p33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0" name="Google Shape;550;p33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1" name="Google Shape;551;p33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2" name="Google Shape;552;p33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3" name="Google Shape;553;p33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4" name="Google Shape;554;p33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5" name="Google Shape;555;p33"/>
          <p:cNvSpPr/>
          <p:nvPr/>
        </p:nvSpPr>
        <p:spPr>
          <a:xfrm rot="5400000">
            <a:off x="4788825" y="3261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6" name="Google Shape;556;p33"/>
          <p:cNvSpPr txBox="1"/>
          <p:nvPr/>
        </p:nvSpPr>
        <p:spPr>
          <a:xfrm>
            <a:off x="4814169" y="3333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7" name="Google Shape;557;p33"/>
          <p:cNvSpPr/>
          <p:nvPr/>
        </p:nvSpPr>
        <p:spPr>
          <a:xfrm rot="5400000">
            <a:off x="47888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8" name="Google Shape;558;p33"/>
          <p:cNvSpPr txBox="1"/>
          <p:nvPr/>
        </p:nvSpPr>
        <p:spPr>
          <a:xfrm>
            <a:off x="48141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9 - Table des matières [all]">
  <p:cSld name="99 - Table des matières [all]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4"/>
          <p:cNvSpPr txBox="1">
            <a:spLocks noGrp="1"/>
          </p:cNvSpPr>
          <p:nvPr>
            <p:ph type="title"/>
          </p:nvPr>
        </p:nvSpPr>
        <p:spPr>
          <a:xfrm>
            <a:off x="564931" y="360737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1" name="Google Shape;561;p34"/>
          <p:cNvSpPr txBox="1">
            <a:spLocks noGrp="1"/>
          </p:cNvSpPr>
          <p:nvPr>
            <p:ph type="body" idx="1"/>
          </p:nvPr>
        </p:nvSpPr>
        <p:spPr>
          <a:xfrm>
            <a:off x="571500" y="803050"/>
            <a:ext cx="70530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2" name="Google Shape;562;p34"/>
          <p:cNvSpPr txBox="1">
            <a:spLocks noGrp="1"/>
          </p:cNvSpPr>
          <p:nvPr>
            <p:ph type="body" idx="2"/>
          </p:nvPr>
        </p:nvSpPr>
        <p:spPr>
          <a:xfrm>
            <a:off x="7624600" y="803050"/>
            <a:ext cx="10161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 2">
  <p:cSld name="03 - Titre et sous-titre_1_2"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5"/>
          <p:cNvSpPr txBox="1">
            <a:spLocks noGrp="1"/>
          </p:cNvSpPr>
          <p:nvPr>
            <p:ph type="subTitle" idx="1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5" name="Google Shape;565;p35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7" name="Google Shape;7;p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" name="Google Shape;10;p1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1" name="Google Shape;11;p1"/>
          <p:cNvCxnSpPr>
            <a:stCxn id="12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1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4" name="Google Shape;14;p1"/>
          <p:cNvCxnSpPr>
            <a:endCxn id="13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1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1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" name="Google Shape;16;p1"/>
          <p:cNvCxnSpPr>
            <a:stCxn id="15" idx="2"/>
            <a:endCxn id="13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6">
          <p15:clr>
            <a:srgbClr val="EA4335"/>
          </p15:clr>
        </p15:guide>
        <p15:guide id="2" pos="2880">
          <p15:clr>
            <a:srgbClr val="EA4335"/>
          </p15:clr>
        </p15:guide>
        <p15:guide id="3" orient="horz" pos="3064">
          <p15:clr>
            <a:srgbClr val="EA4335"/>
          </p15:clr>
        </p15:guide>
        <p15:guide id="4" orient="horz" pos="236">
          <p15:clr>
            <a:srgbClr val="EA4335"/>
          </p15:clr>
        </p15:guide>
        <p15:guide id="5" pos="360">
          <p15:clr>
            <a:srgbClr val="EA4335"/>
          </p15:clr>
        </p15:guide>
        <p15:guide id="6" pos="5403">
          <p15:clr>
            <a:srgbClr val="EA4335"/>
          </p15:clr>
        </p15:guide>
        <p15:guide id="7" orient="horz" pos="515">
          <p15:clr>
            <a:srgbClr val="E46962"/>
          </p15:clr>
        </p15:guide>
        <p15:guide id="8" orient="horz" pos="802">
          <p15:clr>
            <a:srgbClr val="E46962"/>
          </p15:clr>
        </p15:guide>
        <p15:guide id="9" pos="3697">
          <p15:clr>
            <a:srgbClr val="E46962"/>
          </p15:clr>
        </p15:guide>
        <p15:guide id="10" pos="2168">
          <p15:clr>
            <a:srgbClr val="E46962"/>
          </p15:clr>
        </p15:guide>
        <p15:guide id="11" pos="3372">
          <p15:clr>
            <a:srgbClr val="E46962"/>
          </p15:clr>
        </p15:guide>
        <p15:guide id="12" pos="2484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PRODUCT RUN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 TMA augmentée par l'IA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OCTO Technology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r>
              <a:t>Septembre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Ce que nous allons couvrir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Quatre temps : le problème, l'offre, ce qui la rend défendable, et ce que le client achète.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863089"/>
            <a:ext cx="1813941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6947" y="2027681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6947" y="2027681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Outfi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7" y="2521457"/>
            <a:ext cx="1484757" cy="5285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E2356"/>
                </a:solidFill>
                <a:latin typeface="Outfit"/>
              </a:rPr>
              <a:t>Le constat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7" y="3159709"/>
            <a:ext cx="1484757" cy="765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Pourquoi le RUN coûte si cher, et pourquoi c'est réparable maintenant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9177" y="1863089"/>
            <a:ext cx="1813941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23769" y="2027681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3769" y="2027681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Outfi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3769" y="2521457"/>
            <a:ext cx="1484757" cy="5285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E2356"/>
                </a:solidFill>
                <a:latin typeface="Outfit"/>
              </a:rPr>
              <a:t>L'offre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3769" y="3159709"/>
            <a:ext cx="1484757" cy="765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Ce que nous vendons, à qui ça se branche, et par quoi on commence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5998" y="1863089"/>
            <a:ext cx="1813941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20590" y="2027681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0590" y="2027681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Outfi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0590" y="2521457"/>
            <a:ext cx="1484757" cy="5285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E2356"/>
                </a:solidFill>
                <a:latin typeface="Outfit"/>
              </a:rPr>
              <a:t>Ce qui la rend défendable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0590" y="3159709"/>
            <a:ext cx="1484757" cy="765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La preuve, l'apport produit et le terrain agentique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2819" y="1863089"/>
            <a:ext cx="1813941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17411" y="2027681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17411" y="2027681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0E2356"/>
                </a:solidFill>
                <a:latin typeface="Outfit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7411" y="2521457"/>
            <a:ext cx="1484757" cy="5285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E2356"/>
                </a:solidFill>
                <a:latin typeface="Outfit"/>
              </a:rPr>
              <a:t>Conclusion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7411" y="3159709"/>
            <a:ext cx="1484757" cy="765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Comment l'offre se vend, et ce que le client y gagne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E2356"/>
                </a:solidFill>
              </a:rPr>
              <a:t>Le constat</a:t>
            </a:r>
          </a:p>
          <a:p>
            <a:pPr>
              <a:spcBef>
                <a:spcPts val="800"/>
              </a:spcBef>
            </a:pPr>
            <a:r>
              <a:rPr sz="1050" i="1">
                <a:solidFill>
                  <a:srgbClr val="586586"/>
                </a:solidFill>
              </a:rPr>
              <a:t>Pourquoi le RUN coûte si cher, et pourquoi c'est réparable maintenant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0" rIns="0" tIns="0" bIns="0" anchor="ctr"/>
          <a:lstStyle/>
          <a:p>
            <a:pPr algn="ctr" marL="0" indent="0">
              <a:buNone/>
            </a:pPr>
            <a:r>
              <a:rPr sz="1700" b="1">
                <a:solidFill>
                  <a:srgbClr val="0E2356"/>
                </a:solidFill>
                <a:latin typeface="Outfit"/>
              </a:rPr>
              <a:t>1</a:t>
            </a:r>
          </a:p>
        </p:txBody>
      </p:sp>
      <p:pic>
        <p:nvPicPr>
          <p:cNvPr id="4" name="Picture 3" descr="1_0_960x9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Le RUN, là où la valeur se perd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Nos clients paient deux fois : une fois pour construire, une fois pour ne plus comprendre.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188262"/>
            <a:ext cx="3787902" cy="1112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6947" y="131627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6947" y="131627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7" y="1297990"/>
            <a:ext cx="3092958" cy="460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E2356"/>
                </a:solidFill>
                <a:latin typeface="Outfit"/>
              </a:rPr>
              <a:t>Le produit tourne, plus personne ne l'explique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7" y="1832000"/>
            <a:ext cx="3458718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L'équipe de build est partie et les décisions d'architecture ne sont écrites nulle part.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8858" y="1188262"/>
            <a:ext cx="3787902" cy="1112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43450" y="131627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3450" y="131627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9210" y="1297990"/>
            <a:ext cx="3092958" cy="460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E2356"/>
                </a:solidFill>
                <a:latin typeface="Outfit"/>
              </a:rPr>
              <a:t>Chaque bug est traité comme un objet isolé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3450" y="1832000"/>
            <a:ext cx="3458718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Dix-sept tickets pour un seul défaut. Le même incident revient six mois plus tard.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" y="2429103"/>
            <a:ext cx="3787902" cy="1112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6947" y="255711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7" y="255711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7" y="2538831"/>
            <a:ext cx="3092958" cy="460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E2356"/>
                </a:solidFill>
                <a:latin typeface="Outfit"/>
              </a:rPr>
              <a:t>La dette se discute, elle ne se mesure pas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7" y="3072841"/>
            <a:ext cx="3458718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Elle est arbitrée à l'opinion la plus forte, jamais au coût réel des incidents.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8858" y="2429103"/>
            <a:ext cx="3787902" cy="1112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43450" y="255711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43450" y="255711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9210" y="2538831"/>
            <a:ext cx="3092958" cy="460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E2356"/>
                </a:solidFill>
                <a:latin typeface="Outfit"/>
              </a:rPr>
              <a:t>Les retours utilisateurs n'atteignent pas le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3450" y="3072841"/>
            <a:ext cx="3458718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Verbatims, tickets, analytics et dépôts vivent dans quatre outils que personne ne rapproche.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2356" y="3669944"/>
            <a:ext cx="3787902" cy="1112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7" y="379796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7" y="379796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2707" y="3779672"/>
            <a:ext cx="3092958" cy="460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E2356"/>
                </a:solidFill>
                <a:latin typeface="Outfit"/>
              </a:rPr>
              <a:t>Le design system dérive sans que personne le voie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7" y="4313682"/>
            <a:ext cx="3458718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Composants dupliqués hors bibliothèque, écarts de charte non détectés, adoption réelle jamais mesurée.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8858" y="3669944"/>
            <a:ext cx="3787902" cy="1112824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6874" y="368823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00D2DD"/>
                </a:solidFill>
                <a:latin typeface="Outfit"/>
              </a:rPr>
              <a:t>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1738" y="3669944"/>
            <a:ext cx="3422142" cy="111282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Outfit"/>
              </a:rPr>
              <a:t>Le RUN n'est pas un centre de coût à comprimer : c'est le seul endroit où l'on sait vraiment ce que le produit vaut.</a:t>
            </a:r>
            <a:r>
              <a:rPr sz="1250" b="1">
                <a:solidFill>
                  <a:srgbClr val="00D2DD"/>
                </a:solidFill>
                <a:latin typeface="Outfit"/>
              </a:rPr>
              <a:t>  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Pourquoi cette offre est possible maintenant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Deux ruptures se croisent : l'IA sait enfin lire un patrimoine, et le build agentique en produit plus vite qu'on ne le maîtrise.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170432"/>
            <a:ext cx="3787902" cy="2709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5236" y="1335024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5236" y="1335024"/>
            <a:ext cx="1207008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RUPTURE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" y="1682496"/>
            <a:ext cx="3422142" cy="5285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1">
                <a:solidFill>
                  <a:srgbClr val="0E2356"/>
                </a:solidFill>
                <a:latin typeface="Outfit"/>
              </a:rPr>
              <a:t>L'IA sait lire un patrimoine entier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8" y="2403043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9827" y="2339035"/>
            <a:ext cx="3257550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Code, logs, tickets, traces et documents : une seule matière analysable.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8" y="2886303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7" y="2822295"/>
            <a:ext cx="3257550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Une cartographie qui demandait six semaines se produit en quelques jours.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8" y="3369564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7" y="3305556"/>
            <a:ext cx="3257550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Chaque conclusion cite ses preuves : commits, appels d'API, tests.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8858" y="1170432"/>
            <a:ext cx="3787902" cy="2709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61738" y="1335024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61738" y="1335024"/>
            <a:ext cx="1207008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RUPTURE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1738" y="1682496"/>
            <a:ext cx="3422142" cy="5285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1">
                <a:solidFill>
                  <a:srgbClr val="0E2356"/>
                </a:solidFill>
                <a:latin typeface="Outfit"/>
              </a:rPr>
              <a:t>Le build agentique livre plus vite qu'il ne documente</a:t>
            </a:r>
            <a:r>
              <a:rPr sz="1400" b="1">
                <a:solidFill>
                  <a:srgbClr val="0E2356"/>
                </a:solidFill>
                <a:latin typeface="Outfit"/>
              </a:rPr>
              <a:t> (</a:t>
            </a:r>
            <a:r>
              <a:rPr sz="1400" b="1" i="1">
                <a:solidFill>
                  <a:srgbClr val="0E2356"/>
                </a:solidFill>
                <a:latin typeface="Outfit"/>
              </a:rPr>
              <a:t>hypothèse ?</a:t>
            </a:r>
            <a:r>
              <a:rPr sz="1400" b="1">
                <a:solidFill>
                  <a:srgbClr val="0E2356"/>
                </a:solidFill>
                <a:latin typeface="Outfit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89170" y="2403043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26330" y="2339035"/>
            <a:ext cx="3257550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Des produits fonctionnent sans que personne sache pourquoi.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89170" y="2886303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26330" y="2822295"/>
            <a:ext cx="3257550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Nouveaux objets à exploiter : agents, prompts, modèles, outils.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89170" y="3369564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26330" y="3305556"/>
            <a:ext cx="3257550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Le non-déterminisme rend inopérants les réflexes de RUN classiques.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2356" y="4188409"/>
            <a:ext cx="7804404" cy="612190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" y="4206697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00D2DD"/>
                </a:solidFill>
                <a:latin typeface="Outfit"/>
              </a:rPr>
              <a:t>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" y="4188409"/>
            <a:ext cx="6670548" cy="61219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Outfit"/>
              </a:rPr>
              <a:t>Nos clients vont accumuler ces produits en 2026. Personne ne leur vend encore la mise sous contrôle qui va avec.</a:t>
            </a:r>
            <a:r>
              <a:rPr sz="1350" b="1">
                <a:solidFill>
                  <a:srgbClr val="00D2DD"/>
                </a:solidFill>
                <a:latin typeface="Outfit"/>
              </a:rPr>
              <a:t>  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E2356"/>
                </a:solidFill>
              </a:rPr>
              <a:t>L'offre</a:t>
            </a:r>
          </a:p>
          <a:p>
            <a:pPr>
              <a:spcBef>
                <a:spcPts val="800"/>
              </a:spcBef>
            </a:pPr>
            <a:r>
              <a:rPr sz="1050" i="1">
                <a:solidFill>
                  <a:srgbClr val="586586"/>
                </a:solidFill>
              </a:rPr>
              <a:t>Ce que nous vendons, à qui ça se branche, et par quoi on commence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0" rIns="0" tIns="0" bIns="0" anchor="ctr"/>
          <a:lstStyle/>
          <a:p>
            <a:pPr algn="ctr" marL="0" indent="0">
              <a:buNone/>
            </a:pPr>
            <a:r>
              <a:rPr sz="1700" b="1">
                <a:solidFill>
                  <a:srgbClr val="0E2356"/>
                </a:solidFill>
                <a:latin typeface="Outfit"/>
              </a:rPr>
              <a:t>2</a:t>
            </a:r>
          </a:p>
        </p:txBody>
      </p:sp>
      <p:pic>
        <p:nvPicPr>
          <p:cNvPr id="4" name="Picture 3" descr="2_0_960x9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La promesse : des signaux dispersés, des actions traçables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Une seule chaîne, du signal émis par le système à l'adoption mesurée chez l'utilisateur.</a:t>
            </a:r>
          </a:p>
        </p:txBody>
      </p:sp>
      <p:sp>
        <p:nvSpPr>
          <p:cNvPr id="4" name="Chevron 3"/>
          <p:cNvSpPr/>
          <p:nvPr/>
        </p:nvSpPr>
        <p:spPr>
          <a:xfrm>
            <a:off x="562356" y="1170432"/>
            <a:ext cx="1075726" cy="457200"/>
          </a:xfrm>
          <a:prstGeom prst="chevron">
            <a:avLst>
              <a:gd name="adj" fmla="val 20000"/>
            </a:avLst>
          </a:prstGeom>
          <a:solidFill>
            <a:srgbClr val="0E2356"/>
          </a:solidFill>
          <a:ln w="15240">
            <a:solidFill>
              <a:srgbClr val="0E2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Outfit"/>
              </a:rPr>
              <a:t>Signal</a:t>
            </a:r>
          </a:p>
        </p:txBody>
      </p:sp>
      <p:sp>
        <p:nvSpPr>
          <p:cNvPr id="5" name="Chevron 4"/>
          <p:cNvSpPr/>
          <p:nvPr/>
        </p:nvSpPr>
        <p:spPr>
          <a:xfrm>
            <a:off x="1683802" y="1170432"/>
            <a:ext cx="1075726" cy="457200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00" b="1">
                <a:solidFill>
                  <a:srgbClr val="0E2356"/>
                </a:solidFill>
                <a:latin typeface="Outfit"/>
              </a:rPr>
              <a:t>Compréhension</a:t>
            </a:r>
          </a:p>
        </p:txBody>
      </p:sp>
      <p:sp>
        <p:nvSpPr>
          <p:cNvPr id="6" name="Chevron 5"/>
          <p:cNvSpPr/>
          <p:nvPr/>
        </p:nvSpPr>
        <p:spPr>
          <a:xfrm>
            <a:off x="2805248" y="1170432"/>
            <a:ext cx="1075726" cy="457200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00" b="1">
                <a:solidFill>
                  <a:srgbClr val="0E2356"/>
                </a:solidFill>
                <a:latin typeface="Outfit"/>
              </a:rPr>
              <a:t>Décision</a:t>
            </a:r>
          </a:p>
        </p:txBody>
      </p:sp>
      <p:sp>
        <p:nvSpPr>
          <p:cNvPr id="7" name="Chevron 6"/>
          <p:cNvSpPr/>
          <p:nvPr/>
        </p:nvSpPr>
        <p:spPr>
          <a:xfrm>
            <a:off x="3926694" y="1170432"/>
            <a:ext cx="1075726" cy="457200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00" b="1">
                <a:solidFill>
                  <a:srgbClr val="0E2356"/>
                </a:solidFill>
                <a:latin typeface="Outfit"/>
              </a:rPr>
              <a:t>Action</a:t>
            </a:r>
          </a:p>
        </p:txBody>
      </p:sp>
      <p:sp>
        <p:nvSpPr>
          <p:cNvPr id="8" name="Chevron 7"/>
          <p:cNvSpPr/>
          <p:nvPr/>
        </p:nvSpPr>
        <p:spPr>
          <a:xfrm>
            <a:off x="5048141" y="1170432"/>
            <a:ext cx="1075726" cy="457200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00" b="1">
                <a:solidFill>
                  <a:srgbClr val="0E2356"/>
                </a:solidFill>
                <a:latin typeface="Outfit"/>
              </a:rPr>
              <a:t>Validation</a:t>
            </a:r>
          </a:p>
        </p:txBody>
      </p:sp>
      <p:sp>
        <p:nvSpPr>
          <p:cNvPr id="9" name="Chevron 8"/>
          <p:cNvSpPr/>
          <p:nvPr/>
        </p:nvSpPr>
        <p:spPr>
          <a:xfrm>
            <a:off x="6169587" y="1170432"/>
            <a:ext cx="1075726" cy="457200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00" b="1">
                <a:solidFill>
                  <a:srgbClr val="0E2356"/>
                </a:solidFill>
                <a:latin typeface="Outfit"/>
              </a:rPr>
              <a:t>Apprentissage</a:t>
            </a:r>
          </a:p>
        </p:txBody>
      </p:sp>
      <p:sp>
        <p:nvSpPr>
          <p:cNvPr id="10" name="Chevron 9"/>
          <p:cNvSpPr/>
          <p:nvPr/>
        </p:nvSpPr>
        <p:spPr>
          <a:xfrm>
            <a:off x="7291033" y="1170432"/>
            <a:ext cx="1075726" cy="457200"/>
          </a:xfrm>
          <a:prstGeom prst="chevron">
            <a:avLst>
              <a:gd name="adj" fmla="val 20000"/>
            </a:avLst>
          </a:prstGeom>
          <a:solidFill>
            <a:srgbClr val="0E2356"/>
          </a:solidFill>
          <a:ln w="15240">
            <a:solidFill>
              <a:srgbClr val="0E2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Outfit"/>
              </a:rPr>
              <a:t>Adoption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" y="1810512"/>
            <a:ext cx="3787902" cy="22094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" y="1975104"/>
            <a:ext cx="342214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  <a:latin typeface="Outfit"/>
              </a:rPr>
              <a:t>CE QUI ENTRE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" y="2304288"/>
            <a:ext cx="457200" cy="41148"/>
          </a:xfrm>
          <a:prstGeom prst="rect">
            <a:avLst/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2668" y="2537460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7" y="2473452"/>
            <a:ext cx="3257550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Tickets de support et incidents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8" y="2824810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7" y="2760802"/>
            <a:ext cx="3257550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Logs, alertes, traces d'agents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8" y="3112160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7" y="3048152"/>
            <a:ext cx="3257550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Retours utilisateurs et analytics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8" y="3399510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7" y="3335502"/>
            <a:ext cx="3257550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Dépôts, pipelines et dépendances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8" y="3686860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7" y="3622852"/>
            <a:ext cx="3257550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Documentation existante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8858" y="1810512"/>
            <a:ext cx="3787902" cy="22094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61738" y="1975104"/>
            <a:ext cx="342214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0D2DD"/>
                </a:solidFill>
                <a:latin typeface="Outfit"/>
              </a:rPr>
              <a:t>CE QUI EN SORT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61738" y="2304288"/>
            <a:ext cx="457200" cy="41148"/>
          </a:xfrm>
          <a:prstGeom prst="rect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89170" y="2537460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26330" y="2473452"/>
            <a:ext cx="3257550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Un dossier de bug enrichi, dédoublonné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89170" y="2824810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26330" y="2760802"/>
            <a:ext cx="3257550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Une cause racine proposée et prouvée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89170" y="3112160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26330" y="3048152"/>
            <a:ext cx="3257550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Des tests de non-régression générés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89170" y="3399510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26330" y="3335502"/>
            <a:ext cx="3257550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Un runbook et une documentation à jour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89170" y="3686860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26330" y="3622852"/>
            <a:ext cx="3257550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Une priorité argumentée, pas subie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2356" y="4188409"/>
            <a:ext cx="7804404" cy="612190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8660" y="4206697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00D2DD"/>
                </a:solidFill>
                <a:latin typeface="Outfit"/>
              </a:rPr>
              <a:t>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" y="4188409"/>
            <a:ext cx="6670548" cy="61219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Outfit"/>
              </a:rPr>
              <a:t>Chaque action reste attribuée à un humain qui décide. L'IA instruit le dossier, elle ne prend pas la main.</a:t>
            </a:r>
            <a:r>
              <a:rPr sz="1350" b="1">
                <a:solidFill>
                  <a:srgbClr val="00D2DD"/>
                </a:solidFill>
                <a:latin typeface="Outfit"/>
              </a:rPr>
              <a:t>  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Où Agentic Product Run se branche : sur la TMA et le MCO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Nous ne remplaçons pas le contrat existant — nous rendons enfin tenables les engagements qu'il porte déjà.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7108" y="1170432"/>
            <a:ext cx="3106674" cy="335127"/>
          </a:xfrm>
          <a:prstGeom prst="roundRect">
            <a:avLst>
              <a:gd name="adj" fmla="val 6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60086" y="1170432"/>
            <a:ext cx="3106674" cy="335127"/>
          </a:xfrm>
          <a:prstGeom prst="roundRect">
            <a:avLst>
              <a:gd name="adj" fmla="val 6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35124" y="1234440"/>
            <a:ext cx="2850641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3E4F78"/>
                </a:solidFill>
                <a:latin typeface="Outfit"/>
              </a:rPr>
              <a:t>CE QUE LA TMA ET LE MCO ENGAGENT DÉJÀ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88102" y="1234440"/>
            <a:ext cx="2850641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CE QU'AGENTIC PRODUCT RUN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" y="1615287"/>
            <a:ext cx="1298448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  <a:latin typeface="Outfit"/>
              </a:rPr>
              <a:t>Correctif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5124" y="1596999"/>
            <a:ext cx="2850641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Rétablir le service dans le délai prévu</a:t>
            </a:r>
          </a:p>
        </p:txBody>
      </p:sp>
      <p:sp>
        <p:nvSpPr>
          <p:cNvPr id="10" name="Chevron 9"/>
          <p:cNvSpPr/>
          <p:nvPr/>
        </p:nvSpPr>
        <p:spPr>
          <a:xfrm>
            <a:off x="5141214" y="1633575"/>
            <a:ext cx="109728" cy="164592"/>
          </a:xfrm>
          <a:prstGeom prst="chevron">
            <a:avLst/>
          </a:prstGeom>
          <a:solidFill>
            <a:srgbClr val="00D2DD"/>
          </a:solidFill>
          <a:ln w="9525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88102" y="1596999"/>
            <a:ext cx="2850641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0E2356"/>
                </a:solidFill>
                <a:latin typeface="Outfit"/>
              </a:rPr>
              <a:t>La cause racine est prouvée, pas devinée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" y="1866061"/>
            <a:ext cx="7804404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" y="2012365"/>
            <a:ext cx="1298448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  <a:latin typeface="Outfit"/>
              </a:rPr>
              <a:t>Évolutif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5124" y="1994077"/>
            <a:ext cx="2850641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Absorber les évolutions au fil de l'eau</a:t>
            </a:r>
          </a:p>
        </p:txBody>
      </p:sp>
      <p:sp>
        <p:nvSpPr>
          <p:cNvPr id="15" name="Chevron 14"/>
          <p:cNvSpPr/>
          <p:nvPr/>
        </p:nvSpPr>
        <p:spPr>
          <a:xfrm>
            <a:off x="5141214" y="2030653"/>
            <a:ext cx="109728" cy="164592"/>
          </a:xfrm>
          <a:prstGeom prst="chevron">
            <a:avLst/>
          </a:prstGeom>
          <a:solidFill>
            <a:srgbClr val="00D2DD"/>
          </a:solidFill>
          <a:ln w="9525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88102" y="1994077"/>
            <a:ext cx="2850641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0E2356"/>
                </a:solidFill>
                <a:latin typeface="Outfit"/>
              </a:rPr>
              <a:t>L'impact est connu avant de s'engager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2356" y="2263139"/>
            <a:ext cx="7804404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" y="2409444"/>
            <a:ext cx="1298448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  <a:latin typeface="Outfit"/>
              </a:rPr>
              <a:t>Disponibilité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5124" y="2391156"/>
            <a:ext cx="2850641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Tenir les niveaux de service et l'astreinte</a:t>
            </a:r>
          </a:p>
        </p:txBody>
      </p:sp>
      <p:sp>
        <p:nvSpPr>
          <p:cNvPr id="20" name="Chevron 19"/>
          <p:cNvSpPr/>
          <p:nvPr/>
        </p:nvSpPr>
        <p:spPr>
          <a:xfrm>
            <a:off x="5141214" y="2427732"/>
            <a:ext cx="109728" cy="164592"/>
          </a:xfrm>
          <a:prstGeom prst="chevron">
            <a:avLst/>
          </a:prstGeom>
          <a:solidFill>
            <a:srgbClr val="00D2DD"/>
          </a:solidFill>
          <a:ln w="9525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88102" y="2391156"/>
            <a:ext cx="2850641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0E2356"/>
                </a:solidFill>
                <a:latin typeface="Outfit"/>
              </a:rPr>
              <a:t>Les récurrents sont traités à la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2356" y="2660218"/>
            <a:ext cx="7804404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356" y="2806522"/>
            <a:ext cx="1298448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  <a:latin typeface="Outfit"/>
              </a:rPr>
              <a:t>Documentation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5124" y="2788234"/>
            <a:ext cx="2850641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Maintenir la documentation d'exploitation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5141214" y="2824810"/>
            <a:ext cx="109728" cy="164592"/>
          </a:xfrm>
          <a:prstGeom prst="chevron">
            <a:avLst/>
          </a:prstGeom>
          <a:solidFill>
            <a:srgbClr val="00D2DD"/>
          </a:solidFill>
          <a:ln w="9525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88102" y="2788234"/>
            <a:ext cx="2850641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0E2356"/>
                </a:solidFill>
                <a:latin typeface="Outfit"/>
              </a:rPr>
              <a:t>Elle se met à jour par la résolution, datée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2356" y="3057296"/>
            <a:ext cx="7804404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2356" y="3203600"/>
            <a:ext cx="1298448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  <a:latin typeface="Outfit"/>
              </a:rPr>
              <a:t>Sécurité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35124" y="3185312"/>
            <a:ext cx="2850641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Appliquer les correctifs de sécurité</a:t>
            </a:r>
          </a:p>
        </p:txBody>
      </p:sp>
      <p:sp>
        <p:nvSpPr>
          <p:cNvPr id="30" name="Chevron 29"/>
          <p:cNvSpPr/>
          <p:nvPr/>
        </p:nvSpPr>
        <p:spPr>
          <a:xfrm>
            <a:off x="5141214" y="3221888"/>
            <a:ext cx="109728" cy="164592"/>
          </a:xfrm>
          <a:prstGeom prst="chevron">
            <a:avLst/>
          </a:prstGeom>
          <a:solidFill>
            <a:srgbClr val="00D2DD"/>
          </a:solidFill>
          <a:ln w="9525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88102" y="3185312"/>
            <a:ext cx="2850641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0E2356"/>
                </a:solidFill>
                <a:latin typeface="Outfit"/>
              </a:rPr>
              <a:t>Vulnérabilités alertées avant l'incident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2356" y="3454374"/>
            <a:ext cx="7804404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2356" y="3600678"/>
            <a:ext cx="1298448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  <a:latin typeface="Outfit"/>
              </a:rPr>
              <a:t>Réversibilité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35124" y="3582390"/>
            <a:ext cx="2850641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Rendre le patrimoine reprenable à la sortie</a:t>
            </a:r>
          </a:p>
        </p:txBody>
      </p:sp>
      <p:sp>
        <p:nvSpPr>
          <p:cNvPr id="35" name="Chevron 34"/>
          <p:cNvSpPr/>
          <p:nvPr/>
        </p:nvSpPr>
        <p:spPr>
          <a:xfrm>
            <a:off x="5141214" y="3618966"/>
            <a:ext cx="109728" cy="164592"/>
          </a:xfrm>
          <a:prstGeom prst="chevron">
            <a:avLst/>
          </a:prstGeom>
          <a:solidFill>
            <a:srgbClr val="00D2DD"/>
          </a:solidFill>
          <a:ln w="9525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88102" y="3582390"/>
            <a:ext cx="2850641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0E2356"/>
                </a:solidFill>
                <a:latin typeface="Outfit"/>
              </a:rPr>
              <a:t>La cartographie est produite en continu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2356" y="4188409"/>
            <a:ext cx="7804404" cy="612190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8660" y="4206697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00D2DD"/>
                </a:solidFill>
                <a:latin typeface="Outfit"/>
              </a:rPr>
              <a:t>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" y="4188409"/>
            <a:ext cx="6670548" cy="61219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Outfit"/>
              </a:rPr>
              <a:t>Le meilleur point d'entrée commercial n'est pas un nouveau budget : c'est le prochain renouvellement de TMA.</a:t>
            </a:r>
            <a:r>
              <a:rPr sz="1350" b="1">
                <a:solidFill>
                  <a:srgbClr val="00D2DD"/>
                </a:solidFill>
                <a:latin typeface="Outfit"/>
              </a:rPr>
              <a:t>  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Le parcours en trois temps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Une porte d'entrée courte et bornée, puis deux prolongements que le client déclenche s'il a vu la valeur.</a:t>
            </a:r>
          </a:p>
        </p:txBody>
      </p:sp>
      <p:sp>
        <p:nvSpPr>
          <p:cNvPr id="4" name="Rectangle 3"/>
          <p:cNvSpPr/>
          <p:nvPr/>
        </p:nvSpPr>
        <p:spPr>
          <a:xfrm>
            <a:off x="928116" y="1513332"/>
            <a:ext cx="7072884" cy="2743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527048"/>
            <a:ext cx="2455164" cy="31135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>
            <a:off x="708659" y="1353312"/>
            <a:ext cx="2162556" cy="347472"/>
          </a:xfrm>
          <a:prstGeom prst="round2SameRect">
            <a:avLst/>
          </a:prstGeom>
          <a:solidFill>
            <a:srgbClr val="0E2356"/>
          </a:solidFill>
          <a:ln w="12700">
            <a:solidFill>
              <a:srgbClr val="0E2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59" y="1435608"/>
            <a:ext cx="21625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1 · RUN Readiness 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7" y="1673351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7" y="1673351"/>
            <a:ext cx="118872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E4F78"/>
                </a:solidFill>
                <a:latin typeface="Outfit"/>
              </a:rPr>
              <a:t>2 à 4 semaines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" y="2084831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39" y="2020824"/>
            <a:ext cx="1961388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Diagnostic de mise sous contrôle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" y="2508199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39" y="2444191"/>
            <a:ext cx="1961388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Cartographie sur le code réel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" y="2931566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39" y="2867558"/>
            <a:ext cx="1961388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Score de maturité RUN sur 10 domaines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7" y="3391509"/>
            <a:ext cx="2125980" cy="523951"/>
          </a:xfrm>
          <a:prstGeom prst="roundRect">
            <a:avLst>
              <a:gd name="adj" fmla="val 6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0100" y="3446373"/>
            <a:ext cx="41148" cy="414223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" y="3473805"/>
            <a:ext cx="1851660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0E2356"/>
                </a:solidFill>
                <a:latin typeface="Outfit"/>
              </a:rPr>
              <a:t>Un état des lieux opposable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7" y="4043476"/>
            <a:ext cx="2125980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7" y="4134916"/>
            <a:ext cx="2125980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586586"/>
                </a:solidFill>
                <a:latin typeface="Outfit"/>
              </a:rPr>
              <a:t>Autonomie 0-1 — l'IA observe et recommande, rien ne s'exécute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1527048"/>
            <a:ext cx="2455164" cy="31135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>
            <a:off x="3383280" y="1353312"/>
            <a:ext cx="2162556" cy="347472"/>
          </a:xfrm>
          <a:prstGeom prst="round2SameRect">
            <a:avLst/>
          </a:prstGeom>
          <a:solidFill>
            <a:srgbClr val="0E2356"/>
          </a:solidFill>
          <a:ln w="12700">
            <a:solidFill>
              <a:srgbClr val="0E2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1435608"/>
            <a:ext cx="21625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2 · Mise sous contrôle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01568" y="1673351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1673351"/>
            <a:ext cx="118872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E4F78"/>
                </a:solidFill>
                <a:latin typeface="Outfit"/>
              </a:rPr>
              <a:t>3 à 6 mois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2084831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2020824"/>
            <a:ext cx="1961388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Documentation vivante et datée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2508199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0" y="2444191"/>
            <a:ext cx="1961388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Runbooks et procédures de rollback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2931566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2867558"/>
            <a:ext cx="1961388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Observabilité des parcours critiques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01568" y="3391509"/>
            <a:ext cx="2125980" cy="523951"/>
          </a:xfrm>
          <a:prstGeom prst="roundRect">
            <a:avLst>
              <a:gd name="adj" fmla="val 6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74720" y="3446373"/>
            <a:ext cx="41148" cy="414223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02736" y="3473805"/>
            <a:ext cx="1851660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0E2356"/>
                </a:solidFill>
                <a:latin typeface="Outfit"/>
              </a:rPr>
              <a:t>Un produit reprenable sans son équipe de build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01568" y="4043476"/>
            <a:ext cx="2125980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01568" y="4134916"/>
            <a:ext cx="2125980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586586"/>
                </a:solidFill>
                <a:latin typeface="Outfit"/>
              </a:rPr>
              <a:t>Autonomie 2-3 — tout est préparé, un humain valide avant d'appliquer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11596" y="1527048"/>
            <a:ext cx="2455164" cy="31135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6057900" y="1353312"/>
            <a:ext cx="2162556" cy="347472"/>
          </a:xfrm>
          <a:prstGeom prst="round2SameRect">
            <a:avLst/>
          </a:prstGeom>
          <a:solidFill>
            <a:srgbClr val="0E2356"/>
          </a:solidFill>
          <a:ln w="12700">
            <a:solidFill>
              <a:srgbClr val="0E2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57900" y="1435608"/>
            <a:ext cx="21625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3 · RUN augmenté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76188" y="1673351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76188" y="1673351"/>
            <a:ext cx="118872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E4F78"/>
                </a:solidFill>
                <a:latin typeface="Outfit"/>
              </a:rPr>
              <a:t>12 à 24 mois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03620" y="2084831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40779" y="2020824"/>
            <a:ext cx="1961388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Triage, investigation, reproduction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03620" y="2508199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40779" y="2444191"/>
            <a:ext cx="1961388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Maintenance préventive et alerting sécurité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03620" y="2931566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40779" y="2867558"/>
            <a:ext cx="1961388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AgentOps pour les produits agentiques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76188" y="3391509"/>
            <a:ext cx="2125980" cy="523951"/>
          </a:xfrm>
          <a:prstGeom prst="roundRect">
            <a:avLst>
              <a:gd name="adj" fmla="val 6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49340" y="3446373"/>
            <a:ext cx="41148" cy="414223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77356" y="3473805"/>
            <a:ext cx="1851660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0E2356"/>
                </a:solidFill>
                <a:latin typeface="Outfit"/>
              </a:rPr>
              <a:t>Un RUN qui apprend de chaque incident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4043476"/>
            <a:ext cx="2125980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76188" y="4134916"/>
            <a:ext cx="2125980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586586"/>
                </a:solidFill>
                <a:latin typeface="Outfit"/>
              </a:rPr>
              <a:t>Autonomie 4 — périmètre restreint et réversible, rollback obligatoire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La porte d'entrée : le RUN Readiness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Dix questions auxquelles presque aucun de nos clients ne sait répondre sur son propre produit.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356" y="1170432"/>
            <a:ext cx="4617720" cy="298551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2084" y="1216152"/>
            <a:ext cx="1298448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7108" y="1216152"/>
            <a:ext cx="3044952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Composants et flux critiques identifiés 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" y="1514703"/>
            <a:ext cx="1298448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Ownership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7108" y="1514703"/>
            <a:ext cx="3044952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Chaque composant a-t-il un propriétaire ?</a:t>
            </a:r>
          </a:p>
        </p:txBody>
      </p:sp>
      <p:sp>
        <p:nvSpPr>
          <p:cNvPr id="9" name="Rectangle 8"/>
          <p:cNvSpPr/>
          <p:nvPr/>
        </p:nvSpPr>
        <p:spPr>
          <a:xfrm>
            <a:off x="562356" y="1767535"/>
            <a:ext cx="4617720" cy="298551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" y="1813255"/>
            <a:ext cx="1298448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Observabilité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7108" y="1813255"/>
            <a:ext cx="3044952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Parcours critiques sous monitoring 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" y="2111806"/>
            <a:ext cx="1298448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7108" y="2111806"/>
            <a:ext cx="3044952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Couverture de tests sur le critique 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" y="2364638"/>
            <a:ext cx="4617720" cy="298551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" y="2410358"/>
            <a:ext cx="1298448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Documentation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07108" y="2410358"/>
            <a:ext cx="3044952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Exploitation et rollback documentés 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" y="2708910"/>
            <a:ext cx="1298448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Sécurité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07108" y="2708910"/>
            <a:ext cx="3044952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Secrets et dépendances maîtrisés 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356" y="2961741"/>
            <a:ext cx="4617720" cy="298551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" y="3007461"/>
            <a:ext cx="1298448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Dette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07108" y="3007461"/>
            <a:ext cx="3044952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Risques techniques connus et chiffrés 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" y="3306013"/>
            <a:ext cx="1298448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IA et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7108" y="3306013"/>
            <a:ext cx="3044952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Modèles, prompts et outils inventoriés 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2356" y="3558844"/>
            <a:ext cx="4617720" cy="298551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" y="3604564"/>
            <a:ext cx="1298448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Continuité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07108" y="3604564"/>
            <a:ext cx="3044952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Reprise possible sans l'équipe de build 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" y="3903116"/>
            <a:ext cx="1298448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Gouvernance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07108" y="3903116"/>
            <a:ext cx="3044952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Niveaux d'autonomie explicites 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26380" y="1170432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26380" y="1170432"/>
            <a:ext cx="1572768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2 À 4 SEMAINES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26380" y="1572768"/>
            <a:ext cx="3040380" cy="22094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09260" y="1737360"/>
            <a:ext cx="26746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0D2DD"/>
                </a:solidFill>
                <a:latin typeface="Outfit"/>
              </a:rPr>
              <a:t>CE QUE LE CLIENT REPART AVEC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09260" y="2066543"/>
            <a:ext cx="457200" cy="41148"/>
          </a:xfrm>
          <a:prstGeom prst="rect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536692" y="2299715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73852" y="2235708"/>
            <a:ext cx="2510028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Un score de maturité RUN par domaine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36692" y="2587066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73852" y="2523058"/>
            <a:ext cx="2510028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La cartographie du produit, sourcée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36692" y="2874416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73852" y="2810408"/>
            <a:ext cx="2510028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La liste explicite des zones inconnues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36692" y="3161766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73852" y="3097758"/>
            <a:ext cx="2510028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Un backlog de sécurisation priorisé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36692" y="3449116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73852" y="3385108"/>
            <a:ext cx="2510028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Les risques bloquants avant production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2356" y="4283964"/>
            <a:ext cx="7804404" cy="402336"/>
          </a:xfrm>
          <a:prstGeom prst="roundRect">
            <a:avLst>
              <a:gd name="adj" fmla="val 12000"/>
            </a:avLst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62356" y="4283964"/>
            <a:ext cx="54864" cy="402336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8388" y="4283964"/>
            <a:ext cx="7292340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1C2330"/>
                </a:solidFill>
                <a:latin typeface="Outfit"/>
              </a:rPr>
              <a:t>Un diagnostic court et borné, qui ouvre la conversation sur tout le reste.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E2356"/>
                </a:solidFill>
              </a:rPr>
              <a:t>Ce qui la rend défendable</a:t>
            </a:r>
          </a:p>
          <a:p>
            <a:pPr>
              <a:spcBef>
                <a:spcPts val="800"/>
              </a:spcBef>
            </a:pPr>
            <a:r>
              <a:rPr sz="1050" i="1">
                <a:solidFill>
                  <a:srgbClr val="586586"/>
                </a:solidFill>
              </a:rPr>
              <a:t>La preuve, l'apport produit et le terrain agentique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0" rIns="0" tIns="0" bIns="0" anchor="ctr"/>
          <a:lstStyle/>
          <a:p>
            <a:pPr algn="ctr" marL="0" indent="0">
              <a:buNone/>
            </a:pPr>
            <a:r>
              <a:rPr sz="1700" b="1">
                <a:solidFill>
                  <a:srgbClr val="0E2356"/>
                </a:solidFill>
                <a:latin typeface="Outfit"/>
              </a:rPr>
              <a:t>3</a:t>
            </a:r>
          </a:p>
        </p:txBody>
      </p:sp>
      <p:pic>
        <p:nvPicPr>
          <p:cNvPr id="4" name="Picture 3" descr="3_0_960x9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Ce qui nous distingue : la preuve, pas la fluidité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Une documentation élégante et fausse coûte plus cher que pas de documentation du tout.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170432"/>
            <a:ext cx="3520440" cy="257312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5236" y="1335024"/>
            <a:ext cx="2395728" cy="23774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5236" y="1335024"/>
            <a:ext cx="2395728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SANS CETTE EXIGENCE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" y="171907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586586"/>
                </a:solidFill>
                <a:latin typeface="Outfit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116" y="1719072"/>
            <a:ext cx="2971800" cy="410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1">
                <a:solidFill>
                  <a:srgbClr val="0E2356"/>
                </a:solidFill>
                <a:latin typeface="Outfit"/>
              </a:rPr>
              <a:t>Une réponse plausible </a:t>
            </a:r>
            <a:r>
              <a:rPr sz="1050">
                <a:solidFill>
                  <a:srgbClr val="3E4F78"/>
                </a:solidFill>
                <a:latin typeface="Outfit"/>
              </a:rPr>
              <a:t>que personne ne peut vérifier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" y="220233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586586"/>
                </a:solidFill>
                <a:latin typeface="Outfit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" y="2202332"/>
            <a:ext cx="2971800" cy="410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1">
                <a:solidFill>
                  <a:srgbClr val="0E2356"/>
                </a:solidFill>
                <a:latin typeface="Outfit"/>
              </a:rPr>
              <a:t>Une documentation lisse </a:t>
            </a:r>
            <a:r>
              <a:rPr sz="1050">
                <a:solidFill>
                  <a:srgbClr val="3E4F78"/>
                </a:solidFill>
                <a:latin typeface="Outfit"/>
              </a:rPr>
              <a:t>dont on ignore la date et la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" y="268559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586586"/>
                </a:solidFill>
                <a:latin typeface="Outfit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" y="2685592"/>
            <a:ext cx="2971800" cy="410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1">
                <a:solidFill>
                  <a:srgbClr val="0E2356"/>
                </a:solidFill>
                <a:latin typeface="Outfit"/>
              </a:rPr>
              <a:t>Une contradiction </a:t>
            </a:r>
            <a:r>
              <a:rPr sz="1050">
                <a:solidFill>
                  <a:srgbClr val="3E4F78"/>
                </a:solidFill>
                <a:latin typeface="Outfit"/>
              </a:rPr>
              <a:t>silencieusement arbitrée par le modèle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" y="3168853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586586"/>
                </a:solidFill>
                <a:latin typeface="Outfit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" y="3168853"/>
            <a:ext cx="2971800" cy="410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1">
                <a:solidFill>
                  <a:srgbClr val="0E2356"/>
                </a:solidFill>
                <a:latin typeface="Outfit"/>
              </a:rPr>
              <a:t>Une recommandation </a:t>
            </a:r>
            <a:r>
              <a:rPr sz="1050">
                <a:solidFill>
                  <a:srgbClr val="3E4F78"/>
                </a:solidFill>
                <a:latin typeface="Outfit"/>
              </a:rPr>
              <a:t>sans responsable ni niveau de confiance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170432"/>
            <a:ext cx="3520440" cy="257312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0" y="1335024"/>
            <a:ext cx="2395728" cy="23774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335024"/>
            <a:ext cx="2395728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AVEC L'EXIGENCE DE PREUVE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71907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0D2DD"/>
                </a:solidFill>
                <a:latin typeface="Outfit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1719072"/>
            <a:ext cx="2971800" cy="410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1">
                <a:solidFill>
                  <a:srgbClr val="0E2356"/>
                </a:solidFill>
                <a:latin typeface="Outfit"/>
              </a:rPr>
              <a:t>Chaque conclusion cite ses sources </a:t>
            </a:r>
            <a:r>
              <a:rPr sz="1050">
                <a:solidFill>
                  <a:srgbClr val="3E4F78"/>
                </a:solidFill>
                <a:latin typeface="Outfit"/>
              </a:rPr>
              <a:t>commits, appels d'API,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20233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0D2DD"/>
                </a:solidFill>
                <a:latin typeface="Outfit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202332"/>
            <a:ext cx="2971800" cy="410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1">
                <a:solidFill>
                  <a:srgbClr val="0E2356"/>
                </a:solidFill>
                <a:latin typeface="Outfit"/>
              </a:rPr>
              <a:t>Tout élément porte sa date </a:t>
            </a:r>
            <a:r>
              <a:rPr sz="1050">
                <a:solidFill>
                  <a:srgbClr val="3E4F78"/>
                </a:solidFill>
                <a:latin typeface="Outfit"/>
              </a:rPr>
              <a:t>de dernière vérification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68559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0D2DD"/>
                </a:solidFill>
                <a:latin typeface="Outfit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685592"/>
            <a:ext cx="2971800" cy="410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1">
                <a:solidFill>
                  <a:srgbClr val="0E2356"/>
                </a:solidFill>
                <a:latin typeface="Outfit"/>
              </a:rPr>
              <a:t>Les contradictions sont remontées </a:t>
            </a:r>
            <a:r>
              <a:rPr sz="1050">
                <a:solidFill>
                  <a:srgbClr val="3E4F78"/>
                </a:solidFill>
                <a:latin typeface="Outfit"/>
              </a:rPr>
              <a:t>jamais tranchées sans un humain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168853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0D2DD"/>
                </a:solidFill>
                <a:latin typeface="Outfit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168853"/>
            <a:ext cx="2971800" cy="410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1">
                <a:solidFill>
                  <a:srgbClr val="0E2356"/>
                </a:solidFill>
                <a:latin typeface="Outfit"/>
              </a:rPr>
              <a:t>Chaque recommandation nomme </a:t>
            </a:r>
            <a:r>
              <a:rPr sz="1050">
                <a:solidFill>
                  <a:srgbClr val="3E4F78"/>
                </a:solidFill>
                <a:latin typeface="Outfit"/>
              </a:rPr>
              <a:t>sa confiance et son valideur</a:t>
            </a:r>
          </a:p>
        </p:txBody>
      </p:sp>
      <p:sp>
        <p:nvSpPr>
          <p:cNvPr id="26" name="Chevron 25"/>
          <p:cNvSpPr/>
          <p:nvPr/>
        </p:nvSpPr>
        <p:spPr>
          <a:xfrm>
            <a:off x="4190238" y="2182672"/>
            <a:ext cx="548640" cy="548640"/>
          </a:xfrm>
          <a:prstGeom prst="chevron">
            <a:avLst/>
          </a:prstGeom>
          <a:solidFill>
            <a:srgbClr val="FFFFFF"/>
          </a:solidFill>
          <a:ln w="3175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2356" y="3985412"/>
            <a:ext cx="7804404" cy="815187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" y="400370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00D2DD"/>
                </a:solidFill>
                <a:latin typeface="Outfit"/>
              </a:rPr>
              <a:t>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" y="3985412"/>
            <a:ext cx="6670548" cy="815187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utfit"/>
              </a:rPr>
              <a:t>Le service Billing semble responsable du calcul des remises — confiance 82 %, sur six appels d'API et trois tests ; une page Confluence plus ancienne dit le contraire.</a:t>
            </a:r>
            <a:r>
              <a:rPr sz="1300" b="1">
                <a:solidFill>
                  <a:srgbClr val="00D2DD"/>
                </a:solidFill>
                <a:latin typeface="Outfit"/>
              </a:rPr>
              <a:t>  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Le RUN n'alimente pas que l'exploitation : il alimente le produit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Un incident bien instruit est une donnée produit ; aujourd'hui elle se perd entre le support et la roadmap.</a:t>
            </a:r>
          </a:p>
        </p:txBody>
      </p:sp>
      <p:sp>
        <p:nvSpPr>
          <p:cNvPr id="4" name="Oval 3"/>
          <p:cNvSpPr/>
          <p:nvPr/>
        </p:nvSpPr>
        <p:spPr>
          <a:xfrm>
            <a:off x="1721358" y="1207008"/>
            <a:ext cx="1572768" cy="157276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5865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67662" y="1682496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800" b="1" i="0">
                <a:solidFill>
                  <a:srgbClr val="586586"/>
                </a:solidFill>
                <a:latin typeface="Outfi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2798" y="2011680"/>
            <a:ext cx="13898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0E2356"/>
                </a:solidFill>
                <a:latin typeface="Outfit"/>
              </a:rPr>
              <a:t>Écouter</a:t>
            </a:r>
          </a:p>
        </p:txBody>
      </p:sp>
      <p:sp>
        <p:nvSpPr>
          <p:cNvPr id="7" name="Chevron 6"/>
          <p:cNvSpPr/>
          <p:nvPr/>
        </p:nvSpPr>
        <p:spPr>
          <a:xfrm>
            <a:off x="3367278" y="1883664"/>
            <a:ext cx="237744" cy="219456"/>
          </a:xfrm>
          <a:prstGeom prst="chevron">
            <a:avLst/>
          </a:prstGeom>
          <a:solidFill>
            <a:srgbClr val="00D2DD"/>
          </a:solidFill>
          <a:ln w="9525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78174" y="1207008"/>
            <a:ext cx="1572768" cy="157276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5865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24478" y="1682496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800" b="1" i="0">
                <a:solidFill>
                  <a:srgbClr val="586586"/>
                </a:solidFill>
                <a:latin typeface="Outfi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9613" y="2011680"/>
            <a:ext cx="13898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0E2356"/>
                </a:solidFill>
                <a:latin typeface="Outfit"/>
              </a:rPr>
              <a:t>Arbitrer</a:t>
            </a:r>
          </a:p>
        </p:txBody>
      </p:sp>
      <p:sp>
        <p:nvSpPr>
          <p:cNvPr id="11" name="Chevron 10"/>
          <p:cNvSpPr/>
          <p:nvPr/>
        </p:nvSpPr>
        <p:spPr>
          <a:xfrm>
            <a:off x="5324094" y="1883664"/>
            <a:ext cx="237744" cy="219456"/>
          </a:xfrm>
          <a:prstGeom prst="chevron">
            <a:avLst/>
          </a:prstGeom>
          <a:solidFill>
            <a:srgbClr val="00D2DD"/>
          </a:solidFill>
          <a:ln w="9525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34990" y="1207008"/>
            <a:ext cx="1572768" cy="15727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81294" y="1682496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800" b="1" i="0">
                <a:solidFill>
                  <a:srgbClr val="00D2DD"/>
                </a:solidFill>
                <a:latin typeface="Outfi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26430" y="2011680"/>
            <a:ext cx="13898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0E2356"/>
                </a:solidFill>
                <a:latin typeface="Outfit"/>
              </a:rPr>
              <a:t>Refermer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2486" y="2944368"/>
            <a:ext cx="1810512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Verbatims, tickets et usage regroupés par problème réel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9302" y="2944368"/>
            <a:ext cx="1810512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Fréquence et impact mesurés, dette priorisée par son coût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16118" y="2944368"/>
            <a:ext cx="1810512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L'utilisateur recontacté, l'effet sur l'usage mesuré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21358" y="3486607"/>
            <a:ext cx="5486400" cy="408279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 rot="10800000">
            <a:off x="1867662" y="3581019"/>
            <a:ext cx="237744" cy="219456"/>
          </a:xfrm>
          <a:prstGeom prst="chevron">
            <a:avLst/>
          </a:prstGeom>
          <a:solidFill>
            <a:srgbClr val="00D2DD"/>
          </a:solidFill>
          <a:ln w="9525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6846" y="3587191"/>
            <a:ext cx="4535424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Ce qui a marché devient une règle réutilisable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" y="4188409"/>
            <a:ext cx="7804404" cy="612190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" y="4206697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00D2DD"/>
                </a:solidFill>
                <a:latin typeface="Outfit"/>
              </a:rPr>
              <a:t>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" y="4188409"/>
            <a:ext cx="6670548" cy="61219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Outfit"/>
              </a:rPr>
              <a:t>C'est ce qui transforme un contrat de maintenance en levier de croissance produit — et ce qui rend l'offre défendable face à un directeur produit.</a:t>
            </a:r>
            <a:r>
              <a:rPr sz="1350" b="1">
                <a:solidFill>
                  <a:srgbClr val="00D2DD"/>
                </a:solidFill>
                <a:latin typeface="Outfit"/>
              </a:rPr>
              <a:t>  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Le terrain où nous sommes seuls : les produits agentiques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Ce que nos clients construisent en 2026 avec des agents, ils devront l'exploiter en 2027.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08276" y="1248384"/>
            <a:ext cx="6158484" cy="813816"/>
          </a:xfrm>
          <a:prstGeom prst="roundRect">
            <a:avLst>
              <a:gd name="adj" fmla="val 6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2356" y="1551736"/>
            <a:ext cx="1517904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586586"/>
                </a:solidFill>
                <a:latin typeface="Outfit"/>
              </a:rPr>
              <a:t>CE QU'IL FAUT EXPLOITER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2868" y="1376400"/>
            <a:ext cx="658368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4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2868" y="1376400"/>
            <a:ext cx="658368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E4F78"/>
                </a:solidFill>
                <a:latin typeface="Outfit"/>
              </a:rPr>
              <a:t>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13532" y="1376400"/>
            <a:ext cx="722376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4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13532" y="1376400"/>
            <a:ext cx="722376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E4F78"/>
                </a:solidFill>
                <a:latin typeface="Outfit"/>
              </a:rPr>
              <a:t>Prompts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18204" y="1376400"/>
            <a:ext cx="722376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4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18204" y="1376400"/>
            <a:ext cx="722376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E4F78"/>
                </a:solidFill>
                <a:latin typeface="Outfit"/>
              </a:rPr>
              <a:t>Modèles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22876" y="1376400"/>
            <a:ext cx="658368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4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2876" y="1376400"/>
            <a:ext cx="658368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E4F78"/>
                </a:solidFill>
                <a:latin typeface="Outfit"/>
              </a:rPr>
              <a:t>Outils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63540" y="1376400"/>
            <a:ext cx="78638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4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3540" y="1376400"/>
            <a:ext cx="786384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E4F78"/>
                </a:solidFill>
                <a:latin typeface="Outfit"/>
              </a:rPr>
              <a:t>Mémoires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2220" y="1376400"/>
            <a:ext cx="658368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4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2220" y="1376400"/>
            <a:ext cx="658368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E4F78"/>
                </a:solidFill>
                <a:latin typeface="Outfit"/>
              </a:rPr>
              <a:t>Traces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2868" y="1687296"/>
            <a:ext cx="1362456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4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2868" y="1687296"/>
            <a:ext cx="1362456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E4F78"/>
                </a:solidFill>
                <a:latin typeface="Outfit"/>
              </a:rPr>
              <a:t>Jeux d'évaluation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17620" y="1687296"/>
            <a:ext cx="978408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4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7620" y="1687296"/>
            <a:ext cx="978408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E4F78"/>
                </a:solidFill>
                <a:latin typeface="Outfit"/>
              </a:rPr>
              <a:t>Permissions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08276" y="2181072"/>
            <a:ext cx="6158484" cy="813816"/>
          </a:xfrm>
          <a:prstGeom prst="roundRect">
            <a:avLst>
              <a:gd name="adj" fmla="val 6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356" y="2484424"/>
            <a:ext cx="1517904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586586"/>
                </a:solidFill>
                <a:latin typeface="Outfit"/>
              </a:rPr>
              <a:t>CE QUI DÉRAILLE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72868" y="2309088"/>
            <a:ext cx="1298448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4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2868" y="2309088"/>
            <a:ext cx="1298448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E4F78"/>
                </a:solidFill>
                <a:latin typeface="Outfit"/>
              </a:rPr>
              <a:t>Dérive de modèle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53612" y="2309088"/>
            <a:ext cx="155448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4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53612" y="2309088"/>
            <a:ext cx="1554480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E4F78"/>
                </a:solidFill>
                <a:latin typeface="Outfit"/>
              </a:rPr>
              <a:t>Régression de prompt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90388" y="2309088"/>
            <a:ext cx="722376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4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0388" y="2309088"/>
            <a:ext cx="722376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E4F78"/>
                </a:solidFill>
                <a:latin typeface="Outfit"/>
              </a:rPr>
              <a:t>Boucles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5060" y="2309088"/>
            <a:ext cx="123444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4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5060" y="2309088"/>
            <a:ext cx="1234440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E4F78"/>
                </a:solidFill>
                <a:latin typeface="Outfit"/>
              </a:rPr>
              <a:t>Erreurs d'outil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72868" y="2619984"/>
            <a:ext cx="155448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4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2868" y="2619984"/>
            <a:ext cx="1554480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E4F78"/>
                </a:solidFill>
                <a:latin typeface="Outfit"/>
              </a:rPr>
              <a:t>Dépassements de coût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09644" y="2619984"/>
            <a:ext cx="2130552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4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09644" y="2619984"/>
            <a:ext cx="2130552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E4F78"/>
                </a:solidFill>
                <a:latin typeface="Outfit"/>
              </a:rPr>
              <a:t>Exécutions non reproductibles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08276" y="3113760"/>
            <a:ext cx="6158484" cy="813816"/>
          </a:xfrm>
          <a:prstGeom prst="roundRect">
            <a:avLst>
              <a:gd name="adj" fmla="val 6000"/>
            </a:avLst>
          </a:prstGeom>
          <a:solidFill>
            <a:srgbClr val="DB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2356" y="3417112"/>
            <a:ext cx="1517904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00D2DD"/>
                </a:solidFill>
                <a:latin typeface="Outfit"/>
              </a:rPr>
              <a:t>CE QUE NOUS INSTRUMENTONS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72868" y="3241776"/>
            <a:ext cx="142646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2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72868" y="3241776"/>
            <a:ext cx="1426464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Réussite par tâche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81628" y="3241776"/>
            <a:ext cx="155448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2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81628" y="3241776"/>
            <a:ext cx="1554480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Intervention humaine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18404" y="3241776"/>
            <a:ext cx="1362456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2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18404" y="3241776"/>
            <a:ext cx="1362456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Coût par résultat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72868" y="3552672"/>
            <a:ext cx="1362456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2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72868" y="3552672"/>
            <a:ext cx="1362456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Latence par étape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17620" y="3552672"/>
            <a:ext cx="206654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2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17620" y="3552672"/>
            <a:ext cx="2066544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Régressions après changement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66460" y="3552672"/>
            <a:ext cx="1490472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2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66460" y="3552672"/>
            <a:ext cx="1490472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Autonomie explicite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2356" y="4188409"/>
            <a:ext cx="7804404" cy="612190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8660" y="4206697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00D2DD"/>
                </a:solidFill>
                <a:latin typeface="Outfit"/>
              </a:rPr>
              <a:t>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9284" y="4188409"/>
            <a:ext cx="6670548" cy="61219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Outfit"/>
              </a:rPr>
              <a:t>Un seul modèle pour le microservice classique et pour l'agent : c'est ce qui nous évite de vendre deux offres qui ne se parlent pas.</a:t>
            </a:r>
            <a:r>
              <a:rPr sz="1350" b="1">
                <a:solidFill>
                  <a:srgbClr val="00D2DD"/>
                </a:solidFill>
                <a:latin typeface="Outfit"/>
              </a:rPr>
              <a:t>  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E2356"/>
                </a:solidFill>
              </a:rPr>
              <a:t>Conclusion</a:t>
            </a:r>
          </a:p>
          <a:p>
            <a:pPr>
              <a:spcBef>
                <a:spcPts val="800"/>
              </a:spcBef>
            </a:pPr>
            <a:r>
              <a:rPr sz="1050" i="1">
                <a:solidFill>
                  <a:srgbClr val="586586"/>
                </a:solidFill>
              </a:rPr>
              <a:t>Comment l'offre se vend, et ce que le client y gagne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0" rIns="0" tIns="0" bIns="0" anchor="ctr"/>
          <a:lstStyle/>
          <a:p>
            <a:pPr algn="ctr" marL="0" indent="0">
              <a:buNone/>
            </a:pPr>
            <a:r>
              <a:rPr sz="1700" b="1">
                <a:solidFill>
                  <a:srgbClr val="0E2356"/>
                </a:solidFill>
                <a:latin typeface="Outfit"/>
              </a:rPr>
              <a:t>4</a:t>
            </a:r>
          </a:p>
        </p:txBody>
      </p:sp>
      <p:pic>
        <p:nvPicPr>
          <p:cNvPr id="4" name="Picture 3" descr="4_0_960x9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Comment cette offre se vend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Une offre ne tient que si l'on sait à qui l'adresser, sur quel événement, et avec qui la délivrer.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353769"/>
            <a:ext cx="3787902" cy="1549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6947" y="1490929"/>
            <a:ext cx="345871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  <a:latin typeface="Outfit"/>
              </a:rPr>
              <a:t>À QUI</a:t>
            </a:r>
          </a:p>
        </p:txBody>
      </p:sp>
      <p:sp>
        <p:nvSpPr>
          <p:cNvPr id="6" name="Rectangle 5"/>
          <p:cNvSpPr/>
          <p:nvPr/>
        </p:nvSpPr>
        <p:spPr>
          <a:xfrm>
            <a:off x="726947" y="1820113"/>
            <a:ext cx="457200" cy="41148"/>
          </a:xfrm>
          <a:prstGeom prst="rect">
            <a:avLst/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4380" y="2053285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39" y="1989277"/>
            <a:ext cx="3294126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DSI et CTO au patrimoine applicatif chargé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" y="2324404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539" y="2260396"/>
            <a:ext cx="3294126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Directions produit héritant d'un build externalisé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" y="2595524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39" y="2531516"/>
            <a:ext cx="3294126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Responsables d'exploitation face à des produits 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8858" y="1353769"/>
            <a:ext cx="3787902" cy="1549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3450" y="1490929"/>
            <a:ext cx="345871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  <a:latin typeface="Outfit"/>
              </a:rPr>
              <a:t>SUR QUEL DÉCLENCHEUR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43450" y="1820113"/>
            <a:ext cx="457200" cy="41148"/>
          </a:xfrm>
          <a:prstGeom prst="rect">
            <a:avLst/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70882" y="2053285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08042" y="1989277"/>
            <a:ext cx="3294126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Fin de build ou transfert à une autre équipe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70882" y="2324404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8042" y="2260396"/>
            <a:ext cx="3294126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Incident majeur dont personne ne retrouve la cause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70882" y="2595524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08042" y="2531516"/>
            <a:ext cx="3294126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Premier produit agentique qui passe en production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" y="3067811"/>
            <a:ext cx="3787902" cy="1549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7" y="3204971"/>
            <a:ext cx="345871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  <a:latin typeface="Outfit"/>
              </a:rPr>
              <a:t>AVEC QUELLE ÉQUIPE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7" y="3534155"/>
            <a:ext cx="457200" cy="41148"/>
          </a:xfrm>
          <a:prstGeom prst="rect">
            <a:avLst/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4380" y="3767327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539" y="3703319"/>
            <a:ext cx="3294126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Un tech lead qui connaît le patrimoine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" y="4038447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39" y="3974439"/>
            <a:ext cx="3294126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Un architecte pour la cartographie et les risques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4380" y="4309567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539" y="4245559"/>
            <a:ext cx="3294126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Un expert IA pour les agents et leur évaluation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8858" y="3067811"/>
            <a:ext cx="3787902" cy="1549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43450" y="3204971"/>
            <a:ext cx="345871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0D2DD"/>
                </a:solidFill>
                <a:latin typeface="Outfit"/>
              </a:rPr>
              <a:t>CE QU'IL NOUS MANQUE POUR VENDRE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43450" y="3534155"/>
            <a:ext cx="457200" cy="41148"/>
          </a:xfrm>
          <a:prstGeom prst="rect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770882" y="3767327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08042" y="3703319"/>
            <a:ext cx="3294126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Une référence client, même anonymisée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70882" y="4038447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08042" y="3974439"/>
            <a:ext cx="3294126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Un point d'accroche dans nos contrats TMA en cours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70882" y="4309567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08042" y="4245559"/>
            <a:ext cx="3294126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Un exemple de livrable à montrer en rendez-vous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Ce que le client achète, en trois arguments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Si vous ne deviez retenir que trois phrases pour ouvrir la conversation, ce sont celles-ci.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484985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2356" y="1484985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Outfi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" y="1404404"/>
            <a:ext cx="4210812" cy="2578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E2356"/>
                </a:solidFill>
                <a:latin typeface="Outfit"/>
              </a:rPr>
              <a:t>Il reprend la main sur un produit qu'il ne comprend 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" y="1735416"/>
            <a:ext cx="4210812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Cartographie sur le code réel, zones inconnues nommées.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12964"/>
            <a:ext cx="2788920" cy="7463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865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24144" y="1440980"/>
            <a:ext cx="41148" cy="490346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1481099"/>
            <a:ext cx="2368296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0E2356"/>
                </a:solidFill>
                <a:latin typeface="Outfit"/>
              </a:rPr>
              <a:t>« Je peux reprendre ce produit sans l'équipe qui l'a construit. 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" y="2132495"/>
            <a:ext cx="7804404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2356" y="237766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" y="237766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Outfi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" y="2297087"/>
            <a:ext cx="4210812" cy="2578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E2356"/>
                </a:solidFill>
                <a:latin typeface="Outfit"/>
              </a:rPr>
              <a:t>Il arrête de payer deux fois le même incident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" y="2628099"/>
            <a:ext cx="4210812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Causes racines prouvées, dette priorisée par son coût.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2205647"/>
            <a:ext cx="2788920" cy="7463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865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24144" y="2333663"/>
            <a:ext cx="41148" cy="490346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2373782"/>
            <a:ext cx="2368296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0E2356"/>
                </a:solidFill>
                <a:latin typeface="Outfit"/>
              </a:rPr>
              <a:t>« Ce qui casse chez moi cesse de revenir. 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356" y="3025178"/>
            <a:ext cx="7804404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2356" y="3270351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" y="3270351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Outfi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" y="3189770"/>
            <a:ext cx="4210812" cy="2578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E2356"/>
                </a:solidFill>
                <a:latin typeface="Outfit"/>
              </a:rPr>
              <a:t>Son contrat de maintenance produit de la valeur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" y="3520782"/>
            <a:ext cx="4210812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Les retours utilisateurs alimentent la roadmap.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77840" y="3098330"/>
            <a:ext cx="2788920" cy="7463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24144" y="3226346"/>
            <a:ext cx="41148" cy="490346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3266465"/>
            <a:ext cx="2368296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0E2356"/>
                </a:solidFill>
                <a:latin typeface="Outfit"/>
              </a:rPr>
              <a:t>« Ma TMA ne défend plus l'existant : elle fait avancer le produit. 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" y="4188409"/>
            <a:ext cx="7804404" cy="612190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" y="4206697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00D2DD"/>
                </a:solidFill>
                <a:latin typeface="Outfit"/>
              </a:rPr>
              <a:t>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" y="4188409"/>
            <a:ext cx="6670548" cy="61219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Outfit"/>
              </a:rPr>
              <a:t>Et le premier pas ne demande aucun arbitrage budgétaire lourd : un diagnostic court sur un seul produit suffit à le prouver.</a:t>
            </a:r>
            <a:r>
              <a:rPr sz="1350" b="1">
                <a:solidFill>
                  <a:srgbClr val="00D2DD"/>
                </a:solidFill>
                <a:latin typeface="Outfit"/>
              </a:rPr>
              <a:t>  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6 - OCTO">
  <a:themeElements>
    <a:clrScheme name="Custom">
      <a:dk1>
        <a:srgbClr val="0E2356"/>
      </a:dk1>
      <a:lt1>
        <a:srgbClr val="FFFFFF"/>
      </a:lt1>
      <a:dk2>
        <a:srgbClr val="3E4F78"/>
      </a:dk2>
      <a:lt2>
        <a:srgbClr val="586586"/>
      </a:lt2>
      <a:accent1>
        <a:srgbClr val="6E7B9A"/>
      </a:accent1>
      <a:accent2>
        <a:srgbClr val="9FA7BB"/>
      </a:accent2>
      <a:accent3>
        <a:srgbClr val="00D2DD"/>
      </a:accent3>
      <a:accent4>
        <a:srgbClr val="B7BDCC"/>
      </a:accent4>
      <a:accent5>
        <a:srgbClr val="CFD3DD"/>
      </a:accent5>
      <a:accent6>
        <a:srgbClr val="E7E9EE"/>
      </a:accent6>
      <a:hlink>
        <a:srgbClr val="33B5CB"/>
      </a:hlink>
      <a:folHlink>
        <a:srgbClr val="33B5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Custom">
      <a:dk1>
        <a:srgbClr val="0E2356"/>
      </a:dk1>
      <a:lt1>
        <a:srgbClr val="FFFFFF"/>
      </a:lt1>
      <a:dk2>
        <a:srgbClr val="566589"/>
      </a:dk2>
      <a:lt2>
        <a:srgbClr val="8691AA"/>
      </a:lt2>
      <a:accent1>
        <a:srgbClr val="B7BDCC"/>
      </a:accent1>
      <a:accent2>
        <a:srgbClr val="ECEDF3"/>
      </a:accent2>
      <a:accent3>
        <a:srgbClr val="DDF4F8"/>
      </a:accent3>
      <a:accent4>
        <a:srgbClr val="B6E8F0"/>
      </a:accent4>
      <a:accent5>
        <a:srgbClr val="80D7E5"/>
      </a:accent5>
      <a:accent6>
        <a:srgbClr val="00AFCB"/>
      </a:accent6>
      <a:hlink>
        <a:srgbClr val="26BBD3"/>
      </a:hlink>
      <a:folHlink>
        <a:srgbClr val="26BB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</Words>
  <Application>Microsoft Office PowerPoint</Application>
  <PresentationFormat>On-screen Show (16:9)</PresentationFormat>
  <Paragraphs>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Outfit Light</vt:lpstr>
      <vt:lpstr>Century Gothic</vt:lpstr>
      <vt:lpstr>Helvetica Neue Light</vt:lpstr>
      <vt:lpstr>Outfit</vt:lpstr>
      <vt:lpstr>Outfit Medium</vt:lpstr>
      <vt:lpstr>Outfit SemiBold</vt:lpstr>
      <vt:lpstr>2026 - OCTO</vt:lpstr>
      <vt:lpstr>OCTO Technology</vt:lpstr>
      <vt:lpstr>Sommaire</vt:lpstr>
      <vt:lpstr>Contexte</vt:lpstr>
      <vt:lpstr>xxx</vt:lpstr>
      <vt:lpstr>Notre approche</vt:lpstr>
      <vt:lpstr>Notre approche </vt:lpstr>
      <vt:lpstr>Une approche contextualisée pour un premier déploiement aligné </vt:lpstr>
      <vt:lpstr>Planning des interventions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Camus, Claude</cp:lastModifiedBy>
  <cp:revision>1</cp:revision>
  <dcterms:modified xsi:type="dcterms:W3CDTF">2026-06-19T16:03:54Z</dcterms:modified>
</cp:coreProperties>
</file>