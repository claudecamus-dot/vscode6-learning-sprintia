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11"/>
  </p:notesMasterIdLst>
  <p:sldIdLst>
    <p:sldId id="256" r:id="rId10"/>
    <p:sldId id="257" r:id="rId9"/>
    <p:sldId id="258" r:id="rId8"/>
    <p:sldId id="259" r:id="rId7"/>
    <p:sldId id="260" r:id="rId6"/>
    <p:sldId id="261" r:id="rId5"/>
    <p:sldId id="262" r:id="rId4"/>
    <p:sldId id="263" r:id="rId3"/>
    <p:sldId id="264" r:id="rId2"/>
    <p:sldId id="265" r:id="rId32"/>
    <p:sldId id="266" r:id="rId33"/>
    <p:sldId id="267" r:id="rId34"/>
    <p:sldId id="268" r:id="rId35"/>
    <p:sldId id="269" r:id="rId36"/>
    <p:sldId id="270" r:id="rId37"/>
    <p:sldId id="271" r:id="rId38"/>
    <p:sldId id="272" r:id="rId39"/>
    <p:sldId id="273" r:id="rId40"/>
  </p:sldIdLst>
  <p:sldSz cx="9144000" cy="5143500" type="screen16x9"/>
  <p:notesSz cx="6858000" cy="9144000"/>
  <p:embeddedFontLst>
    <p:embeddedFont>
      <p:font typeface="Century Gothic" panose="020B0502020202020204" pitchFamily="34" charset="0"/>
      <p:regular r:id="rId12"/>
      <p:bold r:id="rId13"/>
      <p:italic r:id="rId14"/>
      <p:boldItalic r:id="rId15"/>
    </p:embeddedFont>
    <p:embeddedFont>
      <p:font typeface="Helvetica Neue Light" panose="020B0604020202020204" charset="0"/>
      <p:regular r:id="rId16"/>
      <p:bold r:id="rId17"/>
      <p:italic r:id="rId18"/>
      <p:boldItalic r:id="rId19"/>
    </p:embeddedFont>
    <p:embeddedFont>
      <p:font typeface="Outfit" panose="020B0604020202020204" charset="0"/>
      <p:regular r:id="rId20"/>
      <p:bold r:id="rId21"/>
    </p:embeddedFont>
    <p:embeddedFont>
      <p:font typeface="Outfit Light" panose="020B0604020202020204" charset="0"/>
      <p:regular r:id="rId22"/>
      <p:bold r:id="rId23"/>
    </p:embeddedFont>
    <p:embeddedFont>
      <p:font typeface="Outfit Medium" panose="020B0604020202020204" charset="0"/>
      <p:regular r:id="rId24"/>
      <p:bold r:id="rId25"/>
    </p:embeddedFont>
    <p:embeddedFont>
      <p:font typeface="Outfit SemiBold" panose="020B0604020202020204" charset="0"/>
      <p:regular r:id="rId26"/>
      <p:bold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>
        <p:guide orient="horz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font" Target="fonts/font6.fntdata"/><Relationship Id="rId18" Type="http://schemas.openxmlformats.org/officeDocument/2006/relationships/font" Target="fonts/font7.fntdata"/><Relationship Id="rId19" Type="http://schemas.openxmlformats.org/officeDocument/2006/relationships/font" Target="fonts/font8.fntdata"/><Relationship Id="rId20" Type="http://schemas.openxmlformats.org/officeDocument/2006/relationships/font" Target="fonts/font9.fntdata"/><Relationship Id="rId21" Type="http://schemas.openxmlformats.org/officeDocument/2006/relationships/font" Target="fonts/font10.fntdata"/><Relationship Id="rId22" Type="http://schemas.openxmlformats.org/officeDocument/2006/relationships/font" Target="fonts/font11.fntdata"/><Relationship Id="rId23" Type="http://schemas.openxmlformats.org/officeDocument/2006/relationships/font" Target="fonts/font12.fntdata"/><Relationship Id="rId24" Type="http://schemas.openxmlformats.org/officeDocument/2006/relationships/font" Target="fonts/font13.fntdata"/><Relationship Id="rId25" Type="http://schemas.openxmlformats.org/officeDocument/2006/relationships/font" Target="fonts/font14.fntdata"/><Relationship Id="rId26" Type="http://schemas.openxmlformats.org/officeDocument/2006/relationships/font" Target="fonts/font15.fntdata"/><Relationship Id="rId27" Type="http://schemas.openxmlformats.org/officeDocument/2006/relationships/font" Target="fonts/font16.fntdata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10.xml"/><Relationship Id="rId33" Type="http://schemas.openxmlformats.org/officeDocument/2006/relationships/slide" Target="slides/slide11.xml"/><Relationship Id="rId34" Type="http://schemas.openxmlformats.org/officeDocument/2006/relationships/slide" Target="slides/slide12.xml"/><Relationship Id="rId35" Type="http://schemas.openxmlformats.org/officeDocument/2006/relationships/slide" Target="slides/slide13.xml"/><Relationship Id="rId36" Type="http://schemas.openxmlformats.org/officeDocument/2006/relationships/slide" Target="slides/slide14.xml"/><Relationship Id="rId37" Type="http://schemas.openxmlformats.org/officeDocument/2006/relationships/slide" Target="slides/slide15.xml"/><Relationship Id="rId38" Type="http://schemas.openxmlformats.org/officeDocument/2006/relationships/slide" Target="slides/slide16.xml"/><Relationship Id="rId39" Type="http://schemas.openxmlformats.org/officeDocument/2006/relationships/slide" Target="slides/slide17.xml"/><Relationship Id="rId40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Century Gothic"/>
              <a:buChar char="๏"/>
              <a:defRPr sz="1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Century Gothic"/>
              <a:buChar char="&gt;"/>
              <a:defRPr sz="12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Century Gothic"/>
              <a:buChar char="+"/>
              <a:defRPr sz="10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Courier New"/>
              <a:buChar char="o"/>
              <a:defRPr sz="9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79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Century Gothic"/>
              <a:buChar char="○"/>
              <a:defRPr sz="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273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700"/>
              <a:buFont typeface="Century Gothic"/>
              <a:buChar char="○"/>
              <a:defRPr sz="7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accent6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6 - Slide vide">
  <p:cSld name="06 - Slide vide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oogle Shape;19;p2"/>
          <p:cNvGrpSpPr/>
          <p:nvPr/>
        </p:nvGrpSpPr>
        <p:grpSpPr>
          <a:xfrm>
            <a:off x="276301" y="292130"/>
            <a:ext cx="170063" cy="166438"/>
            <a:chOff x="6838242" y="518225"/>
            <a:chExt cx="1247708" cy="1221114"/>
          </a:xfrm>
        </p:grpSpPr>
        <p:sp>
          <p:nvSpPr>
            <p:cNvPr id="20" name="Google Shape;20;p2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3" name="Google Shape;23;p2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24" name="Google Shape;24;p2"/>
          <p:cNvCxnSpPr>
            <a:stCxn id="25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2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27" name="Google Shape;27;p2"/>
          <p:cNvCxnSpPr>
            <a:endCxn id="26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2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5" name="Google Shape;25;p2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29" name="Google Shape;29;p2"/>
          <p:cNvCxnSpPr>
            <a:stCxn id="28" idx="2"/>
            <a:endCxn id="26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" name="Google Shape;30;p2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 - Titre, sous-titre et contenu">
  <p:cSld name="01 - Titre, sous-titre et contenu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3"/>
          <p:cNvSpPr txBox="1">
            <a:spLocks noGrp="1"/>
          </p:cNvSpPr>
          <p:nvPr>
            <p:ph type="body" idx="1"/>
          </p:nvPr>
        </p:nvSpPr>
        <p:spPr>
          <a:xfrm>
            <a:off x="562825" y="1273150"/>
            <a:ext cx="7957800" cy="35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2"/>
          </p:nvPr>
        </p:nvSpPr>
        <p:spPr>
          <a:xfrm>
            <a:off x="567950" y="773825"/>
            <a:ext cx="79578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79578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0 - Chapitre [1]">
  <p:cSld name="50 - Chapitre [1]">
    <p:bg>
      <p:bgPr>
        <a:solidFill>
          <a:schemeClr val="lt1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"/>
          <p:cNvSpPr/>
          <p:nvPr/>
        </p:nvSpPr>
        <p:spPr>
          <a:xfrm>
            <a:off x="1396875" y="1659950"/>
            <a:ext cx="2560500" cy="2560500"/>
          </a:xfrm>
          <a:prstGeom prst="teardrop">
            <a:avLst>
              <a:gd name="adj" fmla="val 10000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3457625" y="1226750"/>
            <a:ext cx="499500" cy="433200"/>
          </a:xfrm>
          <a:prstGeom prst="round1Rect">
            <a:avLst>
              <a:gd name="adj" fmla="val 5000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700" b="1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8" name="Google Shape;38;p4"/>
          <p:cNvSpPr txBox="1">
            <a:spLocks noGrp="1"/>
          </p:cNvSpPr>
          <p:nvPr>
            <p:ph type="title"/>
          </p:nvPr>
        </p:nvSpPr>
        <p:spPr>
          <a:xfrm>
            <a:off x="4295825" y="1918050"/>
            <a:ext cx="4164300" cy="1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9" name="Google Shape;39;p4"/>
          <p:cNvGrpSpPr/>
          <p:nvPr/>
        </p:nvGrpSpPr>
        <p:grpSpPr>
          <a:xfrm>
            <a:off x="3171776" y="1360130"/>
            <a:ext cx="170063" cy="166438"/>
            <a:chOff x="6838242" y="518225"/>
            <a:chExt cx="1247708" cy="1221114"/>
          </a:xfrm>
        </p:grpSpPr>
        <p:sp>
          <p:nvSpPr>
            <p:cNvPr id="40" name="Google Shape;40;p4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1" name="Google Shape;41;p4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" name="Google Shape;42;p4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3" name="Google Shape;43;p4"/>
          <p:cNvSpPr txBox="1"/>
          <p:nvPr/>
        </p:nvSpPr>
        <p:spPr>
          <a:xfrm>
            <a:off x="84600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44" name="Google Shape;44;p4"/>
          <p:cNvCxnSpPr>
            <a:stCxn id="45" idx="2"/>
          </p:cNvCxnSpPr>
          <p:nvPr/>
        </p:nvCxnSpPr>
        <p:spPr>
          <a:xfrm>
            <a:off x="86768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6" name="Google Shape;46;p4"/>
          <p:cNvSpPr/>
          <p:nvPr/>
        </p:nvSpPr>
        <p:spPr>
          <a:xfrm>
            <a:off x="86635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47" name="Google Shape;47;p4"/>
          <p:cNvCxnSpPr>
            <a:endCxn id="46" idx="2"/>
          </p:cNvCxnSpPr>
          <p:nvPr/>
        </p:nvCxnSpPr>
        <p:spPr>
          <a:xfrm rot="10800000">
            <a:off x="88641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4"/>
          <p:cNvSpPr/>
          <p:nvPr/>
        </p:nvSpPr>
        <p:spPr>
          <a:xfrm rot="-5400000">
            <a:off x="85760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5" name="Google Shape;45;p4"/>
          <p:cNvSpPr/>
          <p:nvPr/>
        </p:nvSpPr>
        <p:spPr>
          <a:xfrm rot="-5400000" flipH="1">
            <a:off x="85760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49" name="Google Shape;49;p4"/>
          <p:cNvCxnSpPr>
            <a:stCxn id="48" idx="2"/>
            <a:endCxn id="46" idx="0"/>
          </p:cNvCxnSpPr>
          <p:nvPr/>
        </p:nvCxnSpPr>
        <p:spPr>
          <a:xfrm>
            <a:off x="86767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" name="Google Shape;50;p4"/>
          <p:cNvSpPr/>
          <p:nvPr/>
        </p:nvSpPr>
        <p:spPr>
          <a:xfrm>
            <a:off x="497875" y="5649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" name="Google Shape;51;p4"/>
          <p:cNvSpPr txBox="1"/>
          <p:nvPr/>
        </p:nvSpPr>
        <p:spPr>
          <a:xfrm rot="-5400000">
            <a:off x="-309195" y="423320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0E2356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52" name="Google Shape;52;p4"/>
          <p:cNvSpPr txBox="1"/>
          <p:nvPr/>
        </p:nvSpPr>
        <p:spPr>
          <a:xfrm>
            <a:off x="2277075" y="2327800"/>
            <a:ext cx="8001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r>
              <a:rPr lang="en-US"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rPr>
              <a:t>ici mettre une Photo</a:t>
            </a:r>
            <a:endParaRPr sz="1400" b="0" i="0" u="none" strike="noStrike" cap="none">
              <a:solidFill>
                <a:srgbClr val="FF4338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3" name="Google Shape;53;p4"/>
          <p:cNvSpPr txBox="1">
            <a:spLocks noGrp="1"/>
          </p:cNvSpPr>
          <p:nvPr>
            <p:ph type="body" idx="1"/>
          </p:nvPr>
        </p:nvSpPr>
        <p:spPr>
          <a:xfrm>
            <a:off x="3457650" y="1226600"/>
            <a:ext cx="499500" cy="43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■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4" name="Google Shape;54;p4"/>
          <p:cNvSpPr/>
          <p:nvPr/>
        </p:nvSpPr>
        <p:spPr>
          <a:xfrm rot="-5400000">
            <a:off x="3014525" y="1216850"/>
            <a:ext cx="433200" cy="453000"/>
          </a:xfrm>
          <a:prstGeom prst="round2SameRect">
            <a:avLst>
              <a:gd name="adj1" fmla="val 50000"/>
              <a:gd name="adj2" fmla="val 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799">
          <p15:clr>
            <a:srgbClr val="FA7B17"/>
          </p15:clr>
        </p15:guide>
        <p15:guide id="2" pos="5625">
          <p15:clr>
            <a:srgbClr val="FA7B17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 - Titre et contenu">
  <p:cSld name="02 - Titre et contenu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5"/>
          <p:cNvSpPr txBox="1">
            <a:spLocks noGrp="1"/>
          </p:cNvSpPr>
          <p:nvPr>
            <p:ph type="body" idx="1"/>
          </p:nvPr>
        </p:nvSpPr>
        <p:spPr>
          <a:xfrm>
            <a:off x="578425" y="817575"/>
            <a:ext cx="7929000" cy="4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7" name="Google Shape;57;p5"/>
          <p:cNvSpPr txBox="1">
            <a:spLocks noGrp="1"/>
          </p:cNvSpPr>
          <p:nvPr>
            <p:ph type="title"/>
          </p:nvPr>
        </p:nvSpPr>
        <p:spPr>
          <a:xfrm>
            <a:off x="562500" y="361400"/>
            <a:ext cx="792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 - Titre et sous-titre">
  <p:cSld name="03 - Titre et sous-titre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6"/>
          <p:cNvSpPr txBox="1">
            <a:spLocks noGrp="1"/>
          </p:cNvSpPr>
          <p:nvPr>
            <p:ph type="subTitle" idx="1"/>
          </p:nvPr>
        </p:nvSpPr>
        <p:spPr>
          <a:xfrm>
            <a:off x="571500" y="779175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 - Titre seul">
  <p:cSld name="04 - Titre seul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7"/>
          <p:cNvSpPr txBox="1">
            <a:spLocks noGrp="1"/>
          </p:cNvSpPr>
          <p:nvPr>
            <p:ph type="title"/>
          </p:nvPr>
        </p:nvSpPr>
        <p:spPr>
          <a:xfrm>
            <a:off x="562500" y="361400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 - Focus">
  <p:cSld name="05 - Focus">
    <p:bg>
      <p:bgPr>
        <a:solidFill>
          <a:schemeClr val="dk2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8"/>
          <p:cNvSpPr/>
          <p:nvPr/>
        </p:nvSpPr>
        <p:spPr>
          <a:xfrm>
            <a:off x="185625" y="210050"/>
            <a:ext cx="190500" cy="175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65" name="Google Shape;65;p8"/>
          <p:cNvSpPr/>
          <p:nvPr/>
        </p:nvSpPr>
        <p:spPr>
          <a:xfrm>
            <a:off x="276300" y="292125"/>
            <a:ext cx="8591400" cy="4571700"/>
          </a:xfrm>
          <a:prstGeom prst="roundRect">
            <a:avLst>
              <a:gd name="adj" fmla="val 355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66" name="Google Shape;66;p8"/>
          <p:cNvSpPr/>
          <p:nvPr/>
        </p:nvSpPr>
        <p:spPr>
          <a:xfrm rot="-5400000">
            <a:off x="-1143306" y="34836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chemeClr val="lt1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67" name="Google Shape;67;p8"/>
          <p:cNvSpPr txBox="1">
            <a:spLocks noGrp="1"/>
          </p:cNvSpPr>
          <p:nvPr>
            <p:ph type="subTitle" idx="1"/>
          </p:nvPr>
        </p:nvSpPr>
        <p:spPr>
          <a:xfrm>
            <a:off x="571500" y="778000"/>
            <a:ext cx="7884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68" name="Google Shape;68;p8"/>
          <p:cNvSpPr txBox="1">
            <a:spLocks noGrp="1"/>
          </p:cNvSpPr>
          <p:nvPr>
            <p:ph type="title"/>
          </p:nvPr>
        </p:nvSpPr>
        <p:spPr>
          <a:xfrm>
            <a:off x="563300" y="361275"/>
            <a:ext cx="7884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69" name="Google Shape;69;p8"/>
          <p:cNvSpPr txBox="1">
            <a:spLocks noGrp="1"/>
          </p:cNvSpPr>
          <p:nvPr>
            <p:ph type="body" idx="2"/>
          </p:nvPr>
        </p:nvSpPr>
        <p:spPr>
          <a:xfrm>
            <a:off x="571500" y="1273150"/>
            <a:ext cx="7884000" cy="3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70" name="Google Shape;70;p8"/>
          <p:cNvGrpSpPr/>
          <p:nvPr/>
        </p:nvGrpSpPr>
        <p:grpSpPr>
          <a:xfrm>
            <a:off x="89501" y="125680"/>
            <a:ext cx="8793074" cy="4738970"/>
            <a:chOff x="89501" y="125680"/>
            <a:chExt cx="8793074" cy="4738970"/>
          </a:xfrm>
        </p:grpSpPr>
        <p:grpSp>
          <p:nvGrpSpPr>
            <p:cNvPr id="71" name="Google Shape;71;p8"/>
            <p:cNvGrpSpPr/>
            <p:nvPr/>
          </p:nvGrpSpPr>
          <p:grpSpPr>
            <a:xfrm>
              <a:off x="89501" y="125680"/>
              <a:ext cx="170063" cy="166438"/>
              <a:chOff x="6838242" y="518225"/>
              <a:chExt cx="1247708" cy="1221114"/>
            </a:xfrm>
          </p:grpSpPr>
          <p:sp>
            <p:nvSpPr>
              <p:cNvPr id="72" name="Google Shape;72;p8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73" name="Google Shape;73;p8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74" name="Google Shape;74;p8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75" name="Google Shape;75;p8"/>
            <p:cNvSpPr/>
            <p:nvPr/>
          </p:nvSpPr>
          <p:spPr>
            <a:xfrm>
              <a:off x="8441325" y="4438950"/>
              <a:ext cx="425700" cy="425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grpSp>
          <p:nvGrpSpPr>
            <p:cNvPr id="76" name="Google Shape;76;p8"/>
            <p:cNvGrpSpPr/>
            <p:nvPr/>
          </p:nvGrpSpPr>
          <p:grpSpPr>
            <a:xfrm>
              <a:off x="8383075" y="4575725"/>
              <a:ext cx="499500" cy="228600"/>
              <a:chOff x="8383075" y="4575725"/>
              <a:chExt cx="499500" cy="228600"/>
            </a:xfrm>
          </p:grpSpPr>
          <p:sp>
            <p:nvSpPr>
              <p:cNvPr id="77" name="Google Shape;77;p8"/>
              <p:cNvSpPr txBox="1"/>
              <p:nvPr/>
            </p:nvSpPr>
            <p:spPr>
              <a:xfrm>
                <a:off x="8383075" y="4575725"/>
                <a:ext cx="4995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Outfit"/>
                  <a:buNone/>
                </a:pPr>
                <a:r>
                  <a:rPr lang="en-US" sz="800" b="0" i="0" u="none" strike="noStrike" cap="none">
                    <a:solidFill>
                      <a:srgbClr val="00D2DD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.</a:t>
                </a:r>
                <a:fld id="{00000000-1234-1234-1234-123412341234}" type="slidenum">
                  <a:rPr lang="en-US" sz="800" b="0" i="0" u="none" strike="noStrike" cap="none">
                    <a:solidFill>
                      <a:srgbClr val="0E2356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‹#›</a:t>
                </a:fld>
                <a:endParaRPr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</p:txBody>
          </p:sp>
          <p:cxnSp>
            <p:nvCxnSpPr>
              <p:cNvPr id="78" name="Google Shape;78;p8"/>
              <p:cNvCxnSpPr>
                <a:stCxn id="79" idx="2"/>
              </p:cNvCxnSpPr>
              <p:nvPr/>
            </p:nvCxnSpPr>
            <p:spPr>
              <a:xfrm>
                <a:off x="8599834" y="4788444"/>
                <a:ext cx="191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80" name="Google Shape;80;p8"/>
              <p:cNvSpPr/>
              <p:nvPr/>
            </p:nvSpPr>
            <p:spPr>
              <a:xfrm>
                <a:off x="8586528" y="4591515"/>
                <a:ext cx="200700" cy="196200"/>
              </a:xfrm>
              <a:prstGeom prst="arc">
                <a:avLst>
                  <a:gd name="adj1" fmla="val 16241889"/>
                  <a:gd name="adj2" fmla="val 167312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cxnSp>
            <p:nvCxnSpPr>
              <p:cNvPr id="81" name="Google Shape;81;p8"/>
              <p:cNvCxnSpPr>
                <a:endCxn id="80" idx="2"/>
              </p:cNvCxnSpPr>
              <p:nvPr/>
            </p:nvCxnSpPr>
            <p:spPr>
              <a:xfrm rot="10800000">
                <a:off x="8787104" y="4694497"/>
                <a:ext cx="0" cy="98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82" name="Google Shape;82;p8"/>
              <p:cNvSpPr/>
              <p:nvPr/>
            </p:nvSpPr>
            <p:spPr>
              <a:xfrm rot="-5400000">
                <a:off x="8499018" y="4593851"/>
                <a:ext cx="200700" cy="196200"/>
              </a:xfrm>
              <a:prstGeom prst="arc">
                <a:avLst>
                  <a:gd name="adj1" fmla="val 16241889"/>
                  <a:gd name="adj2" fmla="val 11524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79" name="Google Shape;79;p8"/>
              <p:cNvSpPr/>
              <p:nvPr/>
            </p:nvSpPr>
            <p:spPr>
              <a:xfrm rot="-5400000" flipH="1">
                <a:off x="8499018" y="4589995"/>
                <a:ext cx="200700" cy="196200"/>
              </a:xfrm>
              <a:prstGeom prst="arc">
                <a:avLst>
                  <a:gd name="adj1" fmla="val 16241889"/>
                  <a:gd name="adj2" fmla="val 15973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cxnSp>
            <p:nvCxnSpPr>
              <p:cNvPr id="83" name="Google Shape;83;p8"/>
              <p:cNvCxnSpPr>
                <a:stCxn id="82" idx="2"/>
                <a:endCxn id="80" idx="0"/>
              </p:cNvCxnSpPr>
              <p:nvPr/>
            </p:nvCxnSpPr>
            <p:spPr>
              <a:xfrm>
                <a:off x="8599704" y="4591602"/>
                <a:ext cx="885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7 - Slide vide fond foncé">
  <p:cSld name="07 - Slide vide fond foncé">
    <p:bg>
      <p:bgPr>
        <a:solidFill>
          <a:schemeClr val="lt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9"/>
          <p:cNvGrpSpPr/>
          <p:nvPr/>
        </p:nvGrpSpPr>
        <p:grpSpPr>
          <a:xfrm>
            <a:off x="276301" y="292130"/>
            <a:ext cx="170063" cy="166438"/>
            <a:chOff x="6838242" y="518225"/>
            <a:chExt cx="1247708" cy="1221114"/>
          </a:xfrm>
        </p:grpSpPr>
        <p:sp>
          <p:nvSpPr>
            <p:cNvPr id="86" name="Google Shape;86;p9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87" name="Google Shape;87;p9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88" name="Google Shape;88;p9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89" name="Google Shape;89;p9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90" name="Google Shape;90;p9"/>
          <p:cNvCxnSpPr>
            <a:stCxn id="91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2" name="Google Shape;92;p9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93" name="Google Shape;93;p9"/>
          <p:cNvCxnSpPr>
            <a:endCxn id="92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4" name="Google Shape;94;p9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1" name="Google Shape;91;p9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95" name="Google Shape;95;p9"/>
          <p:cNvCxnSpPr>
            <a:stCxn id="94" idx="2"/>
            <a:endCxn id="92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6" name="Google Shape;96;p9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7" name="Google Shape;97;p9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40 - Couverture [1]">
  <p:cSld name="40 - Couverture [1]">
    <p:bg>
      <p:bgPr>
        <a:solidFill>
          <a:schemeClr val="lt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100" name="Google Shape;100;p10"/>
          <p:cNvSpPr txBox="1"/>
          <p:nvPr/>
        </p:nvSpPr>
        <p:spPr>
          <a:xfrm rot="-5400000">
            <a:off x="8220930" y="4230075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b="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01" name="Google Shape;101;p10"/>
          <p:cNvGrpSpPr/>
          <p:nvPr/>
        </p:nvGrpSpPr>
        <p:grpSpPr>
          <a:xfrm>
            <a:off x="276293" y="292119"/>
            <a:ext cx="345989" cy="338615"/>
            <a:chOff x="6838242" y="518225"/>
            <a:chExt cx="1247708" cy="1221114"/>
          </a:xfrm>
        </p:grpSpPr>
        <p:sp>
          <p:nvSpPr>
            <p:cNvPr id="102" name="Google Shape;102;p10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3" name="Google Shape;103;p10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4" name="Google Shape;104;p10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105" name="Google Shape;105;p10"/>
          <p:cNvSpPr txBox="1"/>
          <p:nvPr/>
        </p:nvSpPr>
        <p:spPr>
          <a:xfrm>
            <a:off x="182043" y="472785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DIGITAL THINKERS &amp; DOERS</a:t>
            </a:r>
            <a:endParaRPr sz="600" b="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06" name="Google Shape;106;p10"/>
          <p:cNvSpPr/>
          <p:nvPr/>
        </p:nvSpPr>
        <p:spPr>
          <a:xfrm>
            <a:off x="3988625" y="36184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107" name="Google Shape;107;p10"/>
          <p:cNvGrpSpPr/>
          <p:nvPr/>
        </p:nvGrpSpPr>
        <p:grpSpPr>
          <a:xfrm>
            <a:off x="1097923" y="1336707"/>
            <a:ext cx="4598402" cy="1873532"/>
            <a:chOff x="2164723" y="1336707"/>
            <a:chExt cx="4598402" cy="1873532"/>
          </a:xfrm>
        </p:grpSpPr>
        <p:cxnSp>
          <p:nvCxnSpPr>
            <p:cNvPr id="108" name="Google Shape;108;p10"/>
            <p:cNvCxnSpPr/>
            <p:nvPr/>
          </p:nvCxnSpPr>
          <p:spPr>
            <a:xfrm>
              <a:off x="3064700" y="3175550"/>
              <a:ext cx="36981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09" name="Google Shape;109;p10"/>
            <p:cNvSpPr/>
            <p:nvPr/>
          </p:nvSpPr>
          <p:spPr>
            <a:xfrm>
              <a:off x="4924425" y="1371385"/>
              <a:ext cx="1838700" cy="17955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10" name="Google Shape;110;p10"/>
            <p:cNvCxnSpPr>
              <a:endCxn id="109" idx="2"/>
            </p:cNvCxnSpPr>
            <p:nvPr/>
          </p:nvCxnSpPr>
          <p:spPr>
            <a:xfrm rot="10800000">
              <a:off x="6761983" y="2313859"/>
              <a:ext cx="0" cy="8616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1" name="Google Shape;111;p10"/>
            <p:cNvSpPr/>
            <p:nvPr/>
          </p:nvSpPr>
          <p:spPr>
            <a:xfrm rot="-5399439">
              <a:off x="2143273" y="1392988"/>
              <a:ext cx="1838700" cy="17955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12" name="Google Shape;112;p10"/>
            <p:cNvSpPr/>
            <p:nvPr/>
          </p:nvSpPr>
          <p:spPr>
            <a:xfrm rot="-5400561" flipH="1">
              <a:off x="2143273" y="1358457"/>
              <a:ext cx="1838700" cy="17955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13" name="Google Shape;113;p10"/>
            <p:cNvCxnSpPr>
              <a:stCxn id="111" idx="2"/>
              <a:endCxn id="109" idx="0"/>
            </p:cNvCxnSpPr>
            <p:nvPr/>
          </p:nvCxnSpPr>
          <p:spPr>
            <a:xfrm>
              <a:off x="3065855" y="1371394"/>
              <a:ext cx="27888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4" name="Google Shape;114;p10"/>
          <p:cNvSpPr txBox="1"/>
          <p:nvPr/>
        </p:nvSpPr>
        <p:spPr>
          <a:xfrm>
            <a:off x="6997200" y="215900"/>
            <a:ext cx="196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TECHNOLOGY I PART OF ACCENTURE</a:t>
            </a:r>
            <a:endParaRPr sz="600" b="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pic>
        <p:nvPicPr>
          <p:cNvPr id="115" name="Google Shape;115;p10"/>
          <p:cNvPicPr preferRelativeResize="0"/>
          <p:nvPr/>
        </p:nvPicPr>
        <p:blipFill rotWithShape="1">
          <a:blip r:embed="rId3">
            <a:alphaModFix/>
          </a:blip>
          <a:srcRect t="338" b="338"/>
          <a:stretch/>
        </p:blipFill>
        <p:spPr>
          <a:xfrm>
            <a:off x="5866738" y="2120950"/>
            <a:ext cx="1724025" cy="1257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0"/>
          <p:cNvSpPr txBox="1">
            <a:spLocks noGrp="1"/>
          </p:cNvSpPr>
          <p:nvPr>
            <p:ph type="title"/>
          </p:nvPr>
        </p:nvSpPr>
        <p:spPr>
          <a:xfrm>
            <a:off x="1657350" y="1619250"/>
            <a:ext cx="3648000" cy="13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Outfit Medium"/>
              <a:buNone/>
              <a:defRPr sz="2000" i="0" u="none" strike="noStrike" cap="none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17" name="Google Shape;117;p10"/>
          <p:cNvSpPr txBox="1">
            <a:spLocks noGrp="1"/>
          </p:cNvSpPr>
          <p:nvPr>
            <p:ph type="subTitle" idx="1"/>
          </p:nvPr>
        </p:nvSpPr>
        <p:spPr>
          <a:xfrm>
            <a:off x="1657350" y="2668200"/>
            <a:ext cx="3648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9pPr>
          </a:lstStyle>
          <a:p>
            <a:endParaRPr/>
          </a:p>
        </p:txBody>
      </p:sp>
      <p:sp>
        <p:nvSpPr>
          <p:cNvPr id="118" name="Google Shape;118;p10"/>
          <p:cNvSpPr/>
          <p:nvPr/>
        </p:nvSpPr>
        <p:spPr>
          <a:xfrm>
            <a:off x="3988625" y="36184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119" name="Google Shape;119;p10"/>
          <p:cNvGrpSpPr/>
          <p:nvPr/>
        </p:nvGrpSpPr>
        <p:grpSpPr>
          <a:xfrm rot="10800000">
            <a:off x="4572194" y="3152705"/>
            <a:ext cx="2605006" cy="616888"/>
            <a:chOff x="2164721" y="1365883"/>
            <a:chExt cx="4598421" cy="1890555"/>
          </a:xfrm>
        </p:grpSpPr>
        <p:cxnSp>
          <p:nvCxnSpPr>
            <p:cNvPr id="120" name="Google Shape;120;p10"/>
            <p:cNvCxnSpPr>
              <a:stCxn id="121" idx="2"/>
            </p:cNvCxnSpPr>
            <p:nvPr/>
          </p:nvCxnSpPr>
          <p:spPr>
            <a:xfrm>
              <a:off x="2699642" y="3175623"/>
              <a:ext cx="40635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2" name="Google Shape;122;p10"/>
            <p:cNvSpPr/>
            <p:nvPr/>
          </p:nvSpPr>
          <p:spPr>
            <a:xfrm>
              <a:off x="5870124" y="1371373"/>
              <a:ext cx="892800" cy="14763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23" name="Google Shape;123;p10"/>
            <p:cNvCxnSpPr>
              <a:endCxn id="122" idx="2"/>
            </p:cNvCxnSpPr>
            <p:nvPr/>
          </p:nvCxnSpPr>
          <p:spPr>
            <a:xfrm rot="10800000">
              <a:off x="6762341" y="2147223"/>
              <a:ext cx="0" cy="10287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4" name="Google Shape;124;p10"/>
            <p:cNvSpPr/>
            <p:nvPr/>
          </p:nvSpPr>
          <p:spPr>
            <a:xfrm rot="-5399453">
              <a:off x="1791865" y="1744138"/>
              <a:ext cx="1885200" cy="11391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21" name="Google Shape;121;p10"/>
            <p:cNvSpPr/>
            <p:nvPr/>
          </p:nvSpPr>
          <p:spPr>
            <a:xfrm rot="-5400570" flipH="1">
              <a:off x="1792271" y="1738633"/>
              <a:ext cx="1809600" cy="10644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25" name="Google Shape;125;p10"/>
            <p:cNvCxnSpPr>
              <a:stCxn id="124" idx="2"/>
              <a:endCxn id="122" idx="0"/>
            </p:cNvCxnSpPr>
            <p:nvPr/>
          </p:nvCxnSpPr>
          <p:spPr>
            <a:xfrm>
              <a:off x="2736435" y="1371094"/>
              <a:ext cx="3585300" cy="3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126" name="Google Shape;126;p10"/>
          <p:cNvCxnSpPr/>
          <p:nvPr/>
        </p:nvCxnSpPr>
        <p:spPr>
          <a:xfrm>
            <a:off x="5567313" y="3411150"/>
            <a:ext cx="0" cy="94200"/>
          </a:xfrm>
          <a:prstGeom prst="straightConnector1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7" name="Google Shape;127;p10"/>
          <p:cNvSpPr txBox="1">
            <a:spLocks noGrp="1"/>
          </p:cNvSpPr>
          <p:nvPr>
            <p:ph type="title" idx="2"/>
          </p:nvPr>
        </p:nvSpPr>
        <p:spPr>
          <a:xfrm>
            <a:off x="4707450" y="3303350"/>
            <a:ext cx="7320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  <p:sp>
        <p:nvSpPr>
          <p:cNvPr id="128" name="Google Shape;128;p10"/>
          <p:cNvSpPr txBox="1">
            <a:spLocks noGrp="1"/>
          </p:cNvSpPr>
          <p:nvPr>
            <p:ph type="title" idx="3"/>
          </p:nvPr>
        </p:nvSpPr>
        <p:spPr>
          <a:xfrm>
            <a:off x="5695200" y="3303350"/>
            <a:ext cx="14052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41 - Couverture [2]">
  <p:cSld name="41 - Couverture [2]">
    <p:bg>
      <p:bgPr>
        <a:solidFill>
          <a:schemeClr val="dk1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1"/>
          <p:cNvSpPr txBox="1">
            <a:spLocks noGrp="1"/>
          </p:cNvSpPr>
          <p:nvPr>
            <p:ph type="title"/>
          </p:nvPr>
        </p:nvSpPr>
        <p:spPr>
          <a:xfrm>
            <a:off x="2717000" y="1879350"/>
            <a:ext cx="3635400" cy="7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Outfit Medium"/>
              <a:buNone/>
              <a:defRPr sz="2000" i="0" u="none" strike="noStrike" cap="none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31" name="Google Shape;131;p11"/>
          <p:cNvSpPr txBox="1">
            <a:spLocks noGrp="1"/>
          </p:cNvSpPr>
          <p:nvPr>
            <p:ph type="subTitle" idx="1"/>
          </p:nvPr>
        </p:nvSpPr>
        <p:spPr>
          <a:xfrm>
            <a:off x="2717000" y="2590325"/>
            <a:ext cx="36354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9pPr>
          </a:lstStyle>
          <a:p>
            <a:endParaRPr/>
          </a:p>
        </p:txBody>
      </p:sp>
      <p:sp>
        <p:nvSpPr>
          <p:cNvPr id="132" name="Google Shape;132;p11"/>
          <p:cNvSpPr/>
          <p:nvPr/>
        </p:nvSpPr>
        <p:spPr>
          <a:xfrm>
            <a:off x="3988625" y="36184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" name="Google Shape;133;p11"/>
          <p:cNvGrpSpPr/>
          <p:nvPr/>
        </p:nvGrpSpPr>
        <p:grpSpPr>
          <a:xfrm>
            <a:off x="2164723" y="1336860"/>
            <a:ext cx="4598402" cy="1873225"/>
            <a:chOff x="2164723" y="1336860"/>
            <a:chExt cx="4598402" cy="1873225"/>
          </a:xfrm>
        </p:grpSpPr>
        <p:cxnSp>
          <p:nvCxnSpPr>
            <p:cNvPr id="134" name="Google Shape;134;p11"/>
            <p:cNvCxnSpPr/>
            <p:nvPr/>
          </p:nvCxnSpPr>
          <p:spPr>
            <a:xfrm>
              <a:off x="3064700" y="3175550"/>
              <a:ext cx="36981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5" name="Google Shape;135;p11"/>
            <p:cNvSpPr/>
            <p:nvPr/>
          </p:nvSpPr>
          <p:spPr>
            <a:xfrm>
              <a:off x="4924425" y="1371385"/>
              <a:ext cx="1838700" cy="17955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36" name="Google Shape;136;p11"/>
            <p:cNvCxnSpPr>
              <a:endCxn id="135" idx="2"/>
            </p:cNvCxnSpPr>
            <p:nvPr/>
          </p:nvCxnSpPr>
          <p:spPr>
            <a:xfrm rot="10800000">
              <a:off x="6761983" y="2313858"/>
              <a:ext cx="0" cy="8616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7" name="Google Shape;137;p11"/>
            <p:cNvSpPr/>
            <p:nvPr/>
          </p:nvSpPr>
          <p:spPr>
            <a:xfrm rot="-5399439">
              <a:off x="2143273" y="1392985"/>
              <a:ext cx="1838700" cy="17955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1"/>
            <p:cNvSpPr/>
            <p:nvPr/>
          </p:nvSpPr>
          <p:spPr>
            <a:xfrm rot="-5400561" flipH="1">
              <a:off x="2143273" y="1358460"/>
              <a:ext cx="1838700" cy="17955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39" name="Google Shape;139;p11"/>
            <p:cNvCxnSpPr>
              <a:stCxn id="137" idx="2"/>
              <a:endCxn id="135" idx="0"/>
            </p:cNvCxnSpPr>
            <p:nvPr/>
          </p:nvCxnSpPr>
          <p:spPr>
            <a:xfrm>
              <a:off x="3065855" y="1371390"/>
              <a:ext cx="27888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0" name="Google Shape;140;p11"/>
          <p:cNvSpPr txBox="1"/>
          <p:nvPr/>
        </p:nvSpPr>
        <p:spPr>
          <a:xfrm rot="-5400000">
            <a:off x="8220930" y="4230075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41" name="Google Shape;141;p11"/>
          <p:cNvGrpSpPr/>
          <p:nvPr/>
        </p:nvGrpSpPr>
        <p:grpSpPr>
          <a:xfrm>
            <a:off x="276291" y="292119"/>
            <a:ext cx="345989" cy="338615"/>
            <a:chOff x="6838242" y="518225"/>
            <a:chExt cx="1247708" cy="1221114"/>
          </a:xfrm>
        </p:grpSpPr>
        <p:sp>
          <p:nvSpPr>
            <p:cNvPr id="142" name="Google Shape;142;p11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1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1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5" name="Google Shape;145;p11"/>
          <p:cNvSpPr txBox="1"/>
          <p:nvPr/>
        </p:nvSpPr>
        <p:spPr>
          <a:xfrm>
            <a:off x="182043" y="472785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DIGITAL THINKERS &amp; DOERS</a:t>
            </a:r>
            <a:endParaRPr sz="60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46" name="Google Shape;146;p11"/>
          <p:cNvSpPr txBox="1"/>
          <p:nvPr/>
        </p:nvSpPr>
        <p:spPr>
          <a:xfrm>
            <a:off x="6997200" y="215900"/>
            <a:ext cx="196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TECHNOLOGY  I  PART OF ACCENTURE</a:t>
            </a:r>
            <a:endParaRPr sz="60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47" name="Google Shape;147;p11"/>
          <p:cNvGrpSpPr/>
          <p:nvPr/>
        </p:nvGrpSpPr>
        <p:grpSpPr>
          <a:xfrm rot="10800000">
            <a:off x="4572194" y="3152774"/>
            <a:ext cx="2605006" cy="616751"/>
            <a:chOff x="2164721" y="1366095"/>
            <a:chExt cx="4598421" cy="1890134"/>
          </a:xfrm>
        </p:grpSpPr>
        <p:cxnSp>
          <p:nvCxnSpPr>
            <p:cNvPr id="148" name="Google Shape;148;p11"/>
            <p:cNvCxnSpPr>
              <a:stCxn id="149" idx="2"/>
            </p:cNvCxnSpPr>
            <p:nvPr/>
          </p:nvCxnSpPr>
          <p:spPr>
            <a:xfrm>
              <a:off x="2699643" y="3175685"/>
              <a:ext cx="40635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0" name="Google Shape;150;p11"/>
            <p:cNvSpPr/>
            <p:nvPr/>
          </p:nvSpPr>
          <p:spPr>
            <a:xfrm>
              <a:off x="5870124" y="1371373"/>
              <a:ext cx="892800" cy="14763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1" name="Google Shape;151;p11"/>
            <p:cNvCxnSpPr>
              <a:endCxn id="150" idx="2"/>
            </p:cNvCxnSpPr>
            <p:nvPr/>
          </p:nvCxnSpPr>
          <p:spPr>
            <a:xfrm rot="10800000">
              <a:off x="6762342" y="2147223"/>
              <a:ext cx="0" cy="10287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2" name="Google Shape;152;p11"/>
            <p:cNvSpPr/>
            <p:nvPr/>
          </p:nvSpPr>
          <p:spPr>
            <a:xfrm rot="-5399453">
              <a:off x="1791865" y="1744079"/>
              <a:ext cx="1885200" cy="11391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1"/>
            <p:cNvSpPr/>
            <p:nvPr/>
          </p:nvSpPr>
          <p:spPr>
            <a:xfrm rot="-5400570" flipH="1">
              <a:off x="1792271" y="1738695"/>
              <a:ext cx="1809600" cy="10644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3" name="Google Shape;153;p11"/>
            <p:cNvCxnSpPr>
              <a:stCxn id="152" idx="2"/>
              <a:endCxn id="150" idx="0"/>
            </p:cNvCxnSpPr>
            <p:nvPr/>
          </p:nvCxnSpPr>
          <p:spPr>
            <a:xfrm>
              <a:off x="2736435" y="1371034"/>
              <a:ext cx="3585300" cy="3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54" name="Google Shape;154;p11"/>
          <p:cNvCxnSpPr/>
          <p:nvPr/>
        </p:nvCxnSpPr>
        <p:spPr>
          <a:xfrm>
            <a:off x="5575700" y="3411150"/>
            <a:ext cx="0" cy="94200"/>
          </a:xfrm>
          <a:prstGeom prst="straightConnector1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" name="Google Shape;155;p11"/>
          <p:cNvSpPr txBox="1">
            <a:spLocks noGrp="1"/>
          </p:cNvSpPr>
          <p:nvPr>
            <p:ph type="title" idx="2"/>
          </p:nvPr>
        </p:nvSpPr>
        <p:spPr>
          <a:xfrm>
            <a:off x="4707450" y="3303350"/>
            <a:ext cx="7320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  <p:sp>
        <p:nvSpPr>
          <p:cNvPr id="156" name="Google Shape;156;p11"/>
          <p:cNvSpPr txBox="1">
            <a:spLocks noGrp="1"/>
          </p:cNvSpPr>
          <p:nvPr>
            <p:ph type="title" idx="3"/>
          </p:nvPr>
        </p:nvSpPr>
        <p:spPr>
          <a:xfrm>
            <a:off x="5695200" y="3303350"/>
            <a:ext cx="14052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1 - Chapitre [2]">
  <p:cSld name="51 - Chapitre [2]">
    <p:bg>
      <p:bgPr>
        <a:solidFill>
          <a:schemeClr val="lt1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"/>
          <p:cNvSpPr/>
          <p:nvPr/>
        </p:nvSpPr>
        <p:spPr>
          <a:xfrm rot="5400000" flipH="1">
            <a:off x="1344924" y="364825"/>
            <a:ext cx="433200" cy="453000"/>
          </a:xfrm>
          <a:prstGeom prst="round2SameRect">
            <a:avLst>
              <a:gd name="adj1" fmla="val 50000"/>
              <a:gd name="adj2" fmla="val 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159" name="Google Shape;159;p12"/>
          <p:cNvSpPr/>
          <p:nvPr/>
        </p:nvSpPr>
        <p:spPr>
          <a:xfrm flipH="1">
            <a:off x="830825" y="817575"/>
            <a:ext cx="3663300" cy="3816300"/>
          </a:xfrm>
          <a:prstGeom prst="round2DiagRect">
            <a:avLst>
              <a:gd name="adj1" fmla="val 16667"/>
              <a:gd name="adj2" fmla="val 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12"/>
          <p:cNvSpPr txBox="1">
            <a:spLocks noGrp="1"/>
          </p:cNvSpPr>
          <p:nvPr>
            <p:ph type="body" idx="1"/>
          </p:nvPr>
        </p:nvSpPr>
        <p:spPr>
          <a:xfrm>
            <a:off x="841248" y="374650"/>
            <a:ext cx="499500" cy="43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■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61" name="Google Shape;161;p12"/>
          <p:cNvSpPr txBox="1">
            <a:spLocks noGrp="1"/>
          </p:cNvSpPr>
          <p:nvPr>
            <p:ph type="title"/>
          </p:nvPr>
        </p:nvSpPr>
        <p:spPr>
          <a:xfrm>
            <a:off x="4699800" y="2685200"/>
            <a:ext cx="4164300" cy="1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  <p:sp>
        <p:nvSpPr>
          <p:cNvPr id="162" name="Google Shape;162;p12"/>
          <p:cNvSpPr txBox="1"/>
          <p:nvPr/>
        </p:nvSpPr>
        <p:spPr>
          <a:xfrm>
            <a:off x="84600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63" name="Google Shape;163;p12"/>
          <p:cNvCxnSpPr>
            <a:stCxn id="164" idx="2"/>
          </p:cNvCxnSpPr>
          <p:nvPr/>
        </p:nvCxnSpPr>
        <p:spPr>
          <a:xfrm>
            <a:off x="86768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5" name="Google Shape;165;p12"/>
          <p:cNvSpPr/>
          <p:nvPr/>
        </p:nvSpPr>
        <p:spPr>
          <a:xfrm>
            <a:off x="86635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6" name="Google Shape;166;p12"/>
          <p:cNvCxnSpPr>
            <a:endCxn id="165" idx="2"/>
          </p:cNvCxnSpPr>
          <p:nvPr/>
        </p:nvCxnSpPr>
        <p:spPr>
          <a:xfrm rot="10800000">
            <a:off x="88641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7" name="Google Shape;167;p12"/>
          <p:cNvSpPr/>
          <p:nvPr/>
        </p:nvSpPr>
        <p:spPr>
          <a:xfrm rot="-5400000">
            <a:off x="85760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64" name="Google Shape;164;p12"/>
          <p:cNvSpPr/>
          <p:nvPr/>
        </p:nvSpPr>
        <p:spPr>
          <a:xfrm rot="-5400000" flipH="1">
            <a:off x="85760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8" name="Google Shape;168;p12"/>
          <p:cNvCxnSpPr>
            <a:stCxn id="167" idx="2"/>
            <a:endCxn id="165" idx="0"/>
          </p:cNvCxnSpPr>
          <p:nvPr/>
        </p:nvCxnSpPr>
        <p:spPr>
          <a:xfrm>
            <a:off x="86767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9" name="Google Shape;169;p12"/>
          <p:cNvSpPr/>
          <p:nvPr/>
        </p:nvSpPr>
        <p:spPr>
          <a:xfrm>
            <a:off x="497875" y="5649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70" name="Google Shape;170;p12"/>
          <p:cNvSpPr txBox="1"/>
          <p:nvPr/>
        </p:nvSpPr>
        <p:spPr>
          <a:xfrm rot="-5400000">
            <a:off x="-309195" y="423320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0E2356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71" name="Google Shape;171;p12"/>
          <p:cNvSpPr txBox="1"/>
          <p:nvPr/>
        </p:nvSpPr>
        <p:spPr>
          <a:xfrm>
            <a:off x="2262425" y="2048400"/>
            <a:ext cx="8001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r>
              <a:rPr lang="en-US"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rPr>
              <a:t>ici mettre une Photo</a:t>
            </a:r>
            <a:endParaRPr sz="1400" b="0" i="0" u="none" strike="noStrike" cap="none">
              <a:solidFill>
                <a:srgbClr val="FF4338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72" name="Google Shape;172;p12"/>
          <p:cNvSpPr/>
          <p:nvPr/>
        </p:nvSpPr>
        <p:spPr>
          <a:xfrm flipH="1">
            <a:off x="841248" y="374725"/>
            <a:ext cx="499500" cy="433200"/>
          </a:xfrm>
          <a:prstGeom prst="round1Rect">
            <a:avLst>
              <a:gd name="adj" fmla="val 5000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700" b="1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173" name="Google Shape;173;p12"/>
          <p:cNvGrpSpPr/>
          <p:nvPr/>
        </p:nvGrpSpPr>
        <p:grpSpPr>
          <a:xfrm>
            <a:off x="1450811" y="508105"/>
            <a:ext cx="170063" cy="166438"/>
            <a:chOff x="6838242" y="518225"/>
            <a:chExt cx="1247708" cy="1221114"/>
          </a:xfrm>
        </p:grpSpPr>
        <p:sp>
          <p:nvSpPr>
            <p:cNvPr id="174" name="Google Shape;174;p12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75" name="Google Shape;175;p12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76" name="Google Shape;176;p12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9 - There is a better way">
  <p:cSld name="59 - There is a better way">
    <p:bg>
      <p:bgPr>
        <a:solidFill>
          <a:schemeClr val="lt1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Google Shape;178;p13"/>
          <p:cNvGrpSpPr/>
          <p:nvPr/>
        </p:nvGrpSpPr>
        <p:grpSpPr>
          <a:xfrm>
            <a:off x="290068" y="235357"/>
            <a:ext cx="345989" cy="338615"/>
            <a:chOff x="6838242" y="518225"/>
            <a:chExt cx="1247708" cy="1221114"/>
          </a:xfrm>
        </p:grpSpPr>
        <p:sp>
          <p:nvSpPr>
            <p:cNvPr id="179" name="Google Shape;179;p13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80" name="Google Shape;180;p13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81" name="Google Shape;181;p13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pic>
        <p:nvPicPr>
          <p:cNvPr id="182" name="Google Shape;182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736975" y="3307206"/>
            <a:ext cx="1670077" cy="82906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3"/>
          <p:cNvPicPr preferRelativeResize="0"/>
          <p:nvPr/>
        </p:nvPicPr>
        <p:blipFill rotWithShape="1">
          <a:blip r:embed="rId3">
            <a:alphaModFix/>
          </a:blip>
          <a:srcRect l="17993" t="18848" r="18089" b="13862"/>
          <a:stretch/>
        </p:blipFill>
        <p:spPr>
          <a:xfrm>
            <a:off x="3589050" y="1007225"/>
            <a:ext cx="1965925" cy="2069625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3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0 - Titre et visuel">
  <p:cSld name="60 - Titre et visuel">
    <p:bg>
      <p:bgPr>
        <a:solidFill>
          <a:schemeClr val="lt1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" y="52400"/>
            <a:ext cx="156325" cy="156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4"/>
          <p:cNvSpPr txBox="1">
            <a:spLocks noGrp="1"/>
          </p:cNvSpPr>
          <p:nvPr>
            <p:ph type="title"/>
          </p:nvPr>
        </p:nvSpPr>
        <p:spPr>
          <a:xfrm>
            <a:off x="562550" y="382375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88" name="Google Shape;188;p14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89" name="Google Shape;189;p14"/>
          <p:cNvCxnSpPr>
            <a:stCxn id="190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p14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92" name="Google Shape;192;p14"/>
          <p:cNvCxnSpPr>
            <a:endCxn id="191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3" name="Google Shape;193;p14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90" name="Google Shape;190;p14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94" name="Google Shape;194;p14"/>
          <p:cNvCxnSpPr>
            <a:stCxn id="193" idx="2"/>
            <a:endCxn id="191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5" name="Google Shape;195;p14"/>
          <p:cNvSpPr>
            <a:spLocks noGrp="1"/>
          </p:cNvSpPr>
          <p:nvPr>
            <p:ph type="pic" idx="2"/>
          </p:nvPr>
        </p:nvSpPr>
        <p:spPr>
          <a:xfrm>
            <a:off x="528800" y="732450"/>
            <a:ext cx="8019000" cy="4131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6" name="Google Shape;196;p14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1 - Titre, sous-titre et visuel">
  <p:cSld name="61 - Titre, sous-titre et visuel">
    <p:bg>
      <p:bgPr>
        <a:solidFill>
          <a:schemeClr val="lt1"/>
        </a:solidFill>
        <a:effectLst/>
      </p:bgPr>
    </p:bg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5"/>
          <p:cNvSpPr/>
          <p:nvPr/>
        </p:nvSpPr>
        <p:spPr>
          <a:xfrm>
            <a:off x="213475" y="208900"/>
            <a:ext cx="8715600" cy="4728600"/>
          </a:xfrm>
          <a:prstGeom prst="roundRect">
            <a:avLst>
              <a:gd name="adj" fmla="val 1616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199" name="Google Shape;199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" y="52400"/>
            <a:ext cx="156325" cy="156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15"/>
          <p:cNvSpPr txBox="1"/>
          <p:nvPr/>
        </p:nvSpPr>
        <p:spPr>
          <a:xfrm rot="-5400000">
            <a:off x="8770600" y="2458900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rPr>
              <a:t>‹#›</a:t>
            </a:fld>
            <a:endParaRPr sz="800" b="0" i="0" u="none" strike="noStrike" cap="none">
              <a:solidFill>
                <a:schemeClr val="dk1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201" name="Google Shape;201;p15"/>
          <p:cNvSpPr txBox="1"/>
          <p:nvPr/>
        </p:nvSpPr>
        <p:spPr>
          <a:xfrm rot="-5400000">
            <a:off x="-514095" y="2533275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5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There is a better way</a:t>
            </a:r>
            <a:endParaRPr sz="65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02" name="Google Shape;202;p15"/>
          <p:cNvSpPr/>
          <p:nvPr/>
        </p:nvSpPr>
        <p:spPr>
          <a:xfrm>
            <a:off x="6682750" y="4939025"/>
            <a:ext cx="23352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Outfit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OCTO Part of Accenture © 2023- All rights reserved</a:t>
            </a:r>
            <a:endParaRPr sz="6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03" name="Google Shape;203;p15"/>
          <p:cNvSpPr txBox="1">
            <a:spLocks noGrp="1"/>
          </p:cNvSpPr>
          <p:nvPr>
            <p:ph type="title"/>
          </p:nvPr>
        </p:nvSpPr>
        <p:spPr>
          <a:xfrm>
            <a:off x="574050" y="361400"/>
            <a:ext cx="80079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04" name="Google Shape;204;p15"/>
          <p:cNvSpPr txBox="1">
            <a:spLocks noGrp="1"/>
          </p:cNvSpPr>
          <p:nvPr>
            <p:ph type="subTitle" idx="1"/>
          </p:nvPr>
        </p:nvSpPr>
        <p:spPr>
          <a:xfrm>
            <a:off x="557250" y="830200"/>
            <a:ext cx="8041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05" name="Google Shape;205;p15"/>
          <p:cNvSpPr>
            <a:spLocks noGrp="1"/>
          </p:cNvSpPr>
          <p:nvPr>
            <p:ph type="pic" idx="2"/>
          </p:nvPr>
        </p:nvSpPr>
        <p:spPr>
          <a:xfrm>
            <a:off x="545225" y="1257950"/>
            <a:ext cx="8041500" cy="3606600"/>
          </a:xfrm>
          <a:prstGeom prst="rect">
            <a:avLst/>
          </a:prstGeom>
          <a:noFill/>
          <a:ln>
            <a:noFill/>
          </a:ln>
        </p:spPr>
      </p:sp>
      <p:sp>
        <p:nvSpPr>
          <p:cNvPr id="206" name="Google Shape;206;p15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2 - Visuel seul">
  <p:cSld name="62 - Visuel seul">
    <p:bg>
      <p:bgPr>
        <a:solidFill>
          <a:schemeClr val="lt1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" y="52400"/>
            <a:ext cx="156325" cy="156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16"/>
          <p:cNvSpPr>
            <a:spLocks noGrp="1"/>
          </p:cNvSpPr>
          <p:nvPr>
            <p:ph type="pic" idx="2"/>
          </p:nvPr>
        </p:nvSpPr>
        <p:spPr>
          <a:xfrm>
            <a:off x="3275" y="-2300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10" name="Google Shape;210;p16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3 - Titre, contenu et visuel à droite - cadre blanc">
  <p:cSld name="63 - Titre, contenu et visuel à droite - cadre blanc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2" name="Google Shape;212;p17"/>
          <p:cNvGrpSpPr/>
          <p:nvPr/>
        </p:nvGrpSpPr>
        <p:grpSpPr>
          <a:xfrm>
            <a:off x="6270019" y="304800"/>
            <a:ext cx="2593200" cy="3705000"/>
            <a:chOff x="6270019" y="304800"/>
            <a:chExt cx="2593200" cy="3705000"/>
          </a:xfrm>
        </p:grpSpPr>
        <p:sp>
          <p:nvSpPr>
            <p:cNvPr id="213" name="Google Shape;213;p17"/>
            <p:cNvSpPr/>
            <p:nvPr/>
          </p:nvSpPr>
          <p:spPr>
            <a:xfrm>
              <a:off x="6270019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4" name="Google Shape;214;p17"/>
            <p:cNvSpPr txBox="1"/>
            <p:nvPr/>
          </p:nvSpPr>
          <p:spPr>
            <a:xfrm>
              <a:off x="7110475" y="1593700"/>
              <a:ext cx="800100" cy="10467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215" name="Google Shape;215;p17"/>
          <p:cNvGrpSpPr/>
          <p:nvPr/>
        </p:nvGrpSpPr>
        <p:grpSpPr>
          <a:xfrm>
            <a:off x="276303" y="295049"/>
            <a:ext cx="8682472" cy="4585476"/>
            <a:chOff x="276303" y="295049"/>
            <a:chExt cx="8682472" cy="4585476"/>
          </a:xfrm>
        </p:grpSpPr>
        <p:sp>
          <p:nvSpPr>
            <p:cNvPr id="216" name="Google Shape;216;p17"/>
            <p:cNvSpPr/>
            <p:nvPr/>
          </p:nvSpPr>
          <p:spPr>
            <a:xfrm>
              <a:off x="276303" y="295049"/>
              <a:ext cx="163500" cy="1635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7" name="Google Shape;217;p17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218" name="Google Shape;218;p17"/>
            <p:cNvCxnSpPr>
              <a:stCxn id="219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20" name="Google Shape;220;p17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21" name="Google Shape;221;p17"/>
            <p:cNvCxnSpPr>
              <a:endCxn id="220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22" name="Google Shape;222;p17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9" name="Google Shape;219;p17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23" name="Google Shape;223;p17"/>
            <p:cNvCxnSpPr>
              <a:stCxn id="222" idx="2"/>
              <a:endCxn id="220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24" name="Google Shape;224;p17"/>
          <p:cNvSpPr txBox="1">
            <a:spLocks noGrp="1"/>
          </p:cNvSpPr>
          <p:nvPr>
            <p:ph type="body" idx="1"/>
          </p:nvPr>
        </p:nvSpPr>
        <p:spPr>
          <a:xfrm>
            <a:off x="562825" y="817275"/>
            <a:ext cx="5305500" cy="40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25" name="Google Shape;225;p17"/>
          <p:cNvSpPr txBox="1">
            <a:spLocks noGrp="1"/>
          </p:cNvSpPr>
          <p:nvPr>
            <p:ph type="title"/>
          </p:nvPr>
        </p:nvSpPr>
        <p:spPr>
          <a:xfrm>
            <a:off x="562825" y="357529"/>
            <a:ext cx="5305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26" name="Google Shape;226;p17"/>
          <p:cNvGrpSpPr/>
          <p:nvPr/>
        </p:nvGrpSpPr>
        <p:grpSpPr>
          <a:xfrm>
            <a:off x="364209" y="292130"/>
            <a:ext cx="82155" cy="82230"/>
            <a:chOff x="7483200" y="518225"/>
            <a:chExt cx="602750" cy="603300"/>
          </a:xfrm>
        </p:grpSpPr>
        <p:sp>
          <p:nvSpPr>
            <p:cNvPr id="227" name="Google Shape;227;p17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28" name="Google Shape;228;p17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29" name="Google Shape;229;p17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4 - Titre, sous-titre, contenu et visuel à droite - cadre blanc">
  <p:cSld name="64 - Titre, sous-titre, contenu et visuel à droite - cadre blanc"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1" name="Google Shape;231;p18"/>
          <p:cNvGrpSpPr/>
          <p:nvPr/>
        </p:nvGrpSpPr>
        <p:grpSpPr>
          <a:xfrm>
            <a:off x="6270019" y="304800"/>
            <a:ext cx="2593200" cy="3705000"/>
            <a:chOff x="6270019" y="304800"/>
            <a:chExt cx="2593200" cy="3705000"/>
          </a:xfrm>
        </p:grpSpPr>
        <p:sp>
          <p:nvSpPr>
            <p:cNvPr id="232" name="Google Shape;232;p18"/>
            <p:cNvSpPr/>
            <p:nvPr/>
          </p:nvSpPr>
          <p:spPr>
            <a:xfrm>
              <a:off x="6270019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33" name="Google Shape;233;p18"/>
            <p:cNvSpPr txBox="1"/>
            <p:nvPr/>
          </p:nvSpPr>
          <p:spPr>
            <a:xfrm>
              <a:off x="7110475" y="1593700"/>
              <a:ext cx="800100" cy="10467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234" name="Google Shape;234;p18"/>
          <p:cNvGrpSpPr/>
          <p:nvPr/>
        </p:nvGrpSpPr>
        <p:grpSpPr>
          <a:xfrm>
            <a:off x="276303" y="295049"/>
            <a:ext cx="8682472" cy="4585476"/>
            <a:chOff x="276303" y="295049"/>
            <a:chExt cx="8682472" cy="4585476"/>
          </a:xfrm>
        </p:grpSpPr>
        <p:cxnSp>
          <p:nvCxnSpPr>
            <p:cNvPr id="235" name="Google Shape;235;p18"/>
            <p:cNvCxnSpPr>
              <a:stCxn id="236" idx="2"/>
              <a:endCxn id="237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grpSp>
          <p:nvGrpSpPr>
            <p:cNvPr id="238" name="Google Shape;238;p18"/>
            <p:cNvGrpSpPr/>
            <p:nvPr/>
          </p:nvGrpSpPr>
          <p:grpSpPr>
            <a:xfrm>
              <a:off x="276303" y="295049"/>
              <a:ext cx="8682472" cy="4585476"/>
              <a:chOff x="276303" y="295049"/>
              <a:chExt cx="8682472" cy="4585476"/>
            </a:xfrm>
          </p:grpSpPr>
          <p:sp>
            <p:nvSpPr>
              <p:cNvPr id="239" name="Google Shape;239;p18"/>
              <p:cNvSpPr/>
              <p:nvPr/>
            </p:nvSpPr>
            <p:spPr>
              <a:xfrm>
                <a:off x="276303" y="295049"/>
                <a:ext cx="163500" cy="1635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40" name="Google Shape;240;p18"/>
              <p:cNvSpPr txBox="1"/>
              <p:nvPr/>
            </p:nvSpPr>
            <p:spPr>
              <a:xfrm>
                <a:off x="8459275" y="4651925"/>
                <a:ext cx="4995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Outfit"/>
                  <a:buNone/>
                </a:pPr>
                <a:r>
                  <a:rPr lang="en-US" sz="800" b="0" i="0" u="none" strike="noStrike" cap="none">
                    <a:solidFill>
                      <a:srgbClr val="00D2DD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.</a:t>
                </a:r>
                <a:fld id="{00000000-1234-1234-1234-123412341234}" type="slidenum">
                  <a:rPr lang="en-US" sz="800" b="0" i="0" u="none" strike="noStrike" cap="none">
                    <a:solidFill>
                      <a:srgbClr val="0E2356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‹#›</a:t>
                </a:fld>
                <a:endParaRPr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</p:txBody>
          </p:sp>
          <p:cxnSp>
            <p:nvCxnSpPr>
              <p:cNvPr id="241" name="Google Shape;241;p18"/>
              <p:cNvCxnSpPr>
                <a:stCxn id="242" idx="2"/>
              </p:cNvCxnSpPr>
              <p:nvPr/>
            </p:nvCxnSpPr>
            <p:spPr>
              <a:xfrm>
                <a:off x="8676034" y="4864644"/>
                <a:ext cx="191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37" name="Google Shape;237;p18"/>
              <p:cNvSpPr/>
              <p:nvPr/>
            </p:nvSpPr>
            <p:spPr>
              <a:xfrm>
                <a:off x="8662728" y="4667715"/>
                <a:ext cx="200700" cy="196200"/>
              </a:xfrm>
              <a:prstGeom prst="arc">
                <a:avLst>
                  <a:gd name="adj1" fmla="val 16241889"/>
                  <a:gd name="adj2" fmla="val 167312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cxnSp>
            <p:nvCxnSpPr>
              <p:cNvPr id="243" name="Google Shape;243;p18"/>
              <p:cNvCxnSpPr>
                <a:endCxn id="237" idx="2"/>
              </p:cNvCxnSpPr>
              <p:nvPr/>
            </p:nvCxnSpPr>
            <p:spPr>
              <a:xfrm rot="10800000">
                <a:off x="8863304" y="4770697"/>
                <a:ext cx="0" cy="98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36" name="Google Shape;236;p18"/>
              <p:cNvSpPr/>
              <p:nvPr/>
            </p:nvSpPr>
            <p:spPr>
              <a:xfrm rot="-5400000">
                <a:off x="8575218" y="4670051"/>
                <a:ext cx="200700" cy="196200"/>
              </a:xfrm>
              <a:prstGeom prst="arc">
                <a:avLst>
                  <a:gd name="adj1" fmla="val 16241889"/>
                  <a:gd name="adj2" fmla="val 11524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42" name="Google Shape;242;p18"/>
              <p:cNvSpPr/>
              <p:nvPr/>
            </p:nvSpPr>
            <p:spPr>
              <a:xfrm rot="-5400000" flipH="1">
                <a:off x="8575218" y="4666195"/>
                <a:ext cx="200700" cy="196200"/>
              </a:xfrm>
              <a:prstGeom prst="arc">
                <a:avLst>
                  <a:gd name="adj1" fmla="val 16241889"/>
                  <a:gd name="adj2" fmla="val 15973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</p:grpSp>
      <p:sp>
        <p:nvSpPr>
          <p:cNvPr id="244" name="Google Shape;244;p18"/>
          <p:cNvSpPr txBox="1">
            <a:spLocks noGrp="1"/>
          </p:cNvSpPr>
          <p:nvPr>
            <p:ph type="body" idx="1"/>
          </p:nvPr>
        </p:nvSpPr>
        <p:spPr>
          <a:xfrm>
            <a:off x="562800" y="1273200"/>
            <a:ext cx="5305500" cy="35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0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45" name="Google Shape;245;p18"/>
          <p:cNvSpPr txBox="1">
            <a:spLocks noGrp="1"/>
          </p:cNvSpPr>
          <p:nvPr>
            <p:ph type="subTitle" idx="2"/>
          </p:nvPr>
        </p:nvSpPr>
        <p:spPr>
          <a:xfrm>
            <a:off x="571015" y="778000"/>
            <a:ext cx="53055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46" name="Google Shape;246;p18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5305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47" name="Google Shape;247;p18"/>
          <p:cNvGrpSpPr/>
          <p:nvPr/>
        </p:nvGrpSpPr>
        <p:grpSpPr>
          <a:xfrm>
            <a:off x="276301" y="295049"/>
            <a:ext cx="163560" cy="163519"/>
            <a:chOff x="6838242" y="539639"/>
            <a:chExt cx="1200000" cy="1199700"/>
          </a:xfrm>
        </p:grpSpPr>
        <p:sp>
          <p:nvSpPr>
            <p:cNvPr id="248" name="Google Shape;248;p18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49" name="Google Shape;249;p18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50" name="Google Shape;250;p18"/>
          <p:cNvSpPr/>
          <p:nvPr/>
        </p:nvSpPr>
        <p:spPr>
          <a:xfrm>
            <a:off x="417004" y="292130"/>
            <a:ext cx="29400" cy="294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51" name="Google Shape;251;p18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5 - Titre, contenu, visuel à droite et bloc conclu - cadre blanc">
  <p:cSld name="65 - Titre, contenu, visuel à droite et bloc conclu - cadre blanc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3" name="Google Shape;253;p19"/>
          <p:cNvGrpSpPr/>
          <p:nvPr/>
        </p:nvGrpSpPr>
        <p:grpSpPr>
          <a:xfrm rot="10800000">
            <a:off x="5754900" y="3471525"/>
            <a:ext cx="1392300" cy="1392300"/>
            <a:chOff x="7475475" y="301725"/>
            <a:chExt cx="1392300" cy="1392300"/>
          </a:xfrm>
        </p:grpSpPr>
        <p:sp>
          <p:nvSpPr>
            <p:cNvPr id="254" name="Google Shape;254;p19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55" name="Google Shape;255;p19"/>
            <p:cNvSpPr txBox="1"/>
            <p:nvPr/>
          </p:nvSpPr>
          <p:spPr>
            <a:xfrm rot="10800000">
              <a:off x="7776288" y="55385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56" name="Google Shape;256;p19"/>
          <p:cNvSpPr/>
          <p:nvPr/>
        </p:nvSpPr>
        <p:spPr>
          <a:xfrm>
            <a:off x="6549661" y="30172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257" name="Google Shape;257;p19"/>
          <p:cNvGrpSpPr/>
          <p:nvPr/>
        </p:nvGrpSpPr>
        <p:grpSpPr>
          <a:xfrm>
            <a:off x="276303" y="295049"/>
            <a:ext cx="8682472" cy="4585476"/>
            <a:chOff x="276303" y="295049"/>
            <a:chExt cx="8682472" cy="4585476"/>
          </a:xfrm>
        </p:grpSpPr>
        <p:sp>
          <p:nvSpPr>
            <p:cNvPr id="258" name="Google Shape;258;p19"/>
            <p:cNvSpPr/>
            <p:nvPr/>
          </p:nvSpPr>
          <p:spPr>
            <a:xfrm>
              <a:off x="276303" y="295049"/>
              <a:ext cx="163500" cy="1635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59" name="Google Shape;259;p19"/>
            <p:cNvCxnSpPr>
              <a:stCxn id="260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1" name="Google Shape;261;p19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62" name="Google Shape;262;p19"/>
            <p:cNvCxnSpPr>
              <a:endCxn id="261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3" name="Google Shape;263;p19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60" name="Google Shape;260;p19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64" name="Google Shape;264;p19"/>
            <p:cNvCxnSpPr>
              <a:stCxn id="263" idx="2"/>
              <a:endCxn id="261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5" name="Google Shape;265;p19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</p:grpSp>
      <p:sp>
        <p:nvSpPr>
          <p:cNvPr id="266" name="Google Shape;266;p19"/>
          <p:cNvSpPr txBox="1">
            <a:spLocks noGrp="1"/>
          </p:cNvSpPr>
          <p:nvPr>
            <p:ph type="body" idx="1"/>
          </p:nvPr>
        </p:nvSpPr>
        <p:spPr>
          <a:xfrm>
            <a:off x="562775" y="817275"/>
            <a:ext cx="4790400" cy="40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67" name="Google Shape;267;p19"/>
          <p:cNvSpPr txBox="1">
            <a:spLocks noGrp="1"/>
          </p:cNvSpPr>
          <p:nvPr>
            <p:ph type="title"/>
          </p:nvPr>
        </p:nvSpPr>
        <p:spPr>
          <a:xfrm>
            <a:off x="562825" y="361375"/>
            <a:ext cx="47904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68" name="Google Shape;268;p19"/>
          <p:cNvSpPr txBox="1">
            <a:spLocks noGrp="1"/>
          </p:cNvSpPr>
          <p:nvPr>
            <p:ph type="body" idx="2"/>
          </p:nvPr>
        </p:nvSpPr>
        <p:spPr>
          <a:xfrm>
            <a:off x="6920978" y="765250"/>
            <a:ext cx="1699500" cy="20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cxnSp>
        <p:nvCxnSpPr>
          <p:cNvPr id="269" name="Google Shape;269;p19"/>
          <p:cNvCxnSpPr/>
          <p:nvPr/>
        </p:nvCxnSpPr>
        <p:spPr>
          <a:xfrm>
            <a:off x="8867775" y="434100"/>
            <a:ext cx="0" cy="1588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0" name="Google Shape;270;p19"/>
          <p:cNvSpPr/>
          <p:nvPr/>
        </p:nvSpPr>
        <p:spPr>
          <a:xfrm>
            <a:off x="417004" y="292130"/>
            <a:ext cx="29400" cy="294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71" name="Google Shape;271;p19"/>
          <p:cNvSpPr/>
          <p:nvPr/>
        </p:nvSpPr>
        <p:spPr>
          <a:xfrm>
            <a:off x="364209" y="345001"/>
            <a:ext cx="29400" cy="294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72" name="Google Shape;272;p19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6 - Titre, sous-titre, contenu, visuel à droite et bloc conclu - cadre blanc">
  <p:cSld name="66 - Titre, sous-titre, contenu, visuel à droite et bloc conclu - cadre blanc"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0"/>
          <p:cNvSpPr txBox="1">
            <a:spLocks noGrp="1"/>
          </p:cNvSpPr>
          <p:nvPr>
            <p:ph type="body" idx="1"/>
          </p:nvPr>
        </p:nvSpPr>
        <p:spPr>
          <a:xfrm>
            <a:off x="562825" y="1267800"/>
            <a:ext cx="4790400" cy="35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75" name="Google Shape;275;p20"/>
          <p:cNvSpPr txBox="1">
            <a:spLocks noGrp="1"/>
          </p:cNvSpPr>
          <p:nvPr>
            <p:ph type="subTitle" idx="2"/>
          </p:nvPr>
        </p:nvSpPr>
        <p:spPr>
          <a:xfrm>
            <a:off x="571015" y="777619"/>
            <a:ext cx="47904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76" name="Google Shape;276;p20"/>
          <p:cNvSpPr txBox="1">
            <a:spLocks noGrp="1"/>
          </p:cNvSpPr>
          <p:nvPr>
            <p:ph type="title"/>
          </p:nvPr>
        </p:nvSpPr>
        <p:spPr>
          <a:xfrm>
            <a:off x="562825" y="367000"/>
            <a:ext cx="47904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77" name="Google Shape;277;p20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278" name="Google Shape;278;p20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279" name="Google Shape;279;p20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80" name="Google Shape;280;p20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81" name="Google Shape;281;p20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282" name="Google Shape;282;p20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283" name="Google Shape;283;p20"/>
            <p:cNvCxnSpPr>
              <a:stCxn id="284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85" name="Google Shape;285;p20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86" name="Google Shape;286;p20"/>
            <p:cNvCxnSpPr>
              <a:endCxn id="285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87" name="Google Shape;287;p20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84" name="Google Shape;284;p20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88" name="Google Shape;288;p20"/>
            <p:cNvCxnSpPr>
              <a:stCxn id="287" idx="2"/>
              <a:endCxn id="285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289" name="Google Shape;289;p20"/>
          <p:cNvGrpSpPr/>
          <p:nvPr/>
        </p:nvGrpSpPr>
        <p:grpSpPr>
          <a:xfrm rot="10800000">
            <a:off x="5754902" y="3471525"/>
            <a:ext cx="1392300" cy="1392300"/>
            <a:chOff x="7475475" y="301725"/>
            <a:chExt cx="1392300" cy="1392300"/>
          </a:xfrm>
        </p:grpSpPr>
        <p:sp>
          <p:nvSpPr>
            <p:cNvPr id="290" name="Google Shape;290;p20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91" name="Google Shape;291;p20"/>
            <p:cNvSpPr txBox="1"/>
            <p:nvPr/>
          </p:nvSpPr>
          <p:spPr>
            <a:xfrm rot="10800000">
              <a:off x="7776288" y="55385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92" name="Google Shape;292;p20"/>
          <p:cNvSpPr/>
          <p:nvPr/>
        </p:nvSpPr>
        <p:spPr>
          <a:xfrm>
            <a:off x="6543075" y="30172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93" name="Google Shape;293;p20"/>
          <p:cNvSpPr txBox="1">
            <a:spLocks noGrp="1"/>
          </p:cNvSpPr>
          <p:nvPr>
            <p:ph type="body" idx="3"/>
          </p:nvPr>
        </p:nvSpPr>
        <p:spPr>
          <a:xfrm>
            <a:off x="6920975" y="765250"/>
            <a:ext cx="1699500" cy="20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cxnSp>
        <p:nvCxnSpPr>
          <p:cNvPr id="294" name="Google Shape;294;p20"/>
          <p:cNvCxnSpPr/>
          <p:nvPr/>
        </p:nvCxnSpPr>
        <p:spPr>
          <a:xfrm>
            <a:off x="8867775" y="434100"/>
            <a:ext cx="0" cy="1588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5" name="Google Shape;295;p20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7 - Titre, contenu et visuel à gauche - cadre blanc">
  <p:cSld name="67 - Titre, contenu et visuel à gauche - cadre blanc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1"/>
          <p:cNvSpPr txBox="1">
            <a:spLocks noGrp="1"/>
          </p:cNvSpPr>
          <p:nvPr>
            <p:ph type="title"/>
          </p:nvPr>
        </p:nvSpPr>
        <p:spPr>
          <a:xfrm>
            <a:off x="3440825" y="359479"/>
            <a:ext cx="51366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98" name="Google Shape;298;p21"/>
          <p:cNvSpPr txBox="1">
            <a:spLocks noGrp="1"/>
          </p:cNvSpPr>
          <p:nvPr>
            <p:ph type="body" idx="1"/>
          </p:nvPr>
        </p:nvSpPr>
        <p:spPr>
          <a:xfrm>
            <a:off x="3440825" y="817275"/>
            <a:ext cx="5136600" cy="40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99" name="Google Shape;299;p21"/>
          <p:cNvGrpSpPr/>
          <p:nvPr/>
        </p:nvGrpSpPr>
        <p:grpSpPr>
          <a:xfrm>
            <a:off x="571494" y="306825"/>
            <a:ext cx="2593200" cy="3705000"/>
            <a:chOff x="-2696606" y="304800"/>
            <a:chExt cx="2593200" cy="3705000"/>
          </a:xfrm>
        </p:grpSpPr>
        <p:sp>
          <p:nvSpPr>
            <p:cNvPr id="300" name="Google Shape;300;p21"/>
            <p:cNvSpPr/>
            <p:nvPr/>
          </p:nvSpPr>
          <p:spPr>
            <a:xfrm>
              <a:off x="-2696606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01" name="Google Shape;301;p21"/>
            <p:cNvSpPr txBox="1"/>
            <p:nvPr/>
          </p:nvSpPr>
          <p:spPr>
            <a:xfrm>
              <a:off x="-1856150" y="159370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302" name="Google Shape;302;p21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03" name="Google Shape;303;p21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04" name="Google Shape;304;p21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05" name="Google Shape;305;p21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06" name="Google Shape;306;p21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07" name="Google Shape;307;p21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08" name="Google Shape;308;p21"/>
            <p:cNvCxnSpPr>
              <a:stCxn id="309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10" name="Google Shape;310;p21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11" name="Google Shape;311;p21"/>
            <p:cNvCxnSpPr>
              <a:endCxn id="310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12" name="Google Shape;312;p21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09" name="Google Shape;309;p21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13" name="Google Shape;313;p21"/>
            <p:cNvCxnSpPr>
              <a:stCxn id="312" idx="2"/>
              <a:endCxn id="310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14" name="Google Shape;314;p21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8 - Titre, sous-titre, contenu et visuel à gauche - cadre blanc">
  <p:cSld name="68 - Titre, sous-titre, contenu et visuel à gauche - cadre blanc"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2"/>
          <p:cNvSpPr/>
          <p:nvPr/>
        </p:nvSpPr>
        <p:spPr>
          <a:xfrm rot="5400000" flipH="1">
            <a:off x="4143250" y="131125"/>
            <a:ext cx="4709400" cy="4865400"/>
          </a:xfrm>
          <a:prstGeom prst="round2SameRect">
            <a:avLst>
              <a:gd name="adj1" fmla="val 1367"/>
              <a:gd name="adj2" fmla="val 0"/>
            </a:avLst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17" name="Google Shape;317;p22"/>
          <p:cNvSpPr txBox="1">
            <a:spLocks noGrp="1"/>
          </p:cNvSpPr>
          <p:nvPr>
            <p:ph type="subTitle" idx="1"/>
          </p:nvPr>
        </p:nvSpPr>
        <p:spPr>
          <a:xfrm>
            <a:off x="3442450" y="779144"/>
            <a:ext cx="5139300" cy="3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18" name="Google Shape;318;p22"/>
          <p:cNvSpPr txBox="1">
            <a:spLocks noGrp="1"/>
          </p:cNvSpPr>
          <p:nvPr>
            <p:ph type="body" idx="2"/>
          </p:nvPr>
        </p:nvSpPr>
        <p:spPr>
          <a:xfrm>
            <a:off x="3438150" y="1271025"/>
            <a:ext cx="5139300" cy="3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19" name="Google Shape;319;p22"/>
          <p:cNvSpPr txBox="1">
            <a:spLocks noGrp="1"/>
          </p:cNvSpPr>
          <p:nvPr>
            <p:ph type="title"/>
          </p:nvPr>
        </p:nvSpPr>
        <p:spPr>
          <a:xfrm>
            <a:off x="3438150" y="358969"/>
            <a:ext cx="51393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20" name="Google Shape;320;p22"/>
          <p:cNvGrpSpPr/>
          <p:nvPr/>
        </p:nvGrpSpPr>
        <p:grpSpPr>
          <a:xfrm>
            <a:off x="571494" y="306825"/>
            <a:ext cx="2593200" cy="3705000"/>
            <a:chOff x="-2696606" y="304800"/>
            <a:chExt cx="2593200" cy="3705000"/>
          </a:xfrm>
        </p:grpSpPr>
        <p:sp>
          <p:nvSpPr>
            <p:cNvPr id="321" name="Google Shape;321;p22"/>
            <p:cNvSpPr/>
            <p:nvPr/>
          </p:nvSpPr>
          <p:spPr>
            <a:xfrm>
              <a:off x="-2696606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22" name="Google Shape;322;p22"/>
            <p:cNvSpPr txBox="1"/>
            <p:nvPr/>
          </p:nvSpPr>
          <p:spPr>
            <a:xfrm>
              <a:off x="-1856150" y="159370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323" name="Google Shape;323;p22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24" name="Google Shape;324;p22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25" name="Google Shape;325;p22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26" name="Google Shape;326;p22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27" name="Google Shape;327;p22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28" name="Google Shape;328;p22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29" name="Google Shape;329;p22"/>
            <p:cNvCxnSpPr>
              <a:stCxn id="330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31" name="Google Shape;331;p22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32" name="Google Shape;332;p22"/>
            <p:cNvCxnSpPr>
              <a:endCxn id="331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33" name="Google Shape;333;p22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30" name="Google Shape;330;p22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34" name="Google Shape;334;p22"/>
            <p:cNvCxnSpPr>
              <a:stCxn id="333" idx="2"/>
              <a:endCxn id="331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35" name="Google Shape;335;p22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9 - Titre, contenu, visuel à gauche et bloc conclu - cadre blanc">
  <p:cSld name="69 - Titre, contenu, visuel à gauche et bloc conclu - cadre blanc"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7" name="Google Shape;337;p23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38" name="Google Shape;338;p23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39" name="Google Shape;339;p23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0" name="Google Shape;340;p23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1" name="Google Shape;341;p23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42" name="Google Shape;342;p23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43" name="Google Shape;343;p23"/>
            <p:cNvCxnSpPr>
              <a:stCxn id="344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45" name="Google Shape;345;p23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46" name="Google Shape;346;p23"/>
            <p:cNvCxnSpPr>
              <a:endCxn id="345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47" name="Google Shape;347;p23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44" name="Google Shape;344;p23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48" name="Google Shape;348;p23"/>
            <p:cNvCxnSpPr>
              <a:stCxn id="347" idx="2"/>
              <a:endCxn id="345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49" name="Google Shape;349;p23"/>
          <p:cNvSpPr txBox="1">
            <a:spLocks noGrp="1"/>
          </p:cNvSpPr>
          <p:nvPr>
            <p:ph type="title"/>
          </p:nvPr>
        </p:nvSpPr>
        <p:spPr>
          <a:xfrm>
            <a:off x="3932050" y="354600"/>
            <a:ext cx="4588200" cy="3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50" name="Google Shape;350;p23"/>
          <p:cNvGrpSpPr/>
          <p:nvPr/>
        </p:nvGrpSpPr>
        <p:grpSpPr>
          <a:xfrm rot="10800000">
            <a:off x="420900" y="3471525"/>
            <a:ext cx="1392300" cy="1392300"/>
            <a:chOff x="7475475" y="301725"/>
            <a:chExt cx="1392300" cy="1392300"/>
          </a:xfrm>
        </p:grpSpPr>
        <p:sp>
          <p:nvSpPr>
            <p:cNvPr id="351" name="Google Shape;351;p23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2" name="Google Shape;352;p23"/>
            <p:cNvSpPr txBox="1"/>
            <p:nvPr/>
          </p:nvSpPr>
          <p:spPr>
            <a:xfrm rot="10800000">
              <a:off x="7776275" y="553855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53" name="Google Shape;353;p23"/>
          <p:cNvSpPr txBox="1">
            <a:spLocks noGrp="1"/>
          </p:cNvSpPr>
          <p:nvPr>
            <p:ph type="body" idx="1"/>
          </p:nvPr>
        </p:nvSpPr>
        <p:spPr>
          <a:xfrm>
            <a:off x="1511925" y="817275"/>
            <a:ext cx="1719000" cy="20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54" name="Google Shape;354;p23"/>
          <p:cNvSpPr txBox="1">
            <a:spLocks noGrp="1"/>
          </p:cNvSpPr>
          <p:nvPr>
            <p:ph type="body" idx="2"/>
          </p:nvPr>
        </p:nvSpPr>
        <p:spPr>
          <a:xfrm>
            <a:off x="3932200" y="817275"/>
            <a:ext cx="4588200" cy="4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55" name="Google Shape;355;p23"/>
          <p:cNvSpPr/>
          <p:nvPr/>
        </p:nvSpPr>
        <p:spPr>
          <a:xfrm>
            <a:off x="1209075" y="30172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56" name="Google Shape;356;p23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70 - Titre, sous-titre, contenu, visuel à gauche et bloc conclu - cadre blanc">
  <p:cSld name="70 - Titre, sous-titre, contenu, visuel à gauche et bloc conclu - cadre blanc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8" name="Google Shape;358;p24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59" name="Google Shape;359;p24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60" name="Google Shape;360;p24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61" name="Google Shape;361;p24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62" name="Google Shape;362;p24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63" name="Google Shape;363;p24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64" name="Google Shape;364;p24"/>
            <p:cNvCxnSpPr>
              <a:stCxn id="365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66" name="Google Shape;366;p24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67" name="Google Shape;367;p24"/>
            <p:cNvCxnSpPr>
              <a:endCxn id="366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68" name="Google Shape;368;p24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65" name="Google Shape;365;p24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69" name="Google Shape;369;p24"/>
            <p:cNvCxnSpPr>
              <a:stCxn id="368" idx="2"/>
              <a:endCxn id="366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70" name="Google Shape;370;p24"/>
          <p:cNvSpPr txBox="1">
            <a:spLocks noGrp="1"/>
          </p:cNvSpPr>
          <p:nvPr>
            <p:ph type="body" idx="1"/>
          </p:nvPr>
        </p:nvSpPr>
        <p:spPr>
          <a:xfrm>
            <a:off x="3943350" y="1271025"/>
            <a:ext cx="4564200" cy="35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71" name="Google Shape;371;p24"/>
          <p:cNvSpPr txBox="1">
            <a:spLocks noGrp="1"/>
          </p:cNvSpPr>
          <p:nvPr>
            <p:ph type="subTitle" idx="2"/>
          </p:nvPr>
        </p:nvSpPr>
        <p:spPr>
          <a:xfrm>
            <a:off x="3935150" y="770950"/>
            <a:ext cx="4564200" cy="3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72" name="Google Shape;372;p24"/>
          <p:cNvSpPr txBox="1">
            <a:spLocks noGrp="1"/>
          </p:cNvSpPr>
          <p:nvPr>
            <p:ph type="title"/>
          </p:nvPr>
        </p:nvSpPr>
        <p:spPr>
          <a:xfrm>
            <a:off x="3935150" y="348725"/>
            <a:ext cx="4564200" cy="3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73" name="Google Shape;373;p24"/>
          <p:cNvGrpSpPr/>
          <p:nvPr/>
        </p:nvGrpSpPr>
        <p:grpSpPr>
          <a:xfrm rot="10800000">
            <a:off x="420900" y="3471800"/>
            <a:ext cx="1392300" cy="1392300"/>
            <a:chOff x="7475475" y="301725"/>
            <a:chExt cx="1392300" cy="1392300"/>
          </a:xfrm>
        </p:grpSpPr>
        <p:sp>
          <p:nvSpPr>
            <p:cNvPr id="374" name="Google Shape;374;p24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75" name="Google Shape;375;p24"/>
            <p:cNvSpPr txBox="1"/>
            <p:nvPr/>
          </p:nvSpPr>
          <p:spPr>
            <a:xfrm rot="10800000">
              <a:off x="7776288" y="55385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76" name="Google Shape;376;p24"/>
          <p:cNvSpPr/>
          <p:nvPr/>
        </p:nvSpPr>
        <p:spPr>
          <a:xfrm>
            <a:off x="1209075" y="30031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77" name="Google Shape;377;p24"/>
          <p:cNvSpPr txBox="1">
            <a:spLocks noGrp="1"/>
          </p:cNvSpPr>
          <p:nvPr>
            <p:ph type="body" idx="3"/>
          </p:nvPr>
        </p:nvSpPr>
        <p:spPr>
          <a:xfrm>
            <a:off x="1511925" y="812385"/>
            <a:ext cx="1719000" cy="20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None/>
              <a:defRPr sz="12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78" name="Google Shape;378;p24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0 - Table des matières [2]">
  <p:cSld name="90 - Table des matières [2]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25"/>
          <p:cNvSpPr txBox="1">
            <a:spLocks noGrp="1"/>
          </p:cNvSpPr>
          <p:nvPr>
            <p:ph type="title"/>
          </p:nvPr>
        </p:nvSpPr>
        <p:spPr>
          <a:xfrm>
            <a:off x="829600" y="1260303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1" name="Google Shape;381;p25"/>
          <p:cNvSpPr txBox="1">
            <a:spLocks noGrp="1"/>
          </p:cNvSpPr>
          <p:nvPr>
            <p:ph type="body" idx="1"/>
          </p:nvPr>
        </p:nvSpPr>
        <p:spPr>
          <a:xfrm>
            <a:off x="2236850" y="2248633"/>
            <a:ext cx="2335200" cy="7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2" name="Google Shape;382;p25"/>
          <p:cNvSpPr txBox="1">
            <a:spLocks noGrp="1"/>
          </p:cNvSpPr>
          <p:nvPr>
            <p:ph type="body" idx="2"/>
          </p:nvPr>
        </p:nvSpPr>
        <p:spPr>
          <a:xfrm>
            <a:off x="6210950" y="2248625"/>
            <a:ext cx="2335200" cy="7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3" name="Google Shape;383;p25"/>
          <p:cNvSpPr/>
          <p:nvPr/>
        </p:nvSpPr>
        <p:spPr>
          <a:xfrm>
            <a:off x="1106400" y="22486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84" name="Google Shape;384;p25"/>
          <p:cNvSpPr txBox="1"/>
          <p:nvPr/>
        </p:nvSpPr>
        <p:spPr>
          <a:xfrm>
            <a:off x="1086263" y="2254176"/>
            <a:ext cx="8082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85" name="Google Shape;385;p25"/>
          <p:cNvSpPr/>
          <p:nvPr/>
        </p:nvSpPr>
        <p:spPr>
          <a:xfrm>
            <a:off x="5192425" y="2286425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86" name="Google Shape;386;p25"/>
          <p:cNvSpPr txBox="1"/>
          <p:nvPr/>
        </p:nvSpPr>
        <p:spPr>
          <a:xfrm>
            <a:off x="5160164" y="2254177"/>
            <a:ext cx="852600" cy="8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1 - Table des matières [3]">
  <p:cSld name="91 - Table des matières [3]"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6"/>
          <p:cNvSpPr txBox="1">
            <a:spLocks noGrp="1"/>
          </p:cNvSpPr>
          <p:nvPr>
            <p:ph type="title"/>
          </p:nvPr>
        </p:nvSpPr>
        <p:spPr>
          <a:xfrm>
            <a:off x="829600" y="126357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9" name="Google Shape;389;p26"/>
          <p:cNvSpPr txBox="1">
            <a:spLocks noGrp="1"/>
          </p:cNvSpPr>
          <p:nvPr>
            <p:ph type="body" idx="1"/>
          </p:nvPr>
        </p:nvSpPr>
        <p:spPr>
          <a:xfrm>
            <a:off x="1172550" y="2689025"/>
            <a:ext cx="2269800" cy="17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90" name="Google Shape;390;p26"/>
          <p:cNvSpPr txBox="1">
            <a:spLocks noGrp="1"/>
          </p:cNvSpPr>
          <p:nvPr>
            <p:ph type="body" idx="2"/>
          </p:nvPr>
        </p:nvSpPr>
        <p:spPr>
          <a:xfrm>
            <a:off x="3666975" y="2711825"/>
            <a:ext cx="2269800" cy="17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91" name="Google Shape;391;p26"/>
          <p:cNvSpPr txBox="1">
            <a:spLocks noGrp="1"/>
          </p:cNvSpPr>
          <p:nvPr>
            <p:ph type="body" idx="3"/>
          </p:nvPr>
        </p:nvSpPr>
        <p:spPr>
          <a:xfrm>
            <a:off x="6260400" y="2711825"/>
            <a:ext cx="2317200" cy="17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92" name="Google Shape;392;p26"/>
          <p:cNvSpPr/>
          <p:nvPr/>
        </p:nvSpPr>
        <p:spPr>
          <a:xfrm rot="10800000">
            <a:off x="3666963" y="17790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93" name="Google Shape;393;p26"/>
          <p:cNvSpPr/>
          <p:nvPr/>
        </p:nvSpPr>
        <p:spPr>
          <a:xfrm rot="10800000">
            <a:off x="1172550" y="17790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94" name="Google Shape;394;p26"/>
          <p:cNvSpPr/>
          <p:nvPr/>
        </p:nvSpPr>
        <p:spPr>
          <a:xfrm rot="10800000">
            <a:off x="6260388" y="17790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95" name="Google Shape;395;p26"/>
          <p:cNvSpPr txBox="1"/>
          <p:nvPr/>
        </p:nvSpPr>
        <p:spPr>
          <a:xfrm>
            <a:off x="1164446" y="1799383"/>
            <a:ext cx="8046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96" name="Google Shape;396;p26"/>
          <p:cNvSpPr txBox="1"/>
          <p:nvPr/>
        </p:nvSpPr>
        <p:spPr>
          <a:xfrm>
            <a:off x="3650472" y="1799373"/>
            <a:ext cx="8046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97" name="Google Shape;397;p26"/>
          <p:cNvSpPr txBox="1"/>
          <p:nvPr/>
        </p:nvSpPr>
        <p:spPr>
          <a:xfrm>
            <a:off x="6243911" y="1799374"/>
            <a:ext cx="8046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2 - Table des matières [4]">
  <p:cSld name="92 - Table des matières [4]"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27"/>
          <p:cNvSpPr txBox="1">
            <a:spLocks noGrp="1"/>
          </p:cNvSpPr>
          <p:nvPr>
            <p:ph type="title"/>
          </p:nvPr>
        </p:nvSpPr>
        <p:spPr>
          <a:xfrm>
            <a:off x="829600" y="1260303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0" name="Google Shape;400;p27"/>
          <p:cNvSpPr txBox="1">
            <a:spLocks noGrp="1"/>
          </p:cNvSpPr>
          <p:nvPr>
            <p:ph type="body" idx="1"/>
          </p:nvPr>
        </p:nvSpPr>
        <p:spPr>
          <a:xfrm>
            <a:off x="1681525" y="17380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1" name="Google Shape;401;p27"/>
          <p:cNvSpPr txBox="1">
            <a:spLocks noGrp="1"/>
          </p:cNvSpPr>
          <p:nvPr>
            <p:ph type="body" idx="2"/>
          </p:nvPr>
        </p:nvSpPr>
        <p:spPr>
          <a:xfrm>
            <a:off x="1681500" y="30141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2" name="Google Shape;402;p27"/>
          <p:cNvSpPr txBox="1">
            <a:spLocks noGrp="1"/>
          </p:cNvSpPr>
          <p:nvPr>
            <p:ph type="body" idx="3"/>
          </p:nvPr>
        </p:nvSpPr>
        <p:spPr>
          <a:xfrm>
            <a:off x="5619625" y="173812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3" name="Google Shape;403;p27"/>
          <p:cNvSpPr txBox="1">
            <a:spLocks noGrp="1"/>
          </p:cNvSpPr>
          <p:nvPr>
            <p:ph type="body" idx="4"/>
          </p:nvPr>
        </p:nvSpPr>
        <p:spPr>
          <a:xfrm>
            <a:off x="5619750" y="301417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4" name="Google Shape;404;p27"/>
          <p:cNvSpPr/>
          <p:nvPr/>
        </p:nvSpPr>
        <p:spPr>
          <a:xfrm rot="5400000">
            <a:off x="4767525" y="2951177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5" name="Google Shape;405;p27"/>
          <p:cNvSpPr/>
          <p:nvPr/>
        </p:nvSpPr>
        <p:spPr>
          <a:xfrm rot="5400000">
            <a:off x="4767525" y="172202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6" name="Google Shape;406;p27"/>
          <p:cNvSpPr/>
          <p:nvPr/>
        </p:nvSpPr>
        <p:spPr>
          <a:xfrm rot="5400000">
            <a:off x="867525" y="2980796"/>
            <a:ext cx="671700" cy="6717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7" name="Google Shape;407;p27"/>
          <p:cNvSpPr/>
          <p:nvPr/>
        </p:nvSpPr>
        <p:spPr>
          <a:xfrm rot="5400000">
            <a:off x="867525" y="1722025"/>
            <a:ext cx="671700" cy="6717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8" name="Google Shape;408;p27"/>
          <p:cNvSpPr txBox="1"/>
          <p:nvPr/>
        </p:nvSpPr>
        <p:spPr>
          <a:xfrm>
            <a:off x="967623" y="1866129"/>
            <a:ext cx="462300" cy="4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09" name="Google Shape;409;p27"/>
          <p:cNvSpPr txBox="1"/>
          <p:nvPr/>
        </p:nvSpPr>
        <p:spPr>
          <a:xfrm>
            <a:off x="967623" y="3116186"/>
            <a:ext cx="462300" cy="4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10" name="Google Shape;410;p27"/>
          <p:cNvSpPr txBox="1"/>
          <p:nvPr/>
        </p:nvSpPr>
        <p:spPr>
          <a:xfrm>
            <a:off x="4869747" y="1851848"/>
            <a:ext cx="4515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11" name="Google Shape;411;p27"/>
          <p:cNvSpPr txBox="1"/>
          <p:nvPr/>
        </p:nvSpPr>
        <p:spPr>
          <a:xfrm>
            <a:off x="4869747" y="3072492"/>
            <a:ext cx="4515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3 - Table des matières [5]">
  <p:cSld name="93 - Table des matières [5]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8"/>
          <p:cNvSpPr txBox="1">
            <a:spLocks noGrp="1"/>
          </p:cNvSpPr>
          <p:nvPr>
            <p:ph type="title"/>
          </p:nvPr>
        </p:nvSpPr>
        <p:spPr>
          <a:xfrm>
            <a:off x="829600" y="113937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4" name="Google Shape;414;p28"/>
          <p:cNvSpPr txBox="1">
            <a:spLocks noGrp="1"/>
          </p:cNvSpPr>
          <p:nvPr>
            <p:ph type="body" idx="1"/>
          </p:nvPr>
        </p:nvSpPr>
        <p:spPr>
          <a:xfrm>
            <a:off x="1681525" y="16510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5" name="Google Shape;415;p28"/>
          <p:cNvSpPr txBox="1">
            <a:spLocks noGrp="1"/>
          </p:cNvSpPr>
          <p:nvPr>
            <p:ph type="body" idx="2"/>
          </p:nvPr>
        </p:nvSpPr>
        <p:spPr>
          <a:xfrm>
            <a:off x="1681525" y="2447225"/>
            <a:ext cx="27903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6" name="Google Shape;416;p28"/>
          <p:cNvSpPr txBox="1">
            <a:spLocks noGrp="1"/>
          </p:cNvSpPr>
          <p:nvPr>
            <p:ph type="body" idx="3"/>
          </p:nvPr>
        </p:nvSpPr>
        <p:spPr>
          <a:xfrm>
            <a:off x="1681525" y="32436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7" name="Google Shape;417;p28"/>
          <p:cNvSpPr txBox="1">
            <a:spLocks noGrp="1"/>
          </p:cNvSpPr>
          <p:nvPr>
            <p:ph type="body" idx="4"/>
          </p:nvPr>
        </p:nvSpPr>
        <p:spPr>
          <a:xfrm>
            <a:off x="5619625" y="1650825"/>
            <a:ext cx="2958000" cy="65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8" name="Google Shape;418;p28"/>
          <p:cNvSpPr txBox="1">
            <a:spLocks noGrp="1"/>
          </p:cNvSpPr>
          <p:nvPr>
            <p:ph type="body" idx="5"/>
          </p:nvPr>
        </p:nvSpPr>
        <p:spPr>
          <a:xfrm>
            <a:off x="5619625" y="244757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9" name="Google Shape;419;p28"/>
          <p:cNvSpPr/>
          <p:nvPr/>
        </p:nvSpPr>
        <p:spPr>
          <a:xfrm rot="5400000">
            <a:off x="883425" y="165087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0" name="Google Shape;420;p28"/>
          <p:cNvSpPr/>
          <p:nvPr/>
        </p:nvSpPr>
        <p:spPr>
          <a:xfrm rot="5400000">
            <a:off x="883425" y="2447222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1" name="Google Shape;421;p28"/>
          <p:cNvSpPr/>
          <p:nvPr/>
        </p:nvSpPr>
        <p:spPr>
          <a:xfrm rot="5400000">
            <a:off x="883425" y="3243569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2" name="Google Shape;422;p28"/>
          <p:cNvSpPr/>
          <p:nvPr/>
        </p:nvSpPr>
        <p:spPr>
          <a:xfrm rot="5400000">
            <a:off x="4767525" y="1651025"/>
            <a:ext cx="6561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3" name="Google Shape;423;p28"/>
          <p:cNvSpPr/>
          <p:nvPr/>
        </p:nvSpPr>
        <p:spPr>
          <a:xfrm rot="5400000">
            <a:off x="4767525" y="2447566"/>
            <a:ext cx="6561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4" name="Google Shape;424;p28"/>
          <p:cNvSpPr txBox="1"/>
          <p:nvPr/>
        </p:nvSpPr>
        <p:spPr>
          <a:xfrm>
            <a:off x="985647" y="1787397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5" name="Google Shape;425;p28"/>
          <p:cNvSpPr txBox="1"/>
          <p:nvPr/>
        </p:nvSpPr>
        <p:spPr>
          <a:xfrm>
            <a:off x="985647" y="2587947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6" name="Google Shape;426;p28"/>
          <p:cNvSpPr txBox="1"/>
          <p:nvPr/>
        </p:nvSpPr>
        <p:spPr>
          <a:xfrm>
            <a:off x="985647" y="3388496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7" name="Google Shape;427;p28"/>
          <p:cNvSpPr txBox="1"/>
          <p:nvPr/>
        </p:nvSpPr>
        <p:spPr>
          <a:xfrm>
            <a:off x="4869767" y="1787431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8" name="Google Shape;428;p28"/>
          <p:cNvSpPr txBox="1"/>
          <p:nvPr/>
        </p:nvSpPr>
        <p:spPr>
          <a:xfrm>
            <a:off x="4867105" y="2563728"/>
            <a:ext cx="4395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4 - Table des matières [6]">
  <p:cSld name="94 - Table des matières [6]"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29"/>
          <p:cNvSpPr txBox="1">
            <a:spLocks noGrp="1"/>
          </p:cNvSpPr>
          <p:nvPr>
            <p:ph type="title"/>
          </p:nvPr>
        </p:nvSpPr>
        <p:spPr>
          <a:xfrm>
            <a:off x="829600" y="103217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1" name="Google Shape;431;p29"/>
          <p:cNvSpPr txBox="1">
            <a:spLocks noGrp="1"/>
          </p:cNvSpPr>
          <p:nvPr>
            <p:ph type="body" idx="1"/>
          </p:nvPr>
        </p:nvSpPr>
        <p:spPr>
          <a:xfrm>
            <a:off x="1747225" y="1650775"/>
            <a:ext cx="28905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2" name="Google Shape;432;p29"/>
          <p:cNvSpPr txBox="1">
            <a:spLocks noGrp="1"/>
          </p:cNvSpPr>
          <p:nvPr>
            <p:ph type="body" idx="2"/>
          </p:nvPr>
        </p:nvSpPr>
        <p:spPr>
          <a:xfrm>
            <a:off x="1747225" y="2447225"/>
            <a:ext cx="28905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3" name="Google Shape;433;p29"/>
          <p:cNvSpPr txBox="1">
            <a:spLocks noGrp="1"/>
          </p:cNvSpPr>
          <p:nvPr>
            <p:ph type="body" idx="3"/>
          </p:nvPr>
        </p:nvSpPr>
        <p:spPr>
          <a:xfrm>
            <a:off x="1747225" y="3243675"/>
            <a:ext cx="28905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4" name="Google Shape;434;p29"/>
          <p:cNvSpPr txBox="1">
            <a:spLocks noGrp="1"/>
          </p:cNvSpPr>
          <p:nvPr>
            <p:ph type="body" idx="4"/>
          </p:nvPr>
        </p:nvSpPr>
        <p:spPr>
          <a:xfrm>
            <a:off x="5685325" y="165082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5" name="Google Shape;435;p29"/>
          <p:cNvSpPr txBox="1">
            <a:spLocks noGrp="1"/>
          </p:cNvSpPr>
          <p:nvPr>
            <p:ph type="body" idx="5"/>
          </p:nvPr>
        </p:nvSpPr>
        <p:spPr>
          <a:xfrm>
            <a:off x="5685325" y="244727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6" name="Google Shape;436;p29"/>
          <p:cNvSpPr txBox="1">
            <a:spLocks noGrp="1"/>
          </p:cNvSpPr>
          <p:nvPr>
            <p:ph type="body" idx="6"/>
          </p:nvPr>
        </p:nvSpPr>
        <p:spPr>
          <a:xfrm>
            <a:off x="5685325" y="324372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7" name="Google Shape;437;p29"/>
          <p:cNvSpPr/>
          <p:nvPr/>
        </p:nvSpPr>
        <p:spPr>
          <a:xfrm rot="5400000">
            <a:off x="4767525" y="3243573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38" name="Google Shape;438;p29"/>
          <p:cNvSpPr/>
          <p:nvPr/>
        </p:nvSpPr>
        <p:spPr>
          <a:xfrm rot="5400000">
            <a:off x="883425" y="165087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39" name="Google Shape;439;p29"/>
          <p:cNvSpPr/>
          <p:nvPr/>
        </p:nvSpPr>
        <p:spPr>
          <a:xfrm rot="5400000">
            <a:off x="883425" y="2447224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0" name="Google Shape;440;p29"/>
          <p:cNvSpPr/>
          <p:nvPr/>
        </p:nvSpPr>
        <p:spPr>
          <a:xfrm rot="5400000">
            <a:off x="883425" y="3243573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1" name="Google Shape;441;p29"/>
          <p:cNvSpPr/>
          <p:nvPr/>
        </p:nvSpPr>
        <p:spPr>
          <a:xfrm rot="5400000">
            <a:off x="4767525" y="165087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2" name="Google Shape;442;p29"/>
          <p:cNvSpPr/>
          <p:nvPr/>
        </p:nvSpPr>
        <p:spPr>
          <a:xfrm rot="5400000">
            <a:off x="4767525" y="2447224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3" name="Google Shape;443;p29"/>
          <p:cNvSpPr txBox="1"/>
          <p:nvPr/>
        </p:nvSpPr>
        <p:spPr>
          <a:xfrm>
            <a:off x="985647" y="1787398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4" name="Google Shape;444;p29"/>
          <p:cNvSpPr txBox="1"/>
          <p:nvPr/>
        </p:nvSpPr>
        <p:spPr>
          <a:xfrm>
            <a:off x="985647" y="2554581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5" name="Google Shape;445;p29"/>
          <p:cNvSpPr txBox="1"/>
          <p:nvPr/>
        </p:nvSpPr>
        <p:spPr>
          <a:xfrm>
            <a:off x="985647" y="3355132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6" name="Google Shape;446;p29"/>
          <p:cNvSpPr txBox="1"/>
          <p:nvPr/>
        </p:nvSpPr>
        <p:spPr>
          <a:xfrm>
            <a:off x="4868853" y="1787398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7" name="Google Shape;447;p29"/>
          <p:cNvSpPr txBox="1"/>
          <p:nvPr/>
        </p:nvSpPr>
        <p:spPr>
          <a:xfrm>
            <a:off x="4868853" y="2554580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8" name="Google Shape;448;p29"/>
          <p:cNvSpPr txBox="1"/>
          <p:nvPr/>
        </p:nvSpPr>
        <p:spPr>
          <a:xfrm>
            <a:off x="4868853" y="3355132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5 - Table des matières [7]">
  <p:cSld name="95 - Table des matières [7]"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30"/>
          <p:cNvSpPr txBox="1">
            <a:spLocks noGrp="1"/>
          </p:cNvSpPr>
          <p:nvPr>
            <p:ph type="title"/>
          </p:nvPr>
        </p:nvSpPr>
        <p:spPr>
          <a:xfrm>
            <a:off x="829600" y="891150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1" name="Google Shape;451;p30"/>
          <p:cNvSpPr txBox="1">
            <a:spLocks noGrp="1"/>
          </p:cNvSpPr>
          <p:nvPr>
            <p:ph type="body" idx="1"/>
          </p:nvPr>
        </p:nvSpPr>
        <p:spPr>
          <a:xfrm>
            <a:off x="1678225" y="139775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2" name="Google Shape;452;p30"/>
          <p:cNvSpPr txBox="1">
            <a:spLocks noGrp="1"/>
          </p:cNvSpPr>
          <p:nvPr>
            <p:ph type="body" idx="2"/>
          </p:nvPr>
        </p:nvSpPr>
        <p:spPr>
          <a:xfrm>
            <a:off x="1678225" y="211860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3" name="Google Shape;453;p30"/>
          <p:cNvSpPr txBox="1">
            <a:spLocks noGrp="1"/>
          </p:cNvSpPr>
          <p:nvPr>
            <p:ph type="body" idx="3"/>
          </p:nvPr>
        </p:nvSpPr>
        <p:spPr>
          <a:xfrm>
            <a:off x="1678225" y="285205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4" name="Google Shape;454;p30"/>
          <p:cNvSpPr txBox="1">
            <a:spLocks noGrp="1"/>
          </p:cNvSpPr>
          <p:nvPr>
            <p:ph type="body" idx="4"/>
          </p:nvPr>
        </p:nvSpPr>
        <p:spPr>
          <a:xfrm>
            <a:off x="1678125" y="357680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5" name="Google Shape;455;p30"/>
          <p:cNvSpPr txBox="1">
            <a:spLocks noGrp="1"/>
          </p:cNvSpPr>
          <p:nvPr>
            <p:ph type="body" idx="5"/>
          </p:nvPr>
        </p:nvSpPr>
        <p:spPr>
          <a:xfrm>
            <a:off x="5619625" y="1385200"/>
            <a:ext cx="29208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6" name="Google Shape;456;p30"/>
          <p:cNvSpPr txBox="1">
            <a:spLocks noGrp="1"/>
          </p:cNvSpPr>
          <p:nvPr>
            <p:ph type="body" idx="6"/>
          </p:nvPr>
        </p:nvSpPr>
        <p:spPr>
          <a:xfrm>
            <a:off x="5619625" y="2101550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7" name="Google Shape;457;p30"/>
          <p:cNvSpPr txBox="1">
            <a:spLocks noGrp="1"/>
          </p:cNvSpPr>
          <p:nvPr>
            <p:ph type="body" idx="7"/>
          </p:nvPr>
        </p:nvSpPr>
        <p:spPr>
          <a:xfrm>
            <a:off x="5619625" y="2852100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8" name="Google Shape;458;p30"/>
          <p:cNvSpPr/>
          <p:nvPr/>
        </p:nvSpPr>
        <p:spPr>
          <a:xfrm rot="5400000">
            <a:off x="47888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59" name="Google Shape;459;p30"/>
          <p:cNvSpPr/>
          <p:nvPr/>
        </p:nvSpPr>
        <p:spPr>
          <a:xfrm rot="5400000">
            <a:off x="47888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0" name="Google Shape;460;p30"/>
          <p:cNvSpPr/>
          <p:nvPr/>
        </p:nvSpPr>
        <p:spPr>
          <a:xfrm rot="5400000">
            <a:off x="47888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1" name="Google Shape;461;p30"/>
          <p:cNvSpPr/>
          <p:nvPr/>
        </p:nvSpPr>
        <p:spPr>
          <a:xfrm rot="5400000">
            <a:off x="883425" y="35769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2" name="Google Shape;462;p30"/>
          <p:cNvSpPr/>
          <p:nvPr/>
        </p:nvSpPr>
        <p:spPr>
          <a:xfrm rot="5400000">
            <a:off x="8834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3" name="Google Shape;463;p30"/>
          <p:cNvSpPr/>
          <p:nvPr/>
        </p:nvSpPr>
        <p:spPr>
          <a:xfrm rot="5400000">
            <a:off x="8834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4" name="Google Shape;464;p30"/>
          <p:cNvSpPr/>
          <p:nvPr/>
        </p:nvSpPr>
        <p:spPr>
          <a:xfrm rot="5400000">
            <a:off x="8834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5" name="Google Shape;465;p30"/>
          <p:cNvSpPr txBox="1"/>
          <p:nvPr/>
        </p:nvSpPr>
        <p:spPr>
          <a:xfrm>
            <a:off x="908769" y="14481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6" name="Google Shape;466;p30"/>
          <p:cNvSpPr txBox="1"/>
          <p:nvPr/>
        </p:nvSpPr>
        <p:spPr>
          <a:xfrm>
            <a:off x="908769" y="21816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7" name="Google Shape;467;p30"/>
          <p:cNvSpPr txBox="1"/>
          <p:nvPr/>
        </p:nvSpPr>
        <p:spPr>
          <a:xfrm>
            <a:off x="908769" y="29151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8" name="Google Shape;468;p30"/>
          <p:cNvSpPr txBox="1"/>
          <p:nvPr/>
        </p:nvSpPr>
        <p:spPr>
          <a:xfrm>
            <a:off x="908769" y="36485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9" name="Google Shape;469;p30"/>
          <p:cNvSpPr txBox="1"/>
          <p:nvPr/>
        </p:nvSpPr>
        <p:spPr>
          <a:xfrm>
            <a:off x="4814169" y="14482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70" name="Google Shape;470;p30"/>
          <p:cNvSpPr txBox="1"/>
          <p:nvPr/>
        </p:nvSpPr>
        <p:spPr>
          <a:xfrm>
            <a:off x="4814169" y="2181664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71" name="Google Shape;471;p30"/>
          <p:cNvSpPr txBox="1"/>
          <p:nvPr/>
        </p:nvSpPr>
        <p:spPr>
          <a:xfrm>
            <a:off x="4814169" y="29151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6 - Table des matières [8]">
  <p:cSld name="96 - Table des matières [8]"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31"/>
          <p:cNvSpPr txBox="1">
            <a:spLocks noGrp="1"/>
          </p:cNvSpPr>
          <p:nvPr>
            <p:ph type="title"/>
          </p:nvPr>
        </p:nvSpPr>
        <p:spPr>
          <a:xfrm>
            <a:off x="829600" y="89702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4" name="Google Shape;474;p31"/>
          <p:cNvSpPr txBox="1">
            <a:spLocks noGrp="1"/>
          </p:cNvSpPr>
          <p:nvPr>
            <p:ph type="body" idx="1"/>
          </p:nvPr>
        </p:nvSpPr>
        <p:spPr>
          <a:xfrm>
            <a:off x="1681525" y="139775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5" name="Google Shape;475;p31"/>
          <p:cNvSpPr txBox="1">
            <a:spLocks noGrp="1"/>
          </p:cNvSpPr>
          <p:nvPr>
            <p:ph type="body" idx="2"/>
          </p:nvPr>
        </p:nvSpPr>
        <p:spPr>
          <a:xfrm>
            <a:off x="1681525" y="212070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6" name="Google Shape;476;p31"/>
          <p:cNvSpPr txBox="1">
            <a:spLocks noGrp="1"/>
          </p:cNvSpPr>
          <p:nvPr>
            <p:ph type="body" idx="3"/>
          </p:nvPr>
        </p:nvSpPr>
        <p:spPr>
          <a:xfrm>
            <a:off x="1681525" y="285205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7" name="Google Shape;477;p31"/>
          <p:cNvSpPr txBox="1">
            <a:spLocks noGrp="1"/>
          </p:cNvSpPr>
          <p:nvPr>
            <p:ph type="body" idx="4"/>
          </p:nvPr>
        </p:nvSpPr>
        <p:spPr>
          <a:xfrm>
            <a:off x="1681525" y="358550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8" name="Google Shape;478;p31"/>
          <p:cNvSpPr txBox="1">
            <a:spLocks noGrp="1"/>
          </p:cNvSpPr>
          <p:nvPr>
            <p:ph type="body" idx="5"/>
          </p:nvPr>
        </p:nvSpPr>
        <p:spPr>
          <a:xfrm>
            <a:off x="5619625" y="139780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9" name="Google Shape;479;p31"/>
          <p:cNvSpPr txBox="1">
            <a:spLocks noGrp="1"/>
          </p:cNvSpPr>
          <p:nvPr>
            <p:ph type="body" idx="6"/>
          </p:nvPr>
        </p:nvSpPr>
        <p:spPr>
          <a:xfrm>
            <a:off x="5619625" y="212075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80" name="Google Shape;480;p31"/>
          <p:cNvSpPr txBox="1">
            <a:spLocks noGrp="1"/>
          </p:cNvSpPr>
          <p:nvPr>
            <p:ph type="body" idx="7"/>
          </p:nvPr>
        </p:nvSpPr>
        <p:spPr>
          <a:xfrm>
            <a:off x="5619625" y="284340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81" name="Google Shape;481;p31"/>
          <p:cNvSpPr txBox="1">
            <a:spLocks noGrp="1"/>
          </p:cNvSpPr>
          <p:nvPr>
            <p:ph type="body" idx="8"/>
          </p:nvPr>
        </p:nvSpPr>
        <p:spPr>
          <a:xfrm>
            <a:off x="5619625" y="356635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82" name="Google Shape;482;p31"/>
          <p:cNvSpPr/>
          <p:nvPr/>
        </p:nvSpPr>
        <p:spPr>
          <a:xfrm rot="5400000">
            <a:off x="47888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3" name="Google Shape;483;p31"/>
          <p:cNvSpPr/>
          <p:nvPr/>
        </p:nvSpPr>
        <p:spPr>
          <a:xfrm rot="5400000">
            <a:off x="47888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4" name="Google Shape;484;p31"/>
          <p:cNvSpPr/>
          <p:nvPr/>
        </p:nvSpPr>
        <p:spPr>
          <a:xfrm rot="5400000">
            <a:off x="47888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5" name="Google Shape;485;p31"/>
          <p:cNvSpPr/>
          <p:nvPr/>
        </p:nvSpPr>
        <p:spPr>
          <a:xfrm rot="5400000">
            <a:off x="883425" y="35769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6" name="Google Shape;486;p31"/>
          <p:cNvSpPr/>
          <p:nvPr/>
        </p:nvSpPr>
        <p:spPr>
          <a:xfrm rot="5400000">
            <a:off x="8834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7" name="Google Shape;487;p31"/>
          <p:cNvSpPr/>
          <p:nvPr/>
        </p:nvSpPr>
        <p:spPr>
          <a:xfrm rot="5400000">
            <a:off x="8834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8" name="Google Shape;488;p31"/>
          <p:cNvSpPr/>
          <p:nvPr/>
        </p:nvSpPr>
        <p:spPr>
          <a:xfrm rot="5400000">
            <a:off x="8834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9" name="Google Shape;489;p31"/>
          <p:cNvSpPr txBox="1"/>
          <p:nvPr/>
        </p:nvSpPr>
        <p:spPr>
          <a:xfrm>
            <a:off x="908769" y="14481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0" name="Google Shape;490;p31"/>
          <p:cNvSpPr txBox="1"/>
          <p:nvPr/>
        </p:nvSpPr>
        <p:spPr>
          <a:xfrm>
            <a:off x="908769" y="21816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1" name="Google Shape;491;p31"/>
          <p:cNvSpPr txBox="1"/>
          <p:nvPr/>
        </p:nvSpPr>
        <p:spPr>
          <a:xfrm>
            <a:off x="908769" y="29151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2" name="Google Shape;492;p31"/>
          <p:cNvSpPr txBox="1"/>
          <p:nvPr/>
        </p:nvSpPr>
        <p:spPr>
          <a:xfrm>
            <a:off x="908769" y="36485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3" name="Google Shape;493;p31"/>
          <p:cNvSpPr txBox="1"/>
          <p:nvPr/>
        </p:nvSpPr>
        <p:spPr>
          <a:xfrm>
            <a:off x="4814169" y="14482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4" name="Google Shape;494;p31"/>
          <p:cNvSpPr txBox="1"/>
          <p:nvPr/>
        </p:nvSpPr>
        <p:spPr>
          <a:xfrm>
            <a:off x="4814169" y="2181664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5" name="Google Shape;495;p31"/>
          <p:cNvSpPr txBox="1"/>
          <p:nvPr/>
        </p:nvSpPr>
        <p:spPr>
          <a:xfrm>
            <a:off x="4814169" y="29151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6" name="Google Shape;496;p31"/>
          <p:cNvSpPr/>
          <p:nvPr/>
        </p:nvSpPr>
        <p:spPr>
          <a:xfrm rot="5400000">
            <a:off x="4788825" y="356642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97" name="Google Shape;497;p31"/>
          <p:cNvSpPr txBox="1"/>
          <p:nvPr/>
        </p:nvSpPr>
        <p:spPr>
          <a:xfrm>
            <a:off x="4814169" y="3638040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08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7 - Table des matières [9]">
  <p:cSld name="97 - Table des matières [9]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32"/>
          <p:cNvSpPr txBox="1">
            <a:spLocks noGrp="1"/>
          </p:cNvSpPr>
          <p:nvPr>
            <p:ph type="title"/>
          </p:nvPr>
        </p:nvSpPr>
        <p:spPr>
          <a:xfrm>
            <a:off x="564931" y="362212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0" name="Google Shape;500;p32"/>
          <p:cNvSpPr txBox="1">
            <a:spLocks noGrp="1"/>
          </p:cNvSpPr>
          <p:nvPr>
            <p:ph type="body" idx="1"/>
          </p:nvPr>
        </p:nvSpPr>
        <p:spPr>
          <a:xfrm>
            <a:off x="1681525" y="1122425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1" name="Google Shape;501;p32"/>
          <p:cNvSpPr txBox="1">
            <a:spLocks noGrp="1"/>
          </p:cNvSpPr>
          <p:nvPr>
            <p:ph type="body" idx="2"/>
          </p:nvPr>
        </p:nvSpPr>
        <p:spPr>
          <a:xfrm>
            <a:off x="1681525" y="1819575"/>
            <a:ext cx="28149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2" name="Google Shape;502;p32"/>
          <p:cNvSpPr txBox="1">
            <a:spLocks noGrp="1"/>
          </p:cNvSpPr>
          <p:nvPr>
            <p:ph type="body" idx="3"/>
          </p:nvPr>
        </p:nvSpPr>
        <p:spPr>
          <a:xfrm>
            <a:off x="1681525" y="2490025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3" name="Google Shape;503;p32"/>
          <p:cNvSpPr txBox="1">
            <a:spLocks noGrp="1"/>
          </p:cNvSpPr>
          <p:nvPr>
            <p:ph type="body" idx="4"/>
          </p:nvPr>
        </p:nvSpPr>
        <p:spPr>
          <a:xfrm>
            <a:off x="1681525" y="3286475"/>
            <a:ext cx="28149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4" name="Google Shape;504;p32"/>
          <p:cNvSpPr txBox="1">
            <a:spLocks noGrp="1"/>
          </p:cNvSpPr>
          <p:nvPr>
            <p:ph type="body" idx="5"/>
          </p:nvPr>
        </p:nvSpPr>
        <p:spPr>
          <a:xfrm>
            <a:off x="1681525" y="3978875"/>
            <a:ext cx="28149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5" name="Google Shape;505;p32"/>
          <p:cNvSpPr txBox="1">
            <a:spLocks noGrp="1"/>
          </p:cNvSpPr>
          <p:nvPr>
            <p:ph type="body" idx="6"/>
          </p:nvPr>
        </p:nvSpPr>
        <p:spPr>
          <a:xfrm>
            <a:off x="5619625" y="107717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6" name="Google Shape;506;p32"/>
          <p:cNvSpPr txBox="1">
            <a:spLocks noGrp="1"/>
          </p:cNvSpPr>
          <p:nvPr>
            <p:ph type="body" idx="7"/>
          </p:nvPr>
        </p:nvSpPr>
        <p:spPr>
          <a:xfrm>
            <a:off x="5619625" y="181062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7" name="Google Shape;507;p32"/>
          <p:cNvSpPr txBox="1">
            <a:spLocks noGrp="1"/>
          </p:cNvSpPr>
          <p:nvPr>
            <p:ph type="body" idx="8"/>
          </p:nvPr>
        </p:nvSpPr>
        <p:spPr>
          <a:xfrm>
            <a:off x="5619625" y="260707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8" name="Google Shape;508;p32"/>
          <p:cNvSpPr txBox="1">
            <a:spLocks noGrp="1"/>
          </p:cNvSpPr>
          <p:nvPr>
            <p:ph type="body" idx="9"/>
          </p:nvPr>
        </p:nvSpPr>
        <p:spPr>
          <a:xfrm>
            <a:off x="5619625" y="321452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9" name="Google Shape;509;p32"/>
          <p:cNvSpPr/>
          <p:nvPr/>
        </p:nvSpPr>
        <p:spPr>
          <a:xfrm rot="5400000">
            <a:off x="883425" y="39970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0" name="Google Shape;510;p32"/>
          <p:cNvSpPr/>
          <p:nvPr/>
        </p:nvSpPr>
        <p:spPr>
          <a:xfrm rot="5400000">
            <a:off x="4788825" y="108853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1" name="Google Shape;511;p32"/>
          <p:cNvSpPr/>
          <p:nvPr/>
        </p:nvSpPr>
        <p:spPr>
          <a:xfrm rot="5400000">
            <a:off x="4788825" y="1811462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2" name="Google Shape;512;p32"/>
          <p:cNvSpPr/>
          <p:nvPr/>
        </p:nvSpPr>
        <p:spPr>
          <a:xfrm rot="5400000">
            <a:off x="883425" y="32721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3" name="Google Shape;513;p32"/>
          <p:cNvSpPr/>
          <p:nvPr/>
        </p:nvSpPr>
        <p:spPr>
          <a:xfrm rot="5400000">
            <a:off x="883425" y="18157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4" name="Google Shape;514;p32"/>
          <p:cNvSpPr/>
          <p:nvPr/>
        </p:nvSpPr>
        <p:spPr>
          <a:xfrm rot="5400000">
            <a:off x="883425" y="25387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5" name="Google Shape;515;p32"/>
          <p:cNvSpPr/>
          <p:nvPr/>
        </p:nvSpPr>
        <p:spPr>
          <a:xfrm rot="5400000">
            <a:off x="883425" y="10928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6" name="Google Shape;516;p32"/>
          <p:cNvSpPr txBox="1"/>
          <p:nvPr/>
        </p:nvSpPr>
        <p:spPr>
          <a:xfrm>
            <a:off x="908769" y="11433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7" name="Google Shape;517;p32"/>
          <p:cNvSpPr txBox="1"/>
          <p:nvPr/>
        </p:nvSpPr>
        <p:spPr>
          <a:xfrm>
            <a:off x="908769" y="18768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8" name="Google Shape;518;p32"/>
          <p:cNvSpPr txBox="1"/>
          <p:nvPr/>
        </p:nvSpPr>
        <p:spPr>
          <a:xfrm>
            <a:off x="908769" y="26103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9" name="Google Shape;519;p32"/>
          <p:cNvSpPr txBox="1"/>
          <p:nvPr/>
        </p:nvSpPr>
        <p:spPr>
          <a:xfrm>
            <a:off x="908769" y="33437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0" name="Google Shape;520;p32"/>
          <p:cNvSpPr txBox="1"/>
          <p:nvPr/>
        </p:nvSpPr>
        <p:spPr>
          <a:xfrm>
            <a:off x="908769" y="404756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1" name="Google Shape;521;p32"/>
          <p:cNvSpPr txBox="1"/>
          <p:nvPr/>
        </p:nvSpPr>
        <p:spPr>
          <a:xfrm>
            <a:off x="4814169" y="114962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2" name="Google Shape;522;p32"/>
          <p:cNvSpPr txBox="1"/>
          <p:nvPr/>
        </p:nvSpPr>
        <p:spPr>
          <a:xfrm>
            <a:off x="4814169" y="188307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3" name="Google Shape;523;p32"/>
          <p:cNvSpPr/>
          <p:nvPr/>
        </p:nvSpPr>
        <p:spPr>
          <a:xfrm rot="5400000">
            <a:off x="4788825" y="253438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24" name="Google Shape;524;p32"/>
          <p:cNvSpPr txBox="1"/>
          <p:nvPr/>
        </p:nvSpPr>
        <p:spPr>
          <a:xfrm>
            <a:off x="4814169" y="26060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08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5" name="Google Shape;525;p32"/>
          <p:cNvSpPr/>
          <p:nvPr/>
        </p:nvSpPr>
        <p:spPr>
          <a:xfrm rot="5400000">
            <a:off x="4788825" y="325733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26" name="Google Shape;526;p32"/>
          <p:cNvSpPr txBox="1"/>
          <p:nvPr/>
        </p:nvSpPr>
        <p:spPr>
          <a:xfrm>
            <a:off x="4814169" y="33289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09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8 - Table des matières [10]">
  <p:cSld name="98 - Table des matières [10]"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33"/>
          <p:cNvSpPr txBox="1">
            <a:spLocks noGrp="1"/>
          </p:cNvSpPr>
          <p:nvPr>
            <p:ph type="title"/>
          </p:nvPr>
        </p:nvSpPr>
        <p:spPr>
          <a:xfrm>
            <a:off x="564931" y="362212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29" name="Google Shape;529;p33"/>
          <p:cNvSpPr txBox="1">
            <a:spLocks noGrp="1"/>
          </p:cNvSpPr>
          <p:nvPr>
            <p:ph type="body" idx="1"/>
          </p:nvPr>
        </p:nvSpPr>
        <p:spPr>
          <a:xfrm>
            <a:off x="1678225" y="1122425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0" name="Google Shape;530;p33"/>
          <p:cNvSpPr txBox="1">
            <a:spLocks noGrp="1"/>
          </p:cNvSpPr>
          <p:nvPr>
            <p:ph type="body" idx="2"/>
          </p:nvPr>
        </p:nvSpPr>
        <p:spPr>
          <a:xfrm>
            <a:off x="1678225" y="1819575"/>
            <a:ext cx="28182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1" name="Google Shape;531;p33"/>
          <p:cNvSpPr txBox="1">
            <a:spLocks noGrp="1"/>
          </p:cNvSpPr>
          <p:nvPr>
            <p:ph type="body" idx="3"/>
          </p:nvPr>
        </p:nvSpPr>
        <p:spPr>
          <a:xfrm>
            <a:off x="1678225" y="2553025"/>
            <a:ext cx="28182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2" name="Google Shape;532;p33"/>
          <p:cNvSpPr txBox="1">
            <a:spLocks noGrp="1"/>
          </p:cNvSpPr>
          <p:nvPr>
            <p:ph type="body" idx="4"/>
          </p:nvPr>
        </p:nvSpPr>
        <p:spPr>
          <a:xfrm>
            <a:off x="1678125" y="3286475"/>
            <a:ext cx="28182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3" name="Google Shape;533;p33"/>
          <p:cNvSpPr txBox="1">
            <a:spLocks noGrp="1"/>
          </p:cNvSpPr>
          <p:nvPr>
            <p:ph type="body" idx="5"/>
          </p:nvPr>
        </p:nvSpPr>
        <p:spPr>
          <a:xfrm>
            <a:off x="1681525" y="4015175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4" name="Google Shape;534;p33"/>
          <p:cNvSpPr txBox="1">
            <a:spLocks noGrp="1"/>
          </p:cNvSpPr>
          <p:nvPr>
            <p:ph type="body" idx="6"/>
          </p:nvPr>
        </p:nvSpPr>
        <p:spPr>
          <a:xfrm>
            <a:off x="5619625" y="114017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5" name="Google Shape;535;p33"/>
          <p:cNvSpPr txBox="1">
            <a:spLocks noGrp="1"/>
          </p:cNvSpPr>
          <p:nvPr>
            <p:ph type="body" idx="7"/>
          </p:nvPr>
        </p:nvSpPr>
        <p:spPr>
          <a:xfrm>
            <a:off x="5619625" y="187362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6" name="Google Shape;536;p33"/>
          <p:cNvSpPr txBox="1">
            <a:spLocks noGrp="1"/>
          </p:cNvSpPr>
          <p:nvPr>
            <p:ph type="body" idx="8"/>
          </p:nvPr>
        </p:nvSpPr>
        <p:spPr>
          <a:xfrm>
            <a:off x="5619625" y="254407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7" name="Google Shape;537;p33"/>
          <p:cNvSpPr txBox="1">
            <a:spLocks noGrp="1"/>
          </p:cNvSpPr>
          <p:nvPr>
            <p:ph type="body" idx="9"/>
          </p:nvPr>
        </p:nvSpPr>
        <p:spPr>
          <a:xfrm>
            <a:off x="5619625" y="334052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8" name="Google Shape;538;p33"/>
          <p:cNvSpPr txBox="1">
            <a:spLocks noGrp="1"/>
          </p:cNvSpPr>
          <p:nvPr>
            <p:ph type="body" idx="13"/>
          </p:nvPr>
        </p:nvSpPr>
        <p:spPr>
          <a:xfrm>
            <a:off x="5619625" y="403292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9" name="Google Shape;539;p33"/>
          <p:cNvSpPr/>
          <p:nvPr/>
        </p:nvSpPr>
        <p:spPr>
          <a:xfrm rot="5400000">
            <a:off x="883425" y="39970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0" name="Google Shape;540;p33"/>
          <p:cNvSpPr/>
          <p:nvPr/>
        </p:nvSpPr>
        <p:spPr>
          <a:xfrm rot="5400000">
            <a:off x="4788825" y="108853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1" name="Google Shape;541;p33"/>
          <p:cNvSpPr/>
          <p:nvPr/>
        </p:nvSpPr>
        <p:spPr>
          <a:xfrm rot="5400000">
            <a:off x="4788825" y="1811462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2" name="Google Shape;542;p33"/>
          <p:cNvSpPr/>
          <p:nvPr/>
        </p:nvSpPr>
        <p:spPr>
          <a:xfrm rot="5400000">
            <a:off x="883425" y="32721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3" name="Google Shape;543;p33"/>
          <p:cNvSpPr/>
          <p:nvPr/>
        </p:nvSpPr>
        <p:spPr>
          <a:xfrm rot="5400000">
            <a:off x="883425" y="18157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4" name="Google Shape;544;p33"/>
          <p:cNvSpPr/>
          <p:nvPr/>
        </p:nvSpPr>
        <p:spPr>
          <a:xfrm rot="5400000">
            <a:off x="883425" y="25387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5" name="Google Shape;545;p33"/>
          <p:cNvSpPr/>
          <p:nvPr/>
        </p:nvSpPr>
        <p:spPr>
          <a:xfrm rot="5400000">
            <a:off x="883425" y="10928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6" name="Google Shape;546;p33"/>
          <p:cNvSpPr txBox="1"/>
          <p:nvPr/>
        </p:nvSpPr>
        <p:spPr>
          <a:xfrm>
            <a:off x="908769" y="11433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47" name="Google Shape;547;p33"/>
          <p:cNvSpPr txBox="1"/>
          <p:nvPr/>
        </p:nvSpPr>
        <p:spPr>
          <a:xfrm>
            <a:off x="908769" y="18768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48" name="Google Shape;548;p33"/>
          <p:cNvSpPr txBox="1"/>
          <p:nvPr/>
        </p:nvSpPr>
        <p:spPr>
          <a:xfrm>
            <a:off x="908769" y="26103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49" name="Google Shape;549;p33"/>
          <p:cNvSpPr txBox="1"/>
          <p:nvPr/>
        </p:nvSpPr>
        <p:spPr>
          <a:xfrm>
            <a:off x="908769" y="33437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0" name="Google Shape;550;p33"/>
          <p:cNvSpPr txBox="1"/>
          <p:nvPr/>
        </p:nvSpPr>
        <p:spPr>
          <a:xfrm>
            <a:off x="908769" y="404756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1" name="Google Shape;551;p33"/>
          <p:cNvSpPr txBox="1"/>
          <p:nvPr/>
        </p:nvSpPr>
        <p:spPr>
          <a:xfrm>
            <a:off x="4814169" y="114962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2" name="Google Shape;552;p33"/>
          <p:cNvSpPr txBox="1"/>
          <p:nvPr/>
        </p:nvSpPr>
        <p:spPr>
          <a:xfrm>
            <a:off x="4814169" y="188307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3" name="Google Shape;553;p33"/>
          <p:cNvSpPr/>
          <p:nvPr/>
        </p:nvSpPr>
        <p:spPr>
          <a:xfrm rot="5400000">
            <a:off x="4788825" y="253438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54" name="Google Shape;554;p33"/>
          <p:cNvSpPr txBox="1"/>
          <p:nvPr/>
        </p:nvSpPr>
        <p:spPr>
          <a:xfrm>
            <a:off x="4814169" y="26060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08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5" name="Google Shape;555;p33"/>
          <p:cNvSpPr/>
          <p:nvPr/>
        </p:nvSpPr>
        <p:spPr>
          <a:xfrm rot="5400000">
            <a:off x="4788825" y="326138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56" name="Google Shape;556;p33"/>
          <p:cNvSpPr txBox="1"/>
          <p:nvPr/>
        </p:nvSpPr>
        <p:spPr>
          <a:xfrm>
            <a:off x="4814169" y="33330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09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7" name="Google Shape;557;p33"/>
          <p:cNvSpPr/>
          <p:nvPr/>
        </p:nvSpPr>
        <p:spPr>
          <a:xfrm rot="5400000">
            <a:off x="4788825" y="39970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58" name="Google Shape;558;p33"/>
          <p:cNvSpPr txBox="1"/>
          <p:nvPr/>
        </p:nvSpPr>
        <p:spPr>
          <a:xfrm>
            <a:off x="4814169" y="404756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10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9 - Table des matières [all]">
  <p:cSld name="99 - Table des matières [all]"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34"/>
          <p:cNvSpPr txBox="1">
            <a:spLocks noGrp="1"/>
          </p:cNvSpPr>
          <p:nvPr>
            <p:ph type="title"/>
          </p:nvPr>
        </p:nvSpPr>
        <p:spPr>
          <a:xfrm>
            <a:off x="564931" y="360737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61" name="Google Shape;561;p34"/>
          <p:cNvSpPr txBox="1">
            <a:spLocks noGrp="1"/>
          </p:cNvSpPr>
          <p:nvPr>
            <p:ph type="body" idx="1"/>
          </p:nvPr>
        </p:nvSpPr>
        <p:spPr>
          <a:xfrm>
            <a:off x="571500" y="803050"/>
            <a:ext cx="7053000" cy="40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62" name="Google Shape;562;p34"/>
          <p:cNvSpPr txBox="1">
            <a:spLocks noGrp="1"/>
          </p:cNvSpPr>
          <p:nvPr>
            <p:ph type="body" idx="2"/>
          </p:nvPr>
        </p:nvSpPr>
        <p:spPr>
          <a:xfrm>
            <a:off x="7624600" y="803050"/>
            <a:ext cx="1016100" cy="40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 - Titre et sous-titre 2">
  <p:cSld name="03 - Titre et sous-titre_1_2"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35"/>
          <p:cNvSpPr txBox="1">
            <a:spLocks noGrp="1"/>
          </p:cNvSpPr>
          <p:nvPr>
            <p:ph type="subTitle" idx="1"/>
          </p:nvPr>
        </p:nvSpPr>
        <p:spPr>
          <a:xfrm>
            <a:off x="571500" y="779171"/>
            <a:ext cx="8041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65" name="Google Shape;565;p35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6;p1"/>
          <p:cNvGrpSpPr/>
          <p:nvPr/>
        </p:nvGrpSpPr>
        <p:grpSpPr>
          <a:xfrm>
            <a:off x="276301" y="292130"/>
            <a:ext cx="170063" cy="166438"/>
            <a:chOff x="6838242" y="518225"/>
            <a:chExt cx="1247708" cy="1221114"/>
          </a:xfrm>
        </p:grpSpPr>
        <p:sp>
          <p:nvSpPr>
            <p:cNvPr id="7" name="Google Shape;7;p1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8" name="Google Shape;8;p1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" name="Google Shape;9;p1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10" name="Google Shape;10;p1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1" name="Google Shape;11;p1"/>
          <p:cNvCxnSpPr>
            <a:stCxn id="12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1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4" name="Google Shape;14;p1"/>
          <p:cNvCxnSpPr>
            <a:endCxn id="13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" name="Google Shape;15;p1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2" name="Google Shape;12;p1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" name="Google Shape;16;p1"/>
          <p:cNvCxnSpPr>
            <a:stCxn id="15" idx="2"/>
            <a:endCxn id="13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1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6">
          <p15:clr>
            <a:srgbClr val="EA4335"/>
          </p15:clr>
        </p15:guide>
        <p15:guide id="2" pos="2880">
          <p15:clr>
            <a:srgbClr val="EA4335"/>
          </p15:clr>
        </p15:guide>
        <p15:guide id="3" orient="horz" pos="3064">
          <p15:clr>
            <a:srgbClr val="EA4335"/>
          </p15:clr>
        </p15:guide>
        <p15:guide id="4" orient="horz" pos="236">
          <p15:clr>
            <a:srgbClr val="EA4335"/>
          </p15:clr>
        </p15:guide>
        <p15:guide id="5" pos="360">
          <p15:clr>
            <a:srgbClr val="EA4335"/>
          </p15:clr>
        </p15:guide>
        <p15:guide id="6" pos="5403">
          <p15:clr>
            <a:srgbClr val="EA4335"/>
          </p15:clr>
        </p15:guide>
        <p15:guide id="7" orient="horz" pos="515">
          <p15:clr>
            <a:srgbClr val="E46962"/>
          </p15:clr>
        </p15:guide>
        <p15:guide id="8" orient="horz" pos="802">
          <p15:clr>
            <a:srgbClr val="E46962"/>
          </p15:clr>
        </p15:guide>
        <p15:guide id="9" pos="3697">
          <p15:clr>
            <a:srgbClr val="E46962"/>
          </p15:clr>
        </p15:guide>
        <p15:guide id="10" pos="2168">
          <p15:clr>
            <a:srgbClr val="E46962"/>
          </p15:clr>
        </p15:guide>
        <p15:guide id="11" pos="3372">
          <p15:clr>
            <a:srgbClr val="E46962"/>
          </p15:clr>
        </p15:guide>
        <p15:guide id="12" pos="2484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AGENTIC PRODUCT RUN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La TMA augmentée par l'IA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OCTO Technology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 idx="3"/>
          </p:nvPr>
        </p:nvSpPr>
        <p:spPr/>
        <p:txBody>
          <a:bodyPr/>
          <a:lstStyle/>
          <a:p>
            <a:r>
              <a:t>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Ce que nous allons couvrir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Quatre temps : là où le client perd de la valeur, ce qu'OCTO sait y apporter, l'offre, et ce qu'on enclenche.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1863089"/>
            <a:ext cx="1813941" cy="22448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26947" y="2027681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6947" y="202768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Outfi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6947" y="2521457"/>
            <a:ext cx="1484757" cy="5285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E2356"/>
                </a:solidFill>
                <a:latin typeface="Outfit"/>
              </a:rPr>
              <a:t>Contexte et enjeux clients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7" y="3159709"/>
            <a:ext cx="1484757" cy="765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Où le RUN perd la valeur aujourd'hui, et pourquoi c'est réparable maintenant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177" y="1863089"/>
            <a:ext cx="1813941" cy="22448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23769" y="2027681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23769" y="202768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Outfit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3769" y="2521457"/>
            <a:ext cx="1484757" cy="5285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E2356"/>
                </a:solidFill>
                <a:latin typeface="Outfit"/>
              </a:rPr>
              <a:t>Enjeux et opportunités OCTO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23769" y="3159709"/>
            <a:ext cx="1484757" cy="765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Ce que nous savons faire que personne ne fait à notre place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55998" y="1863089"/>
            <a:ext cx="1813941" cy="22448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20590" y="2027681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0590" y="202768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Outfi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0590" y="2521457"/>
            <a:ext cx="1484757" cy="5285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E2356"/>
                </a:solidFill>
                <a:latin typeface="Outfit"/>
              </a:rPr>
              <a:t>L'offre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0590" y="3159709"/>
            <a:ext cx="1484757" cy="765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Ce que nous vendons, où ça se branche, et par quoi on commence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2819" y="1863089"/>
            <a:ext cx="1813941" cy="22448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17411" y="2027681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17411" y="202768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0E2356"/>
                </a:solidFill>
                <a:latin typeface="Outfit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7411" y="2521457"/>
            <a:ext cx="1484757" cy="5285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E2356"/>
                </a:solidFill>
                <a:latin typeface="Outfit"/>
              </a:rPr>
              <a:t>Next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7411" y="3159709"/>
            <a:ext cx="1484757" cy="765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Comment l'offre se vend, et ce que le client y gagne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0E2356"/>
                </a:solidFill>
              </a:rPr>
              <a:t>Contexte et enjeux clients</a:t>
            </a:r>
          </a:p>
          <a:p>
            <a:pPr>
              <a:spcBef>
                <a:spcPts val="800"/>
              </a:spcBef>
            </a:pPr>
            <a:r>
              <a:rPr sz="1050" i="1">
                <a:solidFill>
                  <a:srgbClr val="586586"/>
                </a:solidFill>
              </a:rPr>
              <a:t>Où le RUN perd la valeur aujourd'hui, et pourquoi c'est réparable maintenant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lIns="0" rIns="0" tIns="0" bIns="0" anchor="ctr"/>
          <a:lstStyle/>
          <a:p>
            <a:pPr algn="ctr" marL="0" indent="0">
              <a:buNone/>
            </a:pPr>
            <a:r>
              <a:rPr sz="1700" b="1">
                <a:solidFill>
                  <a:srgbClr val="0E2356"/>
                </a:solidFill>
                <a:latin typeface="Outfit"/>
              </a:rPr>
              <a:t>1</a:t>
            </a:r>
          </a:p>
        </p:txBody>
      </p:sp>
      <p:pic>
        <p:nvPicPr>
          <p:cNvPr id="4" name="Picture 3" descr="1_0_960x9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875" y="1659950"/>
            <a:ext cx="2560500" cy="2560500"/>
          </a:xfrm>
          <a:prstGeom prst="teardrop">
            <a:avLst>
              <a:gd name="adj" fmla="val 100000"/>
            </a:avLst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Pourquoi c'est réparable maintenant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Deux ruptures se croisent : l'IA sait enfin lire un patrimoine, et le build agentique en produit plus vite qu'on ne le maîtrise.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1170432"/>
            <a:ext cx="3787902" cy="2709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5236" y="1335024"/>
            <a:ext cx="1207008" cy="23774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5236" y="1335024"/>
            <a:ext cx="1207008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RUPTURE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" y="1682496"/>
            <a:ext cx="3422142" cy="5285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1">
                <a:solidFill>
                  <a:srgbClr val="0E2356"/>
                </a:solidFill>
                <a:latin typeface="Outfit"/>
              </a:rPr>
              <a:t>L'IA sait lire un patrimoine entier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8" y="2403043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9827" y="2339035"/>
            <a:ext cx="3257550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Code, logs, tickets, traces et documents : une seule matière analysable.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8" y="2886303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7" y="2822295"/>
            <a:ext cx="3257550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Une cartographie qui demandait six semaines se produit en quelques jours.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8" y="3369564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9827" y="3305556"/>
            <a:ext cx="3257550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Chaque conclusion cite ses preuves : commits, appels d'API, tests.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8858" y="1170432"/>
            <a:ext cx="3787902" cy="2709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61738" y="1335024"/>
            <a:ext cx="1207008" cy="237744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1738" y="1335024"/>
            <a:ext cx="1207008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RUPTURE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1738" y="1682496"/>
            <a:ext cx="3422142" cy="5285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1">
                <a:solidFill>
                  <a:srgbClr val="0E2356"/>
                </a:solidFill>
                <a:latin typeface="Outfit"/>
              </a:rPr>
              <a:t>Le build agentique livre plus vite qu'il ne documente</a:t>
            </a:r>
            <a:r>
              <a:rPr sz="1400" b="1">
                <a:solidFill>
                  <a:srgbClr val="0E2356"/>
                </a:solidFill>
                <a:latin typeface="Outfit"/>
              </a:rPr>
              <a:t> (</a:t>
            </a:r>
            <a:r>
              <a:rPr sz="1400" b="1" i="1">
                <a:solidFill>
                  <a:srgbClr val="0E2356"/>
                </a:solidFill>
                <a:latin typeface="Outfit"/>
              </a:rPr>
              <a:t>hypothèse ?</a:t>
            </a:r>
            <a:r>
              <a:rPr sz="1400" b="1">
                <a:solidFill>
                  <a:srgbClr val="0E2356"/>
                </a:solidFill>
                <a:latin typeface="Outfit"/>
              </a:rPr>
              <a:t>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89170" y="2403043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26330" y="2339035"/>
            <a:ext cx="3257550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Des produits fonctionnent sans que personne sache pourquoi.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89170" y="2886303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26330" y="2822295"/>
            <a:ext cx="3257550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Nouveaux objets à exploiter : agents, prompts, modèles, outils.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89170" y="3369564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26330" y="3305556"/>
            <a:ext cx="3257550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Le non-déterminisme rend inopérants les réflexes de RUN classiques.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356" y="4188409"/>
            <a:ext cx="7804404" cy="612190"/>
          </a:xfrm>
          <a:prstGeom prst="roundRect">
            <a:avLst>
              <a:gd name="adj" fmla="val 1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" y="4206697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00D2DD"/>
                </a:solidFill>
                <a:latin typeface="Outfit"/>
              </a:rPr>
              <a:t>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84" y="4188409"/>
            <a:ext cx="6670548" cy="61219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Outfit"/>
              </a:rPr>
              <a:t>Vous allez accumuler ces produits en 2026. Personne ne vous vend encore la mise sous contrôle qui va avec.</a:t>
            </a:r>
            <a:r>
              <a:rPr sz="1350" b="1">
                <a:solidFill>
                  <a:srgbClr val="00D2DD"/>
                </a:solidFill>
                <a:latin typeface="Outfit"/>
              </a:rPr>
              <a:t>  •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Où vous perdez de la valeur aujourd'hui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Vous payez deux fois : une fois pour construire, une fois pour ne plus comprendre.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1188262"/>
            <a:ext cx="3787902" cy="1112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26947" y="131627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6947" y="131627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7" y="1297990"/>
            <a:ext cx="3092958" cy="460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356"/>
                </a:solidFill>
                <a:latin typeface="Outfit"/>
              </a:rPr>
              <a:t>Le produit tourne, plus personne ne l'explique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7" y="1832000"/>
            <a:ext cx="3458718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L'équipe de build est partie et les décisions d'architecture ne sont écrites nulle part.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8858" y="1188262"/>
            <a:ext cx="3787902" cy="1112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743450" y="131627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3450" y="131627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9210" y="1297990"/>
            <a:ext cx="3092958" cy="460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356"/>
                </a:solidFill>
                <a:latin typeface="Outfit"/>
              </a:rPr>
              <a:t>Chaque bug est traité comme un objet isolé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3450" y="1832000"/>
            <a:ext cx="3458718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Dix-sept tickets pour un seul défaut. Le même incident revient six mois plus tard.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2356" y="2429103"/>
            <a:ext cx="3787902" cy="1112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26947" y="255711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7" y="255711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2707" y="2538831"/>
            <a:ext cx="3092958" cy="460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356"/>
                </a:solidFill>
                <a:latin typeface="Outfit"/>
              </a:rPr>
              <a:t>La dette se discute, elle ne se mesure pas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7" y="3072841"/>
            <a:ext cx="3458718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Elle est arbitrée à l'opinion la plus forte, jamais au coût réel des incidents.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8858" y="2429103"/>
            <a:ext cx="3787902" cy="1112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43450" y="255711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43450" y="255711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9210" y="2538831"/>
            <a:ext cx="3092958" cy="460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356"/>
                </a:solidFill>
                <a:latin typeface="Outfit"/>
              </a:rPr>
              <a:t>Les retours utilisateurs n'atteignent pas le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43450" y="3072841"/>
            <a:ext cx="3458718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Verbatims, tickets, analytics et dépôts vivent dans quatre outils que personne ne rapproche.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356" y="3669944"/>
            <a:ext cx="3787902" cy="1112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7" y="379796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7" y="3797960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2707" y="3779672"/>
            <a:ext cx="3092958" cy="460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356"/>
                </a:solidFill>
                <a:latin typeface="Outfit"/>
              </a:rPr>
              <a:t>Le design system dérive sans que personne le voie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7" y="4313682"/>
            <a:ext cx="3458718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Composants dupliqués hors bibliothèque, écarts de charte non détectés, adoption réelle jamais mesurée.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8858" y="3669944"/>
            <a:ext cx="3787902" cy="1112824"/>
          </a:xfrm>
          <a:prstGeom prst="roundRect">
            <a:avLst>
              <a:gd name="adj" fmla="val 1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6874" y="368823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00D2DD"/>
                </a:solidFill>
                <a:latin typeface="Outfit"/>
              </a:rPr>
              <a:t>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1738" y="3669944"/>
            <a:ext cx="3422142" cy="1112824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Outfit"/>
              </a:rPr>
              <a:t>Le RUN n'est pas un centre de coût à comprimer : c'est le seul endroit où l'on sait vraiment ce que le produit vaut.</a:t>
            </a:r>
            <a:r>
              <a:rPr sz="1250" b="1">
                <a:solidFill>
                  <a:srgbClr val="00D2DD"/>
                </a:solidFill>
                <a:latin typeface="Outfit"/>
              </a:rPr>
              <a:t>  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0E2356"/>
                </a:solidFill>
              </a:rPr>
              <a:t>Enjeux et opportunités OCTO</a:t>
            </a:r>
          </a:p>
          <a:p>
            <a:pPr>
              <a:spcBef>
                <a:spcPts val="800"/>
              </a:spcBef>
            </a:pPr>
            <a:r>
              <a:rPr sz="1050" i="1">
                <a:solidFill>
                  <a:srgbClr val="586586"/>
                </a:solidFill>
              </a:rPr>
              <a:t>Ce que nous savons faire que personne ne fait à notre place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lIns="0" rIns="0" tIns="0" bIns="0" anchor="ctr"/>
          <a:lstStyle/>
          <a:p>
            <a:pPr algn="ctr" marL="0" indent="0">
              <a:buNone/>
            </a:pPr>
            <a:r>
              <a:rPr sz="1700" b="1">
                <a:solidFill>
                  <a:srgbClr val="0E2356"/>
                </a:solidFill>
                <a:latin typeface="Outfit"/>
              </a:rPr>
              <a:t>2</a:t>
            </a:r>
          </a:p>
        </p:txBody>
      </p:sp>
      <p:pic>
        <p:nvPicPr>
          <p:cNvPr id="4" name="Picture 3" descr="2_0_960x9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875" y="1659950"/>
            <a:ext cx="2560500" cy="2560500"/>
          </a:xfrm>
          <a:prstGeom prst="teardrop">
            <a:avLst>
              <a:gd name="adj" fmla="val 100000"/>
            </a:avLst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Ce qui nous distingue : la preuve, pas la fluidité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Une documentation élégante et fausse coûte plus cher que pas de documentation du tout.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1170432"/>
            <a:ext cx="3520440" cy="257312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5236" y="1335024"/>
            <a:ext cx="2395728" cy="23774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5236" y="1335024"/>
            <a:ext cx="2395728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SANS CETTE EXIGENCE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" y="1719072"/>
            <a:ext cx="16459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586586"/>
                </a:solidFill>
                <a:latin typeface="Outfit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8116" y="1719072"/>
            <a:ext cx="2971800" cy="4101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50" b="1">
                <a:solidFill>
                  <a:srgbClr val="0E2356"/>
                </a:solidFill>
                <a:latin typeface="Outfit"/>
              </a:rPr>
              <a:t>Une réponse plausible </a:t>
            </a:r>
            <a:r>
              <a:rPr sz="1050">
                <a:solidFill>
                  <a:srgbClr val="3E4F78"/>
                </a:solidFill>
                <a:latin typeface="Outfit"/>
              </a:rPr>
              <a:t>que personne ne peut vérifier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" y="2202332"/>
            <a:ext cx="16459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586586"/>
                </a:solidFill>
                <a:latin typeface="Outfit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8116" y="2202332"/>
            <a:ext cx="2971800" cy="4101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50" b="1">
                <a:solidFill>
                  <a:srgbClr val="0E2356"/>
                </a:solidFill>
                <a:latin typeface="Outfit"/>
              </a:rPr>
              <a:t>Une documentation lisse </a:t>
            </a:r>
            <a:r>
              <a:rPr sz="1050">
                <a:solidFill>
                  <a:srgbClr val="3E4F78"/>
                </a:solidFill>
                <a:latin typeface="Outfit"/>
              </a:rPr>
              <a:t>dont on ignore la date et la 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" y="2685592"/>
            <a:ext cx="16459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586586"/>
                </a:solidFill>
                <a:latin typeface="Outfit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" y="2685592"/>
            <a:ext cx="2971800" cy="4101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50" b="1">
                <a:solidFill>
                  <a:srgbClr val="0E2356"/>
                </a:solidFill>
                <a:latin typeface="Outfit"/>
              </a:rPr>
              <a:t>Une contradiction </a:t>
            </a:r>
            <a:r>
              <a:rPr sz="1050">
                <a:solidFill>
                  <a:srgbClr val="3E4F78"/>
                </a:solidFill>
                <a:latin typeface="Outfit"/>
              </a:rPr>
              <a:t>silencieusement arbitrée par le modèle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" y="3168853"/>
            <a:ext cx="16459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586586"/>
                </a:solidFill>
                <a:latin typeface="Outfit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" y="3168853"/>
            <a:ext cx="2971800" cy="4101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50" b="1">
                <a:solidFill>
                  <a:srgbClr val="0E2356"/>
                </a:solidFill>
                <a:latin typeface="Outfit"/>
              </a:rPr>
              <a:t>Une recommandation </a:t>
            </a:r>
            <a:r>
              <a:rPr sz="1050">
                <a:solidFill>
                  <a:srgbClr val="3E4F78"/>
                </a:solidFill>
                <a:latin typeface="Outfit"/>
              </a:rPr>
              <a:t>sans responsable ni niveau de confiance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170432"/>
            <a:ext cx="3520440" cy="257312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0" y="1335024"/>
            <a:ext cx="2395728" cy="237744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1335024"/>
            <a:ext cx="2395728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AVEC L'EXIGENCE DE PREUVE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719072"/>
            <a:ext cx="16459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00D2DD"/>
                </a:solidFill>
                <a:latin typeface="Outfi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1719072"/>
            <a:ext cx="2971800" cy="4101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50" b="1">
                <a:solidFill>
                  <a:srgbClr val="0E2356"/>
                </a:solidFill>
                <a:latin typeface="Outfit"/>
              </a:rPr>
              <a:t>Chaque conclusion cite ses sources </a:t>
            </a:r>
            <a:r>
              <a:rPr sz="1050">
                <a:solidFill>
                  <a:srgbClr val="3E4F78"/>
                </a:solidFill>
                <a:latin typeface="Outfit"/>
              </a:rPr>
              <a:t>commits, appels d'API, 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202332"/>
            <a:ext cx="16459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00D2DD"/>
                </a:solidFill>
                <a:latin typeface="Outfit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2202332"/>
            <a:ext cx="2971800" cy="4101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50" b="1">
                <a:solidFill>
                  <a:srgbClr val="0E2356"/>
                </a:solidFill>
                <a:latin typeface="Outfit"/>
              </a:rPr>
              <a:t>Tout élément porte sa date </a:t>
            </a:r>
            <a:r>
              <a:rPr sz="1050">
                <a:solidFill>
                  <a:srgbClr val="3E4F78"/>
                </a:solidFill>
                <a:latin typeface="Outfit"/>
              </a:rPr>
              <a:t>de dernière vérification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2685592"/>
            <a:ext cx="16459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00D2DD"/>
                </a:solidFill>
                <a:latin typeface="Outfi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685592"/>
            <a:ext cx="2971800" cy="4101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50" b="1">
                <a:solidFill>
                  <a:srgbClr val="0E2356"/>
                </a:solidFill>
                <a:latin typeface="Outfit"/>
              </a:rPr>
              <a:t>Les contradictions sont remontées </a:t>
            </a:r>
            <a:r>
              <a:rPr sz="1050">
                <a:solidFill>
                  <a:srgbClr val="3E4F78"/>
                </a:solidFill>
                <a:latin typeface="Outfit"/>
              </a:rPr>
              <a:t>jamais tranchées sans un humain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168853"/>
            <a:ext cx="16459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00D2DD"/>
                </a:solidFill>
                <a:latin typeface="Outfit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3168853"/>
            <a:ext cx="2971800" cy="4101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50" b="1">
                <a:solidFill>
                  <a:srgbClr val="0E2356"/>
                </a:solidFill>
                <a:latin typeface="Outfit"/>
              </a:rPr>
              <a:t>Chaque recommandation nomme </a:t>
            </a:r>
            <a:r>
              <a:rPr sz="1050">
                <a:solidFill>
                  <a:srgbClr val="3E4F78"/>
                </a:solidFill>
                <a:latin typeface="Outfit"/>
              </a:rPr>
              <a:t>sa confiance et son valideur</a:t>
            </a:r>
          </a:p>
        </p:txBody>
      </p:sp>
      <p:sp>
        <p:nvSpPr>
          <p:cNvPr id="26" name="Chevron 25"/>
          <p:cNvSpPr/>
          <p:nvPr/>
        </p:nvSpPr>
        <p:spPr>
          <a:xfrm>
            <a:off x="4190238" y="2182672"/>
            <a:ext cx="548640" cy="548640"/>
          </a:xfrm>
          <a:prstGeom prst="chevron">
            <a:avLst/>
          </a:prstGeom>
          <a:solidFill>
            <a:srgbClr val="FFFFFF"/>
          </a:solidFill>
          <a:ln w="3175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62356" y="3985412"/>
            <a:ext cx="7804404" cy="815187"/>
          </a:xfrm>
          <a:prstGeom prst="roundRect">
            <a:avLst>
              <a:gd name="adj" fmla="val 1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8660" y="400370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00D2DD"/>
                </a:solidFill>
                <a:latin typeface="Outfit"/>
              </a:rPr>
              <a:t>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" y="3985412"/>
            <a:ext cx="6670548" cy="815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utfit"/>
              </a:rPr>
              <a:t>Le service Billing semble responsable du calcul des remises — confiance 82 %, sur six appels d'API et trois tests ; une page Confluence plus ancienne dit le contraire.</a:t>
            </a:r>
            <a:r>
              <a:rPr sz="1300" b="1">
                <a:solidFill>
                  <a:srgbClr val="00D2DD"/>
                </a:solidFill>
                <a:latin typeface="Outfit"/>
              </a:rPr>
              <a:t>  •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Nous ne réparons pas que l'exploitation : nous alimentons le produit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Un incident bien instruit est une donnée produit ; aujourd'hui elle se perd entre le support et la roadmap.</a:t>
            </a:r>
          </a:p>
        </p:txBody>
      </p:sp>
      <p:sp>
        <p:nvSpPr>
          <p:cNvPr id="4" name="Oval 3"/>
          <p:cNvSpPr/>
          <p:nvPr/>
        </p:nvSpPr>
        <p:spPr>
          <a:xfrm>
            <a:off x="1721358" y="1207008"/>
            <a:ext cx="1572768" cy="1572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5865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67662" y="1682496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800" b="1" i="0">
                <a:solidFill>
                  <a:srgbClr val="586586"/>
                </a:solidFill>
                <a:latin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12798" y="2011680"/>
            <a:ext cx="13898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0E2356"/>
                </a:solidFill>
                <a:latin typeface="Outfit"/>
              </a:rPr>
              <a:t>Écouter</a:t>
            </a:r>
          </a:p>
        </p:txBody>
      </p:sp>
      <p:sp>
        <p:nvSpPr>
          <p:cNvPr id="7" name="Chevron 6"/>
          <p:cNvSpPr/>
          <p:nvPr/>
        </p:nvSpPr>
        <p:spPr>
          <a:xfrm>
            <a:off x="3367278" y="1883664"/>
            <a:ext cx="237744" cy="219456"/>
          </a:xfrm>
          <a:prstGeom prst="chevron">
            <a:avLst/>
          </a:prstGeom>
          <a:solidFill>
            <a:srgbClr val="00D2DD"/>
          </a:solidFill>
          <a:ln w="9525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78174" y="1207008"/>
            <a:ext cx="1572768" cy="1572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5865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24478" y="1682496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800" b="1" i="0">
                <a:solidFill>
                  <a:srgbClr val="586586"/>
                </a:solidFill>
                <a:latin typeface="Outfi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9613" y="2011680"/>
            <a:ext cx="13898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0E2356"/>
                </a:solidFill>
                <a:latin typeface="Outfit"/>
              </a:rPr>
              <a:t>Arbitrer</a:t>
            </a:r>
          </a:p>
        </p:txBody>
      </p:sp>
      <p:sp>
        <p:nvSpPr>
          <p:cNvPr id="11" name="Chevron 10"/>
          <p:cNvSpPr/>
          <p:nvPr/>
        </p:nvSpPr>
        <p:spPr>
          <a:xfrm>
            <a:off x="5324094" y="1883664"/>
            <a:ext cx="237744" cy="219456"/>
          </a:xfrm>
          <a:prstGeom prst="chevron">
            <a:avLst/>
          </a:prstGeom>
          <a:solidFill>
            <a:srgbClr val="00D2DD"/>
          </a:solidFill>
          <a:ln w="9525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34990" y="1207008"/>
            <a:ext cx="1572768" cy="15727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81294" y="1682496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800" b="1" i="0">
                <a:solidFill>
                  <a:srgbClr val="00D2DD"/>
                </a:solidFill>
                <a:latin typeface="Outfi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26430" y="2011680"/>
            <a:ext cx="13898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0E2356"/>
                </a:solidFill>
                <a:latin typeface="Outfit"/>
              </a:rPr>
              <a:t>Refermer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2486" y="2944368"/>
            <a:ext cx="1810512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Verbatims, tickets et usage regroupés par problème réel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9302" y="2944368"/>
            <a:ext cx="1810512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Fréquence et impact mesurés, dette priorisée par son coût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6118" y="2944368"/>
            <a:ext cx="1810512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L'utilisateur recontacté, l'effet sur l'usage mesuré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721358" y="3486607"/>
            <a:ext cx="5486400" cy="408279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evron 18"/>
          <p:cNvSpPr/>
          <p:nvPr/>
        </p:nvSpPr>
        <p:spPr>
          <a:xfrm rot="10800000">
            <a:off x="1867662" y="3581019"/>
            <a:ext cx="237744" cy="219456"/>
          </a:xfrm>
          <a:prstGeom prst="chevron">
            <a:avLst/>
          </a:prstGeom>
          <a:solidFill>
            <a:srgbClr val="00D2DD"/>
          </a:solidFill>
          <a:ln w="9525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6846" y="3587191"/>
            <a:ext cx="4535424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Ce qui a marché devient une règle réutilisable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2356" y="4188409"/>
            <a:ext cx="7804404" cy="612190"/>
          </a:xfrm>
          <a:prstGeom prst="roundRect">
            <a:avLst>
              <a:gd name="adj" fmla="val 1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" y="4206697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00D2DD"/>
                </a:solidFill>
                <a:latin typeface="Outfit"/>
              </a:rPr>
              <a:t>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" y="4188409"/>
            <a:ext cx="6670548" cy="61219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Outfit"/>
              </a:rPr>
              <a:t>C'est ce qui transforme un contrat de maintenance en levier de croissance produit — et ce qui rend l'offre défendable face à un directeur produit.</a:t>
            </a:r>
            <a:r>
              <a:rPr sz="1350" b="1">
                <a:solidFill>
                  <a:srgbClr val="00D2DD"/>
                </a:solidFill>
                <a:latin typeface="Outfit"/>
              </a:rPr>
              <a:t>  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Le terrain où nous sommes seuls : les produits agentiques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Ce que nos clients construisent en 2026 avec des agents, ils devront l'exploiter en 2027.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08276" y="1248384"/>
            <a:ext cx="6158484" cy="813816"/>
          </a:xfrm>
          <a:prstGeom prst="roundRect">
            <a:avLst>
              <a:gd name="adj" fmla="val 6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2356" y="1551736"/>
            <a:ext cx="1517904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586586"/>
                </a:solidFill>
                <a:latin typeface="Outfit"/>
              </a:rPr>
              <a:t>CE QU'IL FAUT EXPLOITER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2868" y="1376400"/>
            <a:ext cx="658368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72868" y="1376400"/>
            <a:ext cx="658368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3E4F78"/>
                </a:solidFill>
                <a:latin typeface="Outfit"/>
              </a:rPr>
              <a:t>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13532" y="1376400"/>
            <a:ext cx="722376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13532" y="1376400"/>
            <a:ext cx="722376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3E4F78"/>
                </a:solidFill>
                <a:latin typeface="Outfit"/>
              </a:rPr>
              <a:t>Prompts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8204" y="1376400"/>
            <a:ext cx="722376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18204" y="1376400"/>
            <a:ext cx="722376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3E4F78"/>
                </a:solidFill>
                <a:latin typeface="Outfit"/>
              </a:rPr>
              <a:t>Modèles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22876" y="1376400"/>
            <a:ext cx="658368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2876" y="1376400"/>
            <a:ext cx="658368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3E4F78"/>
                </a:solidFill>
                <a:latin typeface="Outfit"/>
              </a:rPr>
              <a:t>Outils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63540" y="1376400"/>
            <a:ext cx="78638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63540" y="1376400"/>
            <a:ext cx="786384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3E4F78"/>
                </a:solidFill>
                <a:latin typeface="Outfit"/>
              </a:rPr>
              <a:t>Mémoires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32220" y="1376400"/>
            <a:ext cx="658368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2220" y="1376400"/>
            <a:ext cx="658368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3E4F78"/>
                </a:solidFill>
                <a:latin typeface="Outfit"/>
              </a:rPr>
              <a:t>Traces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2868" y="1687296"/>
            <a:ext cx="1362456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2868" y="1687296"/>
            <a:ext cx="1362456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3E4F78"/>
                </a:solidFill>
                <a:latin typeface="Outfit"/>
              </a:rPr>
              <a:t>Jeux d'évaluation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7620" y="1687296"/>
            <a:ext cx="978408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17620" y="1687296"/>
            <a:ext cx="978408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3E4F78"/>
                </a:solidFill>
                <a:latin typeface="Outfit"/>
              </a:rPr>
              <a:t>Permissions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08276" y="2181072"/>
            <a:ext cx="6158484" cy="813816"/>
          </a:xfrm>
          <a:prstGeom prst="roundRect">
            <a:avLst>
              <a:gd name="adj" fmla="val 6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2356" y="2484424"/>
            <a:ext cx="1517904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586586"/>
                </a:solidFill>
                <a:latin typeface="Outfit"/>
              </a:rPr>
              <a:t>CE QUI DÉRAILLE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72868" y="2309088"/>
            <a:ext cx="1298448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2868" y="2309088"/>
            <a:ext cx="1298448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3E4F78"/>
                </a:solidFill>
                <a:latin typeface="Outfit"/>
              </a:rPr>
              <a:t>Dérive de modèle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3612" y="2309088"/>
            <a:ext cx="1554480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53612" y="2309088"/>
            <a:ext cx="1554480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3E4F78"/>
                </a:solidFill>
                <a:latin typeface="Outfit"/>
              </a:rPr>
              <a:t>Régression de prompt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90388" y="2309088"/>
            <a:ext cx="722376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0388" y="2309088"/>
            <a:ext cx="722376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3E4F78"/>
                </a:solidFill>
                <a:latin typeface="Outfit"/>
              </a:rPr>
              <a:t>Boucles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5060" y="2309088"/>
            <a:ext cx="1234440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5060" y="2309088"/>
            <a:ext cx="1234440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3E4F78"/>
                </a:solidFill>
                <a:latin typeface="Outfit"/>
              </a:rPr>
              <a:t>Erreurs d'outil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72868" y="2619984"/>
            <a:ext cx="1554480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2868" y="2619984"/>
            <a:ext cx="1554480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3E4F78"/>
                </a:solidFill>
                <a:latin typeface="Outfit"/>
              </a:rPr>
              <a:t>Dépassements de coût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09644" y="2619984"/>
            <a:ext cx="2130552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09644" y="2619984"/>
            <a:ext cx="2130552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3E4F78"/>
                </a:solidFill>
                <a:latin typeface="Outfit"/>
              </a:rPr>
              <a:t>Exécutions non reproductibles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208276" y="3113760"/>
            <a:ext cx="6158484" cy="813816"/>
          </a:xfrm>
          <a:prstGeom prst="roundRect">
            <a:avLst>
              <a:gd name="adj" fmla="val 6000"/>
            </a:avLst>
          </a:prstGeom>
          <a:solidFill>
            <a:srgbClr val="DB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2356" y="3417112"/>
            <a:ext cx="1517904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</a:pPr>
            <a:r>
              <a:rPr sz="900" b="1" i="0">
                <a:solidFill>
                  <a:srgbClr val="00D2DD"/>
                </a:solidFill>
                <a:latin typeface="Outfit"/>
              </a:rPr>
              <a:t>CE QUE NOUS INSTRUMENTONS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372868" y="3241776"/>
            <a:ext cx="142646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72868" y="3241776"/>
            <a:ext cx="1426464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Réussite par tâche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81628" y="3241776"/>
            <a:ext cx="1554480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81628" y="3241776"/>
            <a:ext cx="1554480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Intervention humaine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18404" y="3241776"/>
            <a:ext cx="1362456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18404" y="3241776"/>
            <a:ext cx="1362456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Coût par résultat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372868" y="3552672"/>
            <a:ext cx="1362456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72868" y="3552672"/>
            <a:ext cx="1362456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Latence par étape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817620" y="3552672"/>
            <a:ext cx="20665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17620" y="3552672"/>
            <a:ext cx="2066544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Régressions après changement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66460" y="3552672"/>
            <a:ext cx="1490472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66460" y="3552672"/>
            <a:ext cx="1490472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Autonomie explicite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62356" y="4188409"/>
            <a:ext cx="7804404" cy="612190"/>
          </a:xfrm>
          <a:prstGeom prst="roundRect">
            <a:avLst>
              <a:gd name="adj" fmla="val 1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8660" y="4206697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00D2DD"/>
                </a:solidFill>
                <a:latin typeface="Outfit"/>
              </a:rPr>
              <a:t>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9284" y="4188409"/>
            <a:ext cx="6670548" cy="61219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Outfit"/>
              </a:rPr>
              <a:t>Un seul modèle pour le microservice classique et pour l'agent : c'est ce qui nous évite de vendre deux offres qui ne se parlent pas.</a:t>
            </a:r>
            <a:r>
              <a:rPr sz="1350" b="1">
                <a:solidFill>
                  <a:srgbClr val="00D2DD"/>
                </a:solidFill>
                <a:latin typeface="Outfit"/>
              </a:rPr>
              <a:t>  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0E2356"/>
                </a:solidFill>
              </a:rPr>
              <a:t>L'offre</a:t>
            </a:r>
          </a:p>
          <a:p>
            <a:pPr>
              <a:spcBef>
                <a:spcPts val="800"/>
              </a:spcBef>
            </a:pPr>
            <a:r>
              <a:rPr sz="1050" i="1">
                <a:solidFill>
                  <a:srgbClr val="586586"/>
                </a:solidFill>
              </a:rPr>
              <a:t>Ce que nous vendons, où ça se branche, et par quoi on commence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lIns="0" rIns="0" tIns="0" bIns="0" anchor="ctr"/>
          <a:lstStyle/>
          <a:p>
            <a:pPr algn="ctr" marL="0" indent="0">
              <a:buNone/>
            </a:pPr>
            <a:r>
              <a:rPr sz="1700" b="1">
                <a:solidFill>
                  <a:srgbClr val="0E2356"/>
                </a:solidFill>
                <a:latin typeface="Outfit"/>
              </a:rPr>
              <a:t>3</a:t>
            </a:r>
          </a:p>
        </p:txBody>
      </p:sp>
      <p:pic>
        <p:nvPicPr>
          <p:cNvPr id="4" name="Picture 3" descr="3_0_960x9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875" y="1659950"/>
            <a:ext cx="2560500" cy="2560500"/>
          </a:xfrm>
          <a:prstGeom prst="teardrop">
            <a:avLst>
              <a:gd name="adj" fmla="val 100000"/>
            </a:avLst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La promesse : des signaux dispersés, des actions traçables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Une seule chaîne, du signal émis par le système à l'adoption mesurée chez l'utilisateur.</a:t>
            </a:r>
          </a:p>
        </p:txBody>
      </p:sp>
      <p:sp>
        <p:nvSpPr>
          <p:cNvPr id="4" name="Chevron 3"/>
          <p:cNvSpPr/>
          <p:nvPr/>
        </p:nvSpPr>
        <p:spPr>
          <a:xfrm>
            <a:off x="562356" y="1170432"/>
            <a:ext cx="1075726" cy="457200"/>
          </a:xfrm>
          <a:prstGeom prst="chevron">
            <a:avLst>
              <a:gd name="adj" fmla="val 20000"/>
            </a:avLst>
          </a:prstGeom>
          <a:solidFill>
            <a:srgbClr val="0E2356"/>
          </a:solidFill>
          <a:ln w="1524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Outfit"/>
              </a:rPr>
              <a:t>Signal</a:t>
            </a:r>
          </a:p>
        </p:txBody>
      </p:sp>
      <p:sp>
        <p:nvSpPr>
          <p:cNvPr id="5" name="Chevron 4"/>
          <p:cNvSpPr/>
          <p:nvPr/>
        </p:nvSpPr>
        <p:spPr>
          <a:xfrm>
            <a:off x="1683802" y="1170432"/>
            <a:ext cx="1075726" cy="457200"/>
          </a:xfrm>
          <a:prstGeom prst="chevron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900" b="1">
                <a:solidFill>
                  <a:srgbClr val="0E2356"/>
                </a:solidFill>
                <a:latin typeface="Outfit"/>
              </a:rPr>
              <a:t>Compréhension</a:t>
            </a:r>
          </a:p>
        </p:txBody>
      </p:sp>
      <p:sp>
        <p:nvSpPr>
          <p:cNvPr id="6" name="Chevron 5"/>
          <p:cNvSpPr/>
          <p:nvPr/>
        </p:nvSpPr>
        <p:spPr>
          <a:xfrm>
            <a:off x="2805248" y="1170432"/>
            <a:ext cx="1075726" cy="457200"/>
          </a:xfrm>
          <a:prstGeom prst="chevron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900" b="1">
                <a:solidFill>
                  <a:srgbClr val="0E2356"/>
                </a:solidFill>
                <a:latin typeface="Outfit"/>
              </a:rPr>
              <a:t>Décision</a:t>
            </a:r>
          </a:p>
        </p:txBody>
      </p:sp>
      <p:sp>
        <p:nvSpPr>
          <p:cNvPr id="7" name="Chevron 6"/>
          <p:cNvSpPr/>
          <p:nvPr/>
        </p:nvSpPr>
        <p:spPr>
          <a:xfrm>
            <a:off x="3926694" y="1170432"/>
            <a:ext cx="1075726" cy="457200"/>
          </a:xfrm>
          <a:prstGeom prst="chevron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900" b="1">
                <a:solidFill>
                  <a:srgbClr val="0E2356"/>
                </a:solidFill>
                <a:latin typeface="Outfit"/>
              </a:rPr>
              <a:t>Action</a:t>
            </a:r>
          </a:p>
        </p:txBody>
      </p:sp>
      <p:sp>
        <p:nvSpPr>
          <p:cNvPr id="8" name="Chevron 7"/>
          <p:cNvSpPr/>
          <p:nvPr/>
        </p:nvSpPr>
        <p:spPr>
          <a:xfrm>
            <a:off x="5048141" y="1170432"/>
            <a:ext cx="1075726" cy="457200"/>
          </a:xfrm>
          <a:prstGeom prst="chevron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900" b="1">
                <a:solidFill>
                  <a:srgbClr val="0E2356"/>
                </a:solidFill>
                <a:latin typeface="Outfit"/>
              </a:rPr>
              <a:t>Validation</a:t>
            </a:r>
          </a:p>
        </p:txBody>
      </p:sp>
      <p:sp>
        <p:nvSpPr>
          <p:cNvPr id="9" name="Chevron 8"/>
          <p:cNvSpPr/>
          <p:nvPr/>
        </p:nvSpPr>
        <p:spPr>
          <a:xfrm>
            <a:off x="6169587" y="1170432"/>
            <a:ext cx="1075726" cy="457200"/>
          </a:xfrm>
          <a:prstGeom prst="chevron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900" b="1">
                <a:solidFill>
                  <a:srgbClr val="0E2356"/>
                </a:solidFill>
                <a:latin typeface="Outfit"/>
              </a:rPr>
              <a:t>Apprentissage</a:t>
            </a:r>
          </a:p>
        </p:txBody>
      </p:sp>
      <p:sp>
        <p:nvSpPr>
          <p:cNvPr id="10" name="Chevron 9"/>
          <p:cNvSpPr/>
          <p:nvPr/>
        </p:nvSpPr>
        <p:spPr>
          <a:xfrm>
            <a:off x="7291033" y="1170432"/>
            <a:ext cx="1075726" cy="457200"/>
          </a:xfrm>
          <a:prstGeom prst="chevron">
            <a:avLst>
              <a:gd name="adj" fmla="val 20000"/>
            </a:avLst>
          </a:prstGeom>
          <a:solidFill>
            <a:srgbClr val="0E2356"/>
          </a:solidFill>
          <a:ln w="1524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Outfit"/>
              </a:rPr>
              <a:t>Adoption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" y="1810512"/>
            <a:ext cx="3787902" cy="2209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" y="1975104"/>
            <a:ext cx="3422142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  <a:latin typeface="Outfit"/>
              </a:rPr>
              <a:t>CE QUI ENTRE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" y="2304288"/>
            <a:ext cx="457200" cy="41148"/>
          </a:xfrm>
          <a:prstGeom prst="rect">
            <a:avLst/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2668" y="2537460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7" y="2473452"/>
            <a:ext cx="3257550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Tickets de support et incidents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2668" y="2824810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7" y="2760802"/>
            <a:ext cx="3257550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Logs, alertes, traces d'agents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2668" y="3112160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7" y="3048152"/>
            <a:ext cx="3257550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Retours utilisateurs et analytics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2668" y="3399510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7" y="3335502"/>
            <a:ext cx="3257550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Dépôts, pipelines et dépendances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2668" y="3686860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7" y="3622852"/>
            <a:ext cx="3257550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Documentation existante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8858" y="1810512"/>
            <a:ext cx="3787902" cy="2209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61738" y="1975104"/>
            <a:ext cx="3422142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0D2DD"/>
                </a:solidFill>
                <a:latin typeface="Outfit"/>
              </a:rPr>
              <a:t>CE QUI EN SORT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61738" y="2304288"/>
            <a:ext cx="457200" cy="41148"/>
          </a:xfrm>
          <a:prstGeom prst="rect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89170" y="2537460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26330" y="2473452"/>
            <a:ext cx="3257550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Un dossier de bug enrichi, dédoublonné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89170" y="2824810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26330" y="2760802"/>
            <a:ext cx="3257550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Une cause racine proposée et prouvée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89170" y="3112160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26330" y="3048152"/>
            <a:ext cx="3257550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Des tests de non-régression générés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89170" y="3399510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26330" y="3335502"/>
            <a:ext cx="3257550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Un runbook et une documentation à jour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89170" y="3686860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26330" y="3622852"/>
            <a:ext cx="3257550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Une priorité argumentée, pas subie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2356" y="4188409"/>
            <a:ext cx="7804404" cy="612190"/>
          </a:xfrm>
          <a:prstGeom prst="roundRect">
            <a:avLst>
              <a:gd name="adj" fmla="val 1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8660" y="4206697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00D2DD"/>
                </a:solidFill>
                <a:latin typeface="Outfit"/>
              </a:rPr>
              <a:t>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" y="4188409"/>
            <a:ext cx="6670548" cy="61219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Outfit"/>
              </a:rPr>
              <a:t>Chaque action reste attribuée à un humain qui décide. L'IA instruit le dossier, elle ne prend pas la main.</a:t>
            </a:r>
            <a:r>
              <a:rPr sz="1350" b="1">
                <a:solidFill>
                  <a:srgbClr val="00D2DD"/>
                </a:solidFill>
                <a:latin typeface="Outfit"/>
              </a:rPr>
              <a:t>  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Où Agentic Product Run se branche : sur la TMA et le MCO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Nous ne remplaçons pas le contrat existant — nous rendons enfin tenables les engagements qu'il porte déjà.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07108" y="1170432"/>
            <a:ext cx="3106674" cy="335127"/>
          </a:xfrm>
          <a:prstGeom prst="roundRect">
            <a:avLst>
              <a:gd name="adj" fmla="val 6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60086" y="1170432"/>
            <a:ext cx="3106674" cy="335127"/>
          </a:xfrm>
          <a:prstGeom prst="roundRect">
            <a:avLst>
              <a:gd name="adj" fmla="val 6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35124" y="1234440"/>
            <a:ext cx="2850641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3E4F78"/>
                </a:solidFill>
                <a:latin typeface="Outfit"/>
              </a:rPr>
              <a:t>CE QUE LA TMA ET LE MCO ENGAGENT DÉJÀ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88102" y="1234440"/>
            <a:ext cx="2850641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  <a:latin typeface="Outfit"/>
              </a:rPr>
              <a:t>CE QU'AGENTIC PRODUCT RUN 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" y="1615287"/>
            <a:ext cx="1298448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0E2356"/>
                </a:solidFill>
                <a:latin typeface="Outfit"/>
              </a:rPr>
              <a:t>Correctif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35124" y="1596999"/>
            <a:ext cx="2850641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Rétablir le service dans le délai prévu</a:t>
            </a:r>
          </a:p>
        </p:txBody>
      </p:sp>
      <p:sp>
        <p:nvSpPr>
          <p:cNvPr id="10" name="Chevron 9"/>
          <p:cNvSpPr/>
          <p:nvPr/>
        </p:nvSpPr>
        <p:spPr>
          <a:xfrm>
            <a:off x="5141214" y="1633575"/>
            <a:ext cx="109728" cy="164592"/>
          </a:xfrm>
          <a:prstGeom prst="chevron">
            <a:avLst/>
          </a:prstGeom>
          <a:solidFill>
            <a:srgbClr val="00D2DD"/>
          </a:solidFill>
          <a:ln w="9525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88102" y="1596999"/>
            <a:ext cx="2850641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0E2356"/>
                </a:solidFill>
                <a:latin typeface="Outfit"/>
              </a:rPr>
              <a:t>La cause racine est prouvée, pas devinée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" y="1866061"/>
            <a:ext cx="7804404" cy="10972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2356" y="2012365"/>
            <a:ext cx="1298448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0E2356"/>
                </a:solidFill>
                <a:latin typeface="Outfit"/>
              </a:rPr>
              <a:t>Évolutif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5124" y="1994077"/>
            <a:ext cx="2850641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Absorber les évolutions au fil de l'eau</a:t>
            </a:r>
          </a:p>
        </p:txBody>
      </p:sp>
      <p:sp>
        <p:nvSpPr>
          <p:cNvPr id="15" name="Chevron 14"/>
          <p:cNvSpPr/>
          <p:nvPr/>
        </p:nvSpPr>
        <p:spPr>
          <a:xfrm>
            <a:off x="5141214" y="2030653"/>
            <a:ext cx="109728" cy="164592"/>
          </a:xfrm>
          <a:prstGeom prst="chevron">
            <a:avLst/>
          </a:prstGeom>
          <a:solidFill>
            <a:srgbClr val="00D2DD"/>
          </a:solidFill>
          <a:ln w="9525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88102" y="1994077"/>
            <a:ext cx="2850641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0E2356"/>
                </a:solidFill>
                <a:latin typeface="Outfit"/>
              </a:rPr>
              <a:t>L'impact est connu avant de s'engager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2356" y="2263139"/>
            <a:ext cx="7804404" cy="10972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2356" y="2409444"/>
            <a:ext cx="1298448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0E2356"/>
                </a:solidFill>
                <a:latin typeface="Outfit"/>
              </a:rPr>
              <a:t>Disponibilité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5124" y="2391156"/>
            <a:ext cx="2850641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Tenir les niveaux de service et l'astreinte</a:t>
            </a:r>
          </a:p>
        </p:txBody>
      </p:sp>
      <p:sp>
        <p:nvSpPr>
          <p:cNvPr id="20" name="Chevron 19"/>
          <p:cNvSpPr/>
          <p:nvPr/>
        </p:nvSpPr>
        <p:spPr>
          <a:xfrm>
            <a:off x="5141214" y="2427732"/>
            <a:ext cx="109728" cy="164592"/>
          </a:xfrm>
          <a:prstGeom prst="chevron">
            <a:avLst/>
          </a:prstGeom>
          <a:solidFill>
            <a:srgbClr val="00D2DD"/>
          </a:solidFill>
          <a:ln w="9525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88102" y="2391156"/>
            <a:ext cx="2850641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0E2356"/>
                </a:solidFill>
                <a:latin typeface="Outfit"/>
              </a:rPr>
              <a:t>Les récurrents sont traités à la source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2356" y="2660218"/>
            <a:ext cx="7804404" cy="10972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2356" y="2806522"/>
            <a:ext cx="1298448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0E2356"/>
                </a:solidFill>
                <a:latin typeface="Outfit"/>
              </a:rPr>
              <a:t>Documentation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5124" y="2788234"/>
            <a:ext cx="2850641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Maintenir la documentation d'exploitation</a:t>
            </a:r>
          </a:p>
        </p:txBody>
      </p:sp>
      <p:sp>
        <p:nvSpPr>
          <p:cNvPr id="25" name="Chevron 24"/>
          <p:cNvSpPr/>
          <p:nvPr/>
        </p:nvSpPr>
        <p:spPr>
          <a:xfrm>
            <a:off x="5141214" y="2824810"/>
            <a:ext cx="109728" cy="164592"/>
          </a:xfrm>
          <a:prstGeom prst="chevron">
            <a:avLst/>
          </a:prstGeom>
          <a:solidFill>
            <a:srgbClr val="00D2DD"/>
          </a:solidFill>
          <a:ln w="9525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88102" y="2788234"/>
            <a:ext cx="2850641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0E2356"/>
                </a:solidFill>
                <a:latin typeface="Outfit"/>
              </a:rPr>
              <a:t>Elle se met à jour par la résolution, datée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2356" y="3057296"/>
            <a:ext cx="7804404" cy="10972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2356" y="3203600"/>
            <a:ext cx="1298448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0E2356"/>
                </a:solidFill>
                <a:latin typeface="Outfit"/>
              </a:rPr>
              <a:t>Sécurité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35124" y="3185312"/>
            <a:ext cx="2850641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Appliquer les correctifs de sécurité</a:t>
            </a:r>
          </a:p>
        </p:txBody>
      </p:sp>
      <p:sp>
        <p:nvSpPr>
          <p:cNvPr id="30" name="Chevron 29"/>
          <p:cNvSpPr/>
          <p:nvPr/>
        </p:nvSpPr>
        <p:spPr>
          <a:xfrm>
            <a:off x="5141214" y="3221888"/>
            <a:ext cx="109728" cy="164592"/>
          </a:xfrm>
          <a:prstGeom prst="chevron">
            <a:avLst/>
          </a:prstGeom>
          <a:solidFill>
            <a:srgbClr val="00D2DD"/>
          </a:solidFill>
          <a:ln w="9525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88102" y="3185312"/>
            <a:ext cx="2850641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0E2356"/>
                </a:solidFill>
                <a:latin typeface="Outfit"/>
              </a:rPr>
              <a:t>Vulnérabilités alertées avant l'incident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2356" y="3454374"/>
            <a:ext cx="7804404" cy="10972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2356" y="3600678"/>
            <a:ext cx="1298448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0E2356"/>
                </a:solidFill>
                <a:latin typeface="Outfit"/>
              </a:rPr>
              <a:t>Réversibilité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35124" y="3582390"/>
            <a:ext cx="2850641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Rendre le patrimoine reprenable à la sortie</a:t>
            </a:r>
          </a:p>
        </p:txBody>
      </p:sp>
      <p:sp>
        <p:nvSpPr>
          <p:cNvPr id="35" name="Chevron 34"/>
          <p:cNvSpPr/>
          <p:nvPr/>
        </p:nvSpPr>
        <p:spPr>
          <a:xfrm>
            <a:off x="5141214" y="3618966"/>
            <a:ext cx="109728" cy="164592"/>
          </a:xfrm>
          <a:prstGeom prst="chevron">
            <a:avLst/>
          </a:prstGeom>
          <a:solidFill>
            <a:srgbClr val="00D2DD"/>
          </a:solidFill>
          <a:ln w="9525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88102" y="3582390"/>
            <a:ext cx="2850641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0E2356"/>
                </a:solidFill>
                <a:latin typeface="Outfit"/>
              </a:rPr>
              <a:t>La cartographie est produite en continu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2356" y="4188409"/>
            <a:ext cx="7804404" cy="612190"/>
          </a:xfrm>
          <a:prstGeom prst="roundRect">
            <a:avLst>
              <a:gd name="adj" fmla="val 1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8660" y="4206697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00D2DD"/>
                </a:solidFill>
                <a:latin typeface="Outfit"/>
              </a:rPr>
              <a:t>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" y="4188409"/>
            <a:ext cx="6670548" cy="61219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Outfit"/>
              </a:rPr>
              <a:t>Le meilleur point d'entrée commercial n'est pas un nouveau budget : c'est le prochain renouvellement de TMA.</a:t>
            </a:r>
            <a:r>
              <a:rPr sz="1350" b="1">
                <a:solidFill>
                  <a:srgbClr val="00D2DD"/>
                </a:solidFill>
                <a:latin typeface="Outfit"/>
              </a:rPr>
              <a:t>  •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Le parcours en trois temps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Une porte d'entrée courte et bornée, puis deux prolongements que le client déclenche s'il a vu la valeur.</a:t>
            </a:r>
          </a:p>
        </p:txBody>
      </p:sp>
      <p:sp>
        <p:nvSpPr>
          <p:cNvPr id="4" name="Rectangle 3"/>
          <p:cNvSpPr/>
          <p:nvPr/>
        </p:nvSpPr>
        <p:spPr>
          <a:xfrm>
            <a:off x="928116" y="1513332"/>
            <a:ext cx="7072884" cy="27432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2356" y="1527048"/>
            <a:ext cx="2455164" cy="31135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 Same Side Corner Rectangle 5"/>
          <p:cNvSpPr/>
          <p:nvPr/>
        </p:nvSpPr>
        <p:spPr>
          <a:xfrm>
            <a:off x="708659" y="1353312"/>
            <a:ext cx="2162556" cy="347472"/>
          </a:xfrm>
          <a:prstGeom prst="round2SameRect">
            <a:avLst/>
          </a:prstGeom>
          <a:solidFill>
            <a:srgbClr val="0E2356"/>
          </a:solidFill>
          <a:ln w="1270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59" y="1435608"/>
            <a:ext cx="2162556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1 · RUN Readiness Check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7" y="1673351"/>
            <a:ext cx="1188720" cy="21945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947" y="1673351"/>
            <a:ext cx="11887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3E4F78"/>
                </a:solidFill>
                <a:latin typeface="Outfit"/>
              </a:rPr>
              <a:t>2 à 4 semaines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" y="2084831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1539" y="2020824"/>
            <a:ext cx="1961388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Diagnostic de mise sous contrôle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4380" y="2508199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1539" y="2444191"/>
            <a:ext cx="1961388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Cartographie sur le code réel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" y="2931566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39" y="2867558"/>
            <a:ext cx="1961388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Score de maturité RUN sur 10 domaines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947" y="3391509"/>
            <a:ext cx="2125980" cy="523951"/>
          </a:xfrm>
          <a:prstGeom prst="roundRect">
            <a:avLst>
              <a:gd name="adj" fmla="val 6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0100" y="3446373"/>
            <a:ext cx="41148" cy="414223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116" y="3473805"/>
            <a:ext cx="1851660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0E2356"/>
                </a:solidFill>
                <a:latin typeface="Outfit"/>
              </a:rPr>
              <a:t>Un état des lieux opposable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7" y="4043476"/>
            <a:ext cx="2125980" cy="10972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7" y="4134916"/>
            <a:ext cx="2125980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1">
                <a:solidFill>
                  <a:srgbClr val="586586"/>
                </a:solidFill>
                <a:latin typeface="Outfit"/>
              </a:rPr>
              <a:t>Autonomie 0-1 — l'IA observe et recommande, rien ne s'exécute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1527048"/>
            <a:ext cx="2455164" cy="31135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3383280" y="1353312"/>
            <a:ext cx="2162556" cy="347472"/>
          </a:xfrm>
          <a:prstGeom prst="round2SameRect">
            <a:avLst/>
          </a:prstGeom>
          <a:solidFill>
            <a:srgbClr val="0E2356"/>
          </a:solidFill>
          <a:ln w="1270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1435608"/>
            <a:ext cx="2162556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2 · Mise sous contrôle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01568" y="1673351"/>
            <a:ext cx="1188720" cy="21945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1673351"/>
            <a:ext cx="11887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3E4F78"/>
                </a:solidFill>
                <a:latin typeface="Outfit"/>
              </a:rPr>
              <a:t>3 à 6 mois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29000" y="2084831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2020824"/>
            <a:ext cx="1961388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Documentation vivante et datée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29000" y="2508199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60" y="2444191"/>
            <a:ext cx="1961388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Runbooks et procédures de rollback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29000" y="2931566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60" y="2867558"/>
            <a:ext cx="1961388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Observabilité des parcours critiques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01568" y="3391509"/>
            <a:ext cx="2125980" cy="523951"/>
          </a:xfrm>
          <a:prstGeom prst="roundRect">
            <a:avLst>
              <a:gd name="adj" fmla="val 6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74720" y="3446373"/>
            <a:ext cx="41148" cy="414223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02736" y="3473805"/>
            <a:ext cx="1851660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0E2356"/>
                </a:solidFill>
                <a:latin typeface="Outfit"/>
              </a:rPr>
              <a:t>Un produit reprenable sans son équipe de build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01568" y="4043476"/>
            <a:ext cx="2125980" cy="10972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01568" y="4134916"/>
            <a:ext cx="2125980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1">
                <a:solidFill>
                  <a:srgbClr val="586586"/>
                </a:solidFill>
                <a:latin typeface="Outfit"/>
              </a:rPr>
              <a:t>Autonomie 2-3 — tout est préparé, un humain valide avant d'appliquer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11596" y="1527048"/>
            <a:ext cx="2455164" cy="31135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6057900" y="1353312"/>
            <a:ext cx="2162556" cy="347472"/>
          </a:xfrm>
          <a:prstGeom prst="round2SameRect">
            <a:avLst/>
          </a:prstGeom>
          <a:solidFill>
            <a:srgbClr val="0E2356"/>
          </a:solidFill>
          <a:ln w="1270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57900" y="1435608"/>
            <a:ext cx="2162556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3 · RUN augmenté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76188" y="1673351"/>
            <a:ext cx="1188720" cy="21945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6188" y="1673351"/>
            <a:ext cx="11887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3E4F78"/>
                </a:solidFill>
                <a:latin typeface="Outfit"/>
              </a:rPr>
              <a:t>12 à 24 mois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03620" y="2084831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40779" y="2020824"/>
            <a:ext cx="1961388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Triage, investigation, reproduction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03620" y="2508199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40779" y="2444191"/>
            <a:ext cx="1961388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Maintenance préventive et alerting sécurité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03620" y="2931566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40779" y="2867558"/>
            <a:ext cx="1961388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AgentOps pour les produits agentiques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076188" y="3391509"/>
            <a:ext cx="2125980" cy="523951"/>
          </a:xfrm>
          <a:prstGeom prst="roundRect">
            <a:avLst>
              <a:gd name="adj" fmla="val 6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149340" y="3446373"/>
            <a:ext cx="41148" cy="414223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77356" y="3473805"/>
            <a:ext cx="1851660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0E2356"/>
                </a:solidFill>
                <a:latin typeface="Outfit"/>
              </a:rPr>
              <a:t>Un RUN qui apprend de chaque incident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76188" y="4043476"/>
            <a:ext cx="2125980" cy="10972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76188" y="4134916"/>
            <a:ext cx="2125980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1">
                <a:solidFill>
                  <a:srgbClr val="586586"/>
                </a:solidFill>
                <a:latin typeface="Outfit"/>
              </a:rPr>
              <a:t>Autonomie 4 — périmètre restreint et réversible, rollback obligatoire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La porte d'entrée : le RUN Readiness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Dix questions auxquelles presque aucun de nos clients ne sait répondre sur son propre produit.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2356" y="1170432"/>
            <a:ext cx="4617720" cy="298551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2084" y="1216152"/>
            <a:ext cx="1298448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  <a:latin typeface="Outfit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7108" y="1216152"/>
            <a:ext cx="3044952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Composants et flux critiques identifiés 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" y="1514703"/>
            <a:ext cx="1298448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  <a:latin typeface="Outfit"/>
              </a:rPr>
              <a:t>Ownership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7108" y="1514703"/>
            <a:ext cx="3044952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Chaque composant a-t-il un propriétaire ?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" y="1767535"/>
            <a:ext cx="4617720" cy="298551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" y="1813255"/>
            <a:ext cx="1298448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  <a:latin typeface="Outfit"/>
              </a:rPr>
              <a:t>Observabilité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7108" y="1813255"/>
            <a:ext cx="3044952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Parcours critiques sous monitoring 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" y="2111806"/>
            <a:ext cx="1298448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  <a:latin typeface="Outfit"/>
              </a:rPr>
              <a:t>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7108" y="2111806"/>
            <a:ext cx="3044952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Couverture de tests sur le critique 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" y="2364638"/>
            <a:ext cx="4617720" cy="298551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" y="2410358"/>
            <a:ext cx="1298448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  <a:latin typeface="Outfit"/>
              </a:rPr>
              <a:t>Documentation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7108" y="2410358"/>
            <a:ext cx="3044952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Exploitation et rollback documentés 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" y="2708910"/>
            <a:ext cx="1298448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  <a:latin typeface="Outfit"/>
              </a:rPr>
              <a:t>Sécurité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07108" y="2708910"/>
            <a:ext cx="3044952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Secrets et dépendances maîtrisés 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2356" y="2961741"/>
            <a:ext cx="4617720" cy="298551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" y="3007461"/>
            <a:ext cx="1298448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  <a:latin typeface="Outfit"/>
              </a:rPr>
              <a:t>Dette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07108" y="3007461"/>
            <a:ext cx="3044952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Risques techniques connus et chiffrés 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" y="3306013"/>
            <a:ext cx="1298448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  <a:latin typeface="Outfit"/>
              </a:rPr>
              <a:t>IA et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7108" y="3306013"/>
            <a:ext cx="3044952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Modèles, prompts et outils inventoriés 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2356" y="3558844"/>
            <a:ext cx="4617720" cy="298551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084" y="3604564"/>
            <a:ext cx="1298448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  <a:latin typeface="Outfit"/>
              </a:rPr>
              <a:t>Continuité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07108" y="3604564"/>
            <a:ext cx="3044952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Reprise possible sans l'équipe de build 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" y="3903116"/>
            <a:ext cx="1298448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  <a:latin typeface="Outfit"/>
              </a:rPr>
              <a:t>Gouvernance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07108" y="3903116"/>
            <a:ext cx="3044952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Niveaux d'autonomie explicites 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26380" y="1170432"/>
            <a:ext cx="1572768" cy="256032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26380" y="1170432"/>
            <a:ext cx="1572768" cy="2560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2 À 4 SEMAINES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26380" y="1572768"/>
            <a:ext cx="3040380" cy="2209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09260" y="1737360"/>
            <a:ext cx="26746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0D2DD"/>
                </a:solidFill>
                <a:latin typeface="Outfit"/>
              </a:rPr>
              <a:t>CE QUE LE CLIENT REPART AVEC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09260" y="2066543"/>
            <a:ext cx="457200" cy="41148"/>
          </a:xfrm>
          <a:prstGeom prst="rect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536692" y="2299715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73852" y="2235708"/>
            <a:ext cx="2510028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Un score de maturité RUN par domaine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36692" y="2587066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73852" y="2523058"/>
            <a:ext cx="2510028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La cartographie du produit, sourcée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36692" y="2874416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73852" y="2810408"/>
            <a:ext cx="2510028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La liste explicite des zones inconnues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36692" y="3161766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73852" y="3097758"/>
            <a:ext cx="2510028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Un backlog de sécurisation priorisé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36692" y="3449116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73852" y="3385108"/>
            <a:ext cx="2510028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Les risques bloquants avant production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2356" y="4283964"/>
            <a:ext cx="7804404" cy="402336"/>
          </a:xfrm>
          <a:prstGeom prst="roundRect">
            <a:avLst>
              <a:gd name="adj" fmla="val 12000"/>
            </a:avLst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62356" y="4283964"/>
            <a:ext cx="54864" cy="402336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8388" y="4283964"/>
            <a:ext cx="7292340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1C2330"/>
                </a:solidFill>
                <a:latin typeface="Outfit"/>
              </a:rPr>
              <a:t>Un diagnostic court et borné, qui ouvre la conversation sur tout le reste.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Ce que le client achète, en trois arguments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Si vous ne deviez retenir que trois phrases pour ouvrir la conversation, ce sont celles-ci.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1484985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2356" y="148498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" y="1404404"/>
            <a:ext cx="4210812" cy="2578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356"/>
                </a:solidFill>
                <a:latin typeface="Outfit"/>
              </a:rPr>
              <a:t>Il reprend la main sur un produit qu'il ne comprend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" y="1735416"/>
            <a:ext cx="4210812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Cartographie sur le code réel, zones inconnues nommées.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312964"/>
            <a:ext cx="2788920" cy="74637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5865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724144" y="1440980"/>
            <a:ext cx="41148" cy="490346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1481099"/>
            <a:ext cx="2368296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0E2356"/>
                </a:solidFill>
                <a:latin typeface="Outfit"/>
              </a:rPr>
              <a:t>« Je peux reprendre ce produit sans l'équipe qui l'a construit. 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" y="2132495"/>
            <a:ext cx="7804404" cy="10972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2356" y="23776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2356" y="2377668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Outfi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" y="2297087"/>
            <a:ext cx="4210812" cy="2578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356"/>
                </a:solidFill>
                <a:latin typeface="Outfit"/>
              </a:rPr>
              <a:t>Il arrête de payer deux fois le même incident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" y="2628099"/>
            <a:ext cx="4210812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Causes racines prouvées, dette priorisée par son coût.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77840" y="2205647"/>
            <a:ext cx="2788920" cy="74637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5865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24144" y="2333663"/>
            <a:ext cx="41148" cy="490346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0" y="2373782"/>
            <a:ext cx="2368296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0E2356"/>
                </a:solidFill>
                <a:latin typeface="Outfit"/>
              </a:rPr>
              <a:t>« Ce qui casse chez moi cesse de revenir. 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2356" y="3025178"/>
            <a:ext cx="7804404" cy="10972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2356" y="3270351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2356" y="3270351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Outfit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" y="3189770"/>
            <a:ext cx="4210812" cy="2578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356"/>
                </a:solidFill>
                <a:latin typeface="Outfit"/>
              </a:rPr>
              <a:t>Son contrat de maintenance produit de la valeur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" y="3520782"/>
            <a:ext cx="4210812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Les retours utilisateurs alimentent la roadmap.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3098330"/>
            <a:ext cx="2788920" cy="74637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724144" y="3226346"/>
            <a:ext cx="41148" cy="490346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0" y="3266465"/>
            <a:ext cx="2368296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0E2356"/>
                </a:solidFill>
                <a:latin typeface="Outfit"/>
              </a:rPr>
              <a:t>« Ma TMA ne défend plus l'existant : elle fait avancer le produit. »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" y="4188409"/>
            <a:ext cx="7804404" cy="612190"/>
          </a:xfrm>
          <a:prstGeom prst="roundRect">
            <a:avLst>
              <a:gd name="adj" fmla="val 1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8660" y="4206697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00D2DD"/>
                </a:solidFill>
                <a:latin typeface="Outfit"/>
              </a:rPr>
              <a:t>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" y="4188409"/>
            <a:ext cx="6670548" cy="61219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Outfit"/>
              </a:rPr>
              <a:t>Et le premier pas ne demande aucun arbitrage budgétaire lourd : un diagnostic court sur un seul produit suffit à le prouver.</a:t>
            </a:r>
            <a:r>
              <a:rPr sz="1350" b="1">
                <a:solidFill>
                  <a:srgbClr val="00D2DD"/>
                </a:solidFill>
                <a:latin typeface="Outfit"/>
              </a:rPr>
              <a:t>  •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0E2356"/>
                </a:solidFill>
              </a:rPr>
              <a:t>Next steps</a:t>
            </a:r>
          </a:p>
          <a:p>
            <a:pPr>
              <a:spcBef>
                <a:spcPts val="800"/>
              </a:spcBef>
            </a:pPr>
            <a:r>
              <a:rPr sz="1050" i="1">
                <a:solidFill>
                  <a:srgbClr val="586586"/>
                </a:solidFill>
              </a:rPr>
              <a:t>Comment l'offre se vend, et ce que le client y gagne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lIns="0" rIns="0" tIns="0" bIns="0" anchor="ctr"/>
          <a:lstStyle/>
          <a:p>
            <a:pPr algn="ctr" marL="0" indent="0">
              <a:buNone/>
            </a:pPr>
            <a:r>
              <a:rPr sz="1700" b="1">
                <a:solidFill>
                  <a:srgbClr val="0E2356"/>
                </a:solidFill>
                <a:latin typeface="Outfit"/>
              </a:rPr>
              <a:t>4</a:t>
            </a:r>
          </a:p>
        </p:txBody>
      </p:sp>
      <p:pic>
        <p:nvPicPr>
          <p:cNvPr id="4" name="Picture 3" descr="4_0_960x9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875" y="1659950"/>
            <a:ext cx="2560500" cy="2560500"/>
          </a:xfrm>
          <a:prstGeom prst="teardrop">
            <a:avLst>
              <a:gd name="adj" fmla="val 100000"/>
            </a:avLst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Comment cette offre se vend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Une offre ne tient que si l'on sait à qui l'adresser, sur quel événement, et avec qui la délivrer.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1353769"/>
            <a:ext cx="3787902" cy="1549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6947" y="1490929"/>
            <a:ext cx="3458718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  <a:latin typeface="Outfit"/>
              </a:rPr>
              <a:t>À QUI</a:t>
            </a:r>
          </a:p>
        </p:txBody>
      </p:sp>
      <p:sp>
        <p:nvSpPr>
          <p:cNvPr id="6" name="Rectangle 5"/>
          <p:cNvSpPr/>
          <p:nvPr/>
        </p:nvSpPr>
        <p:spPr>
          <a:xfrm>
            <a:off x="726947" y="1820113"/>
            <a:ext cx="457200" cy="41148"/>
          </a:xfrm>
          <a:prstGeom prst="rect">
            <a:avLst/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4380" y="2053285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39" y="1989277"/>
            <a:ext cx="3294126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DSI et CTO au patrimoine applicatif chargé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" y="2324404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1539" y="2260396"/>
            <a:ext cx="3294126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Directions produit héritant d'un build externalisé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" y="2595524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39" y="2531516"/>
            <a:ext cx="3294126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Responsables d'exploitation face à des produits 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8858" y="1353769"/>
            <a:ext cx="3787902" cy="1549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43450" y="1490929"/>
            <a:ext cx="3458718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  <a:latin typeface="Outfit"/>
              </a:rPr>
              <a:t>SUR QUEL DÉCLENCHEUR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43450" y="1820113"/>
            <a:ext cx="457200" cy="41148"/>
          </a:xfrm>
          <a:prstGeom prst="rect">
            <a:avLst/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770882" y="2053285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8042" y="1989277"/>
            <a:ext cx="3294126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Fin de build ou transfert à une autre équipe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70882" y="2324404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8042" y="2260396"/>
            <a:ext cx="3294126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Incident majeur dont personne ne retrouve la cause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70882" y="2595524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08042" y="2531516"/>
            <a:ext cx="3294126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Premier produit agentique qui passe en production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" y="3067811"/>
            <a:ext cx="3787902" cy="1549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" y="3204971"/>
            <a:ext cx="3458718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  <a:latin typeface="Outfit"/>
              </a:rPr>
              <a:t>AVEC QUELLE ÉQUIPE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6947" y="3534155"/>
            <a:ext cx="457200" cy="41148"/>
          </a:xfrm>
          <a:prstGeom prst="rect">
            <a:avLst/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54380" y="3767327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1539" y="3703319"/>
            <a:ext cx="3294126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Un tech lead qui connaît le patrimoine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" y="4038447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1539" y="3974439"/>
            <a:ext cx="3294126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Un architecte pour la cartographie et les risques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4380" y="4309567"/>
            <a:ext cx="54864" cy="54864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539" y="4245559"/>
            <a:ext cx="3294126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Un expert IA pour les agents et leur évaluation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8858" y="3067811"/>
            <a:ext cx="3787902" cy="1549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43450" y="3204971"/>
            <a:ext cx="3458718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0D2DD"/>
                </a:solidFill>
                <a:latin typeface="Outfit"/>
              </a:rPr>
              <a:t>CE QU'IL NOUS MANQUE POUR VENDRE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43450" y="3534155"/>
            <a:ext cx="457200" cy="41148"/>
          </a:xfrm>
          <a:prstGeom prst="rect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770882" y="3767327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8042" y="3703319"/>
            <a:ext cx="3294126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Une référence client, même anonymisée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70882" y="4038447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08042" y="3974439"/>
            <a:ext cx="3294126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Un point d'accroche dans nos contrats TMA en cours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70882" y="4309567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8042" y="4245559"/>
            <a:ext cx="3294126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Un exemple de livrable à montrer en rendez-vous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Ce que je vous demande de trancher aujourd'hui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Trois décisions suffisent à savoir si Agentic Product Run devient une offre ou reste une note.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1572539"/>
            <a:ext cx="2479548" cy="203088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26947" y="1718843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6947" y="1718843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6947" y="2121179"/>
            <a:ext cx="2150364" cy="460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356"/>
                </a:solidFill>
                <a:latin typeface="Outfit"/>
              </a:rPr>
              <a:t>L'offre est-elle vendable en l'état 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7" y="2691764"/>
            <a:ext cx="2150364" cy="765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Le RUN Readiness Check tient-il comme porte d'entrée face à un acheteur, ou faut-il l'adosser à une offre existante 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24783" y="1572539"/>
            <a:ext cx="2479548" cy="203088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89376" y="1718843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9376" y="1718843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9376" y="2121179"/>
            <a:ext cx="2150364" cy="460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356"/>
                </a:solidFill>
                <a:latin typeface="Outfit"/>
              </a:rPr>
              <a:t>Sur quel compte la tester en premier 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9376" y="2691764"/>
            <a:ext cx="2150364" cy="765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Nous avons besoin d'un client pilote pour transformer le module 1 en référence montrable.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87212" y="1572539"/>
            <a:ext cx="2479548" cy="203088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51804" y="1718843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1804" y="1718843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1804" y="2121179"/>
            <a:ext cx="2150364" cy="460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E2356"/>
                </a:solidFill>
                <a:latin typeface="Outfit"/>
              </a:rPr>
              <a:t>Offre autonome ou extension de TMA 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1804" y="2691764"/>
            <a:ext cx="2150364" cy="765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La vend-on seule, ou comme l'option qui fait gagner nos renouvellements de TMA et de MCO 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356" y="4188409"/>
            <a:ext cx="7804404" cy="612190"/>
          </a:xfrm>
          <a:prstGeom prst="roundRect">
            <a:avLst>
              <a:gd name="adj" fmla="val 1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" y="4206697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00D2DD"/>
                </a:solidFill>
                <a:latin typeface="Outfit"/>
              </a:rPr>
              <a:t>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" y="4188409"/>
            <a:ext cx="6670548" cy="61219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Outfit"/>
              </a:rPr>
              <a:t>Prochain jalon proposé : un compte pilote identifié et un livrable de démonstration prêt d'ici deux semaines.</a:t>
            </a:r>
            <a:r>
              <a:rPr sz="1350" b="1">
                <a:solidFill>
                  <a:srgbClr val="00D2DD"/>
                </a:solidFill>
                <a:latin typeface="Outfit"/>
              </a:rPr>
              <a:t>  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- OCTO">
  <a:themeElements>
    <a:clrScheme name="Custom">
      <a:dk1>
        <a:srgbClr val="0E2356"/>
      </a:dk1>
      <a:lt1>
        <a:srgbClr val="FFFFFF"/>
      </a:lt1>
      <a:dk2>
        <a:srgbClr val="3E4F78"/>
      </a:dk2>
      <a:lt2>
        <a:srgbClr val="586586"/>
      </a:lt2>
      <a:accent1>
        <a:srgbClr val="6E7B9A"/>
      </a:accent1>
      <a:accent2>
        <a:srgbClr val="9FA7BB"/>
      </a:accent2>
      <a:accent3>
        <a:srgbClr val="00D2DD"/>
      </a:accent3>
      <a:accent4>
        <a:srgbClr val="B7BDCC"/>
      </a:accent4>
      <a:accent5>
        <a:srgbClr val="CFD3DD"/>
      </a:accent5>
      <a:accent6>
        <a:srgbClr val="E7E9EE"/>
      </a:accent6>
      <a:hlink>
        <a:srgbClr val="33B5CB"/>
      </a:hlink>
      <a:folHlink>
        <a:srgbClr val="33B5C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Custom">
      <a:dk1>
        <a:srgbClr val="0E2356"/>
      </a:dk1>
      <a:lt1>
        <a:srgbClr val="FFFFFF"/>
      </a:lt1>
      <a:dk2>
        <a:srgbClr val="566589"/>
      </a:dk2>
      <a:lt2>
        <a:srgbClr val="8691AA"/>
      </a:lt2>
      <a:accent1>
        <a:srgbClr val="B7BDCC"/>
      </a:accent1>
      <a:accent2>
        <a:srgbClr val="ECEDF3"/>
      </a:accent2>
      <a:accent3>
        <a:srgbClr val="DDF4F8"/>
      </a:accent3>
      <a:accent4>
        <a:srgbClr val="B6E8F0"/>
      </a:accent4>
      <a:accent5>
        <a:srgbClr val="80D7E5"/>
      </a:accent5>
      <a:accent6>
        <a:srgbClr val="00AFCB"/>
      </a:accent6>
      <a:hlink>
        <a:srgbClr val="26BBD3"/>
      </a:hlink>
      <a:folHlink>
        <a:srgbClr val="26BB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429</Words>
  <Application>Microsoft Office PowerPoint</Application>
  <PresentationFormat>On-screen Show (16:9)</PresentationFormat>
  <Paragraphs>76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Outfit Light</vt:lpstr>
      <vt:lpstr>Century Gothic</vt:lpstr>
      <vt:lpstr>Helvetica Neue Light</vt:lpstr>
      <vt:lpstr>Outfit</vt:lpstr>
      <vt:lpstr>Outfit Medium</vt:lpstr>
      <vt:lpstr>Outfit SemiBold</vt:lpstr>
      <vt:lpstr>2026 - OCTO</vt:lpstr>
      <vt:lpstr>OCTO Technology</vt:lpstr>
      <vt:lpstr>Sommaire</vt:lpstr>
      <vt:lpstr>Contexte</vt:lpstr>
      <vt:lpstr>xxx</vt:lpstr>
      <vt:lpstr>Notre approche</vt:lpstr>
      <vt:lpstr>Notre approche </vt:lpstr>
      <vt:lpstr>Une approche contextualisée pour un premier déploiement aligné </vt:lpstr>
      <vt:lpstr>Planning des interventions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Camus, Claude</cp:lastModifiedBy>
  <cp:revision>1</cp:revision>
  <dcterms:modified xsi:type="dcterms:W3CDTF">2026-06-19T16:03:54Z</dcterms:modified>
</cp:coreProperties>
</file>